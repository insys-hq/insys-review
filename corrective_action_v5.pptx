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누락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및 재발방지 대책서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0" y="2267712"/>
            <a:ext cx="9144000" cy="28803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487168"/>
            <a:ext cx="6949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487168"/>
            <a:ext cx="6949440" cy="347472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8716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심사 지적 품목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8529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 Connector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255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 (2026. 7. 9) 외관 검사항목 누락 지적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404164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4059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0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0467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04672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87782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 요약 및 품목 정보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04672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804672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7528" y="87782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67528" y="120700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이후 누락까지의 타임라인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737360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3736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181051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3969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— 기준서 누락 미확인·절차 미준수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7373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737360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737360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67528" y="181051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67528" y="213969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— 관리 체계 한계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7004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670048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670048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" y="274320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" y="30723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즉시조치·운영개선·관리강화·기록화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67004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670048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2670048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274320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67528" y="30723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vs TO-BE 업무 흐름 비교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60273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602736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602736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67588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2688" y="400507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 타임라인 (7월~8월)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60273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602736"/>
            <a:ext cx="566928" cy="8046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3602736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67528" y="367588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67528" y="400507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 및 담당자 확인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804672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04672"/>
            <a:ext cx="402336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04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정보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" y="1298448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번호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64208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1645920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" y="1810512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1810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64208" y="1810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" y="2157984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" y="2322576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" y="23225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64208" y="2322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" y="2670048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" y="2834640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개선품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64208" y="2834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" y="3182112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" y="3346704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" y="33467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일자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64208" y="3346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9일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" y="3694176"/>
            <a:ext cx="378561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" y="3858768"/>
            <a:ext cx="1280160" cy="34747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주체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64208" y="3858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804672"/>
            <a:ext cx="440740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804672"/>
            <a:ext cx="4407408" cy="3657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804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90288" y="1316736"/>
            <a:ext cx="4187952" cy="1389888"/>
          </a:xfrm>
          <a:prstGeom prst="rect">
            <a:avLst/>
          </a:prstGeom>
          <a:solidFill>
            <a:srgbClr val="FED7D7"/>
          </a:solidFill>
          <a:ln w="1524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81728" y="1591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검사항목 누락 미보고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81728" y="190195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내 외관 검사항목이 누락되어 있었으나 이를 인지하지 못함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90288" y="2916936"/>
            <a:ext cx="4187952" cy="1389888"/>
          </a:xfrm>
          <a:prstGeom prst="rect">
            <a:avLst/>
          </a:prstGeom>
          <a:solidFill>
            <a:srgbClr val="FEEBC8"/>
          </a:solidFill>
          <a:ln w="15240">
            <a:solidFill>
              <a:srgbClr val="C056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971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81728" y="3191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미확인 상태에서 검사 진행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81728" y="350215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내용을 충분히 확인하지 않은 상태에서 검사 절차를 진행하여 누락 항목에 대한 검사 자체가 이루어지지 않음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요약: 개선품 리비전으로 구버전 기준서가 미갱신된 상태에서 입고 부재로 인해 점검 기회를 놓쳐 누락됨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Timeline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93392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389888" y="1901952"/>
            <a:ext cx="237744" cy="237744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7373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86000"/>
            <a:ext cx="1737360" cy="347472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SQM팀 등록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(외관 사진 항목 누락 상태)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1901952"/>
            <a:ext cx="237744" cy="237744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2286000"/>
            <a:ext cx="17373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2286000"/>
            <a:ext cx="1737360" cy="34747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출시 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기준서 등록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13248" y="1901952"/>
            <a:ext cx="237744" cy="23774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173736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86000"/>
            <a:ext cx="1737360" cy="3474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미입고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중단으로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검토 기회 소멸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24928" y="1901952"/>
            <a:ext cx="237744" cy="237744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2286000"/>
            <a:ext cx="1737360" cy="2176272"/>
          </a:xfrm>
          <a:prstGeom prst="rect">
            <a:avLst/>
          </a:prstGeom>
          <a:solidFill>
            <a:srgbClr val="FED7D7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2286000"/>
            <a:ext cx="1737360" cy="347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706624"/>
            <a:ext cx="1554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심사에서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항목 누락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인지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입고 중단 품목은 정기 점검 대상에서 누락되어 기준서가 미갱신 상태로 방치된 것이 핵심 경위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  —  직접 원인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Cause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77240"/>
            <a:ext cx="8631936" cy="329184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원인: 검사기준서 외관 항목 누락 상태에서 절차 미준수로 검사 진행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4160520" cy="3246120"/>
          </a:xfrm>
          <a:prstGeom prst="rect">
            <a:avLst/>
          </a:prstGeom>
          <a:solidFill>
            <a:srgbClr val="FED7D7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34440"/>
            <a:ext cx="4160520" cy="38404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1  —  외관 항목 누락 미확인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" y="1801368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74650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셰플러에서 제공한 기준서 내 외관 검사항목이 누락된 상태로 SQM팀에 등록됨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" y="2697480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6426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개선품(A3C00564201-0) 등록 시 구버전(A3C0056420000) 기준서의 외관 항목이 업데이트되지 않았음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3593592"/>
            <a:ext cx="164592" cy="164592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35387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담당자는 기준서 등록 여부만 확인하고 내용의 완전성은 별도로 검증하지 않음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45152" y="1234440"/>
            <a:ext cx="4160520" cy="3246120"/>
          </a:xfrm>
          <a:prstGeom prst="rect">
            <a:avLst/>
          </a:prstGeom>
          <a:solidFill>
            <a:srgbClr val="FEEBC8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1234440"/>
            <a:ext cx="416052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2  —  기준서 미확인 상태에서 검사 진행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82312" y="1801368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4992624" y="174650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검사 수행 시 기준서를 열어 항목별로 확인하는 절차를 준수하지 않고 진행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82312" y="2697480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4992624" y="26426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빈도가 낮아 이전 검사 방식을 관행적으로 적용하여 기준서 확인 단계를 생략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82312" y="3593592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5" name="Text 23"/>
          <p:cNvSpPr/>
          <p:nvPr/>
        </p:nvSpPr>
        <p:spPr>
          <a:xfrm>
            <a:off x="4992624" y="35387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확인 여부를 기록하는 체크리스트가 별도로 운영되지 않아 누락 탐지 불가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직접 원인은 절차적 미준수와 기준서 완전성 검증 부재가 복합적으로 작용한 결과입니다.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  —  근본·시스템 원인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&amp; System Cause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77240"/>
            <a:ext cx="8631936" cy="329184"/>
          </a:xfrm>
          <a:prstGeom prst="rect">
            <a:avLst/>
          </a:prstGeom>
          <a:solidFill>
            <a:srgbClr val="FEFCB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8449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원인: 입고 빈도 기반 관리 체계의 구조적 한계 및 기록 프로세스 부재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2743200" cy="3200400"/>
          </a:xfrm>
          <a:prstGeom prst="rect">
            <a:avLst/>
          </a:prstGeom>
          <a:solidFill>
            <a:srgbClr val="FEFCBF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43584"/>
            <a:ext cx="2743200" cy="502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618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1499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기반 관리 체계 한계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1938528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18836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입고되지 않는 자재는 실물 검사 기회가 없어 기준서 점검 주기에서 자동 제외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" y="3108960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3054096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주요 입고 품목 위주로 확인되어 미입고 품목은 사실상 사각지대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243584"/>
            <a:ext cx="2743200" cy="3200400"/>
          </a:xfrm>
          <a:prstGeom prst="rect">
            <a:avLst/>
          </a:prstGeom>
          <a:solidFill>
            <a:srgbClr val="FEEBC8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243584"/>
            <a:ext cx="274320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2618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1499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위주 운영·기록 부재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1938528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18836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확인·요청이 구두로만 진행되어 처리 이력 추적 불가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3108960"/>
            <a:ext cx="164592" cy="16459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3054096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요청 후 처리 여부를 확인하는 피드백 체계가 없어 미처리 건이 누적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1243584"/>
            <a:ext cx="2743200" cy="3200400"/>
          </a:xfrm>
          <a:prstGeom prst="rect">
            <a:avLst/>
          </a:prstGeom>
          <a:solidFill>
            <a:srgbClr val="EBF8FF"/>
          </a:solidFill>
          <a:ln w="19050">
            <a:solidFill>
              <a:srgbClr val="4299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1243584"/>
            <a:ext cx="2743200" cy="50292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12618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원인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36208" y="1499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프로세스 부재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81928" y="1938528"/>
            <a:ext cx="164592" cy="164592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8836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여부와 무관한 전체 기준서 최신화 점검 프로세스 미수립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81928" y="3108960"/>
            <a:ext cx="164592" cy="164592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054096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 절차 없어 연쇄 누락 구조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세 가지 원인이 복합 작용하여 누락이 탐지되지 않는 구조적 취약점을 형성하였습니다.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Corrective &amp; Preventive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49808"/>
            <a:ext cx="1463040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64792" y="749808"/>
            <a:ext cx="3291840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749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내용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749808"/>
            <a:ext cx="1508760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7498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56832" y="749808"/>
            <a:ext cx="1088136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74980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예정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90688" y="749808"/>
            <a:ext cx="1078992" cy="365760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74980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115568"/>
            <a:ext cx="861364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353312"/>
            <a:ext cx="1280160" cy="310896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3533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37944" y="117043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 외관 사진 항목 보완 요청 및 완료 확인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02352" y="1115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111556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45552" y="1371600"/>
            <a:ext cx="969264" cy="274320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13716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1938528"/>
            <a:ext cx="8613648" cy="7863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176272"/>
            <a:ext cx="1280160" cy="310896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1762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개선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37944" y="199339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담당자와 수시 피드백 체계 구축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(누락 감지→서면 요청→처리 확인→완료 보고)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02352" y="193852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협업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56832" y="193852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2026.7.28~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45552" y="2194560"/>
            <a:ext cx="969264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21945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2761488"/>
            <a:ext cx="8613648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999232"/>
            <a:ext cx="1280160" cy="310896"/>
          </a:xfrm>
          <a:prstGeom prst="rect">
            <a:avLst/>
          </a:prstGeom>
          <a:solidFill>
            <a:srgbClr val="FEFCB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9992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강화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37944" y="281635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기준서 월간 전수 점검 실시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품목 발생 시 구버전 기준서 동시 점검 의무화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2352" y="276148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56832" y="276148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45552" y="3017520"/>
            <a:ext cx="969264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301752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3584448"/>
            <a:ext cx="8613648" cy="7863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822192"/>
            <a:ext cx="1280160" cy="310896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8221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기록화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837944" y="3639312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확인·조치 이력 서면 기록·보존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기준서 확인 보고 체계 유지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02352" y="358444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56832" y="3584448"/>
            <a:ext cx="1088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45552" y="3840480"/>
            <a:ext cx="969264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38404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흐름:  기준서 이상 감지  →  담당자 서면 요청  →  기준서 업데이트  →  확인 및 완료 보고  →  이력 기록 보존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  —  AS-IS vs TO-BE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Improvement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68096"/>
            <a:ext cx="4069080" cy="34747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7680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(현행 — 문제 구조)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07008"/>
            <a:ext cx="3840480" cy="42062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070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입고 시에만 기준서 확인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62763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55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자재 → 기준서 점검 제외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217627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30428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위주로만 확인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" y="27249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85292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852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발견 → 구두 요청만 진행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" y="327355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40156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015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여부 미확인·기록 없음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" y="38221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950208"/>
            <a:ext cx="3840480" cy="420624"/>
          </a:xfrm>
          <a:prstGeom prst="rect">
            <a:avLst/>
          </a:prstGeom>
          <a:solidFill>
            <a:srgbClr val="FED7D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502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누락됨 → 심사 지적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1097280"/>
            <a:ext cx="274320" cy="33375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370832" y="26060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18888" y="768096"/>
            <a:ext cx="406908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7680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(개선 후)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0328" y="120700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12070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입고 여부와 무관한 전체 기준서 월간 점검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0328" y="162763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10328" y="175564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1755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리비전 발생 시 구버전 동시 점검 의무화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10328" y="217627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10328" y="230428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누락 발견 → 서면(기록) 요청 즉시 진행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10328" y="27249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10328" y="285292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2852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SQM팀 피드백 체계로 처리 확인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10328" y="327355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10328" y="340156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34015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완료 보고 후 이력 서면 기록·보존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10328" y="38221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10328" y="3950208"/>
            <a:ext cx="3840480" cy="420624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01768" y="39502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매일 아침 기준서 확인 보고 체계 운영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 —  Action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Schedule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48513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749808"/>
            <a:ext cx="169164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항목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93392" y="749808"/>
            <a:ext cx="150876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749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2주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~7월 4주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47872" y="749808"/>
            <a:ext cx="150876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749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1주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~8월 2주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02352" y="749808"/>
            <a:ext cx="150876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749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3주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~8월 4주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56832" y="749808"/>
            <a:ext cx="1097280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749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90688" y="749808"/>
            <a:ext cx="1078992" cy="420624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74980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170432"/>
            <a:ext cx="861364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17043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외관 항목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보완·확인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84832" y="1307592"/>
            <a:ext cx="1325880" cy="34747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1" name="Text 19"/>
          <p:cNvSpPr/>
          <p:nvPr/>
        </p:nvSpPr>
        <p:spPr>
          <a:xfrm>
            <a:off x="2084832" y="1307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56832" y="11704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45552" y="1353312"/>
            <a:ext cx="969264" cy="256032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135331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67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828800"/>
            <a:ext cx="8613648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82880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피드백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구축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84832" y="1965960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2084832" y="19659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39312" y="1965960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30" name="Text 28"/>
          <p:cNvSpPr/>
          <p:nvPr/>
        </p:nvSpPr>
        <p:spPr>
          <a:xfrm>
            <a:off x="3639312" y="19659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56832" y="18288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SQM협업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45552" y="2011680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201168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2487168"/>
            <a:ext cx="861364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248716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기준서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실시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39312" y="2624328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7" name="Text 35"/>
          <p:cNvSpPr/>
          <p:nvPr/>
        </p:nvSpPr>
        <p:spPr>
          <a:xfrm>
            <a:off x="3639312" y="2624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93792" y="2624328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39" name="Text 37"/>
          <p:cNvSpPr/>
          <p:nvPr/>
        </p:nvSpPr>
        <p:spPr>
          <a:xfrm>
            <a:off x="5193792" y="2624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56832" y="24871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45552" y="2670048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45552" y="267004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3145536"/>
            <a:ext cx="8613648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" y="314553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수립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3282696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6" name="Text 44"/>
          <p:cNvSpPr/>
          <p:nvPr/>
        </p:nvSpPr>
        <p:spPr>
          <a:xfrm>
            <a:off x="3639312" y="3282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93792" y="3282696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48" name="Text 46"/>
          <p:cNvSpPr/>
          <p:nvPr/>
        </p:nvSpPr>
        <p:spPr>
          <a:xfrm>
            <a:off x="5193792" y="3282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56832" y="31455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45552" y="3328416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33284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3803904"/>
            <a:ext cx="861364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380390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보고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운영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084832" y="3941064"/>
            <a:ext cx="132588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5" name="Text 53"/>
          <p:cNvSpPr/>
          <p:nvPr/>
        </p:nvSpPr>
        <p:spPr>
          <a:xfrm>
            <a:off x="2084832" y="39410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39312" y="3941064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57" name="Text 55"/>
          <p:cNvSpPr/>
          <p:nvPr/>
        </p:nvSpPr>
        <p:spPr>
          <a:xfrm>
            <a:off x="3639312" y="39410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193792" y="3941064"/>
            <a:ext cx="1325880" cy="347472"/>
          </a:xfrm>
          <a:prstGeom prst="rect">
            <a:avLst/>
          </a:prstGeom>
          <a:solidFill>
            <a:srgbClr val="90CDF4"/>
          </a:solidFill>
          <a:ln/>
        </p:spPr>
      </p:sp>
      <p:sp>
        <p:nvSpPr>
          <p:cNvPr id="59" name="Text 57"/>
          <p:cNvSpPr/>
          <p:nvPr/>
        </p:nvSpPr>
        <p:spPr>
          <a:xfrm>
            <a:off x="5193792" y="39410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56832" y="38039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845552" y="3986784"/>
            <a:ext cx="969264" cy="256032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45552" y="39867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5720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기준일: 2026년 7월 28일  |  월간 점검 결과는 매월 말 SQM팀에 보고 예정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D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 to Prevention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74650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내용의 완전성을 입고 여부와 무관하게 주기적으로 검증하겠습니다.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50008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00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2404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누락 확인 및 조치는 서면으로 기록하여 추적 가능한 체계를 유지하겠습니다.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08376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0837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063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 시 구버전 기준서를 반드시 동시 점검하는 절차를 준수하겠습니다.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66744"/>
            <a:ext cx="384048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6674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7216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SQM팀과의 수시 소통 체계를 통해 품질 이슈를 조기에 해소하겠습니다.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4315968"/>
            <a:ext cx="4572000" cy="512064"/>
          </a:xfrm>
          <a:prstGeom prst="rect">
            <a:avLst/>
          </a:prstGeom>
          <a:solidFill>
            <a:srgbClr val="1A2F55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3159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D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담당: 김종선 대리  |  2026. 7. 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|  검사기준서 누락 원인분석 및 재발방지 대책서  |  CONFIDENTIAL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46720" y="4873752"/>
            <a:ext cx="8686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2026-07-27T11:27:12Z</dcterms:created>
  <dcterms:modified xsi:type="dcterms:W3CDTF">2026-07-27T11:27:12Z</dcterms:modified>
</cp:coreProperties>
</file>