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46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65836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누락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및 재발방지 대책서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7472" y="2048256"/>
            <a:ext cx="2926080" cy="4572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304288"/>
            <a:ext cx="85039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487168"/>
            <a:ext cx="8503920" cy="1051560"/>
          </a:xfrm>
          <a:prstGeom prst="rect">
            <a:avLst/>
          </a:prstGeom>
          <a:solidFill>
            <a:srgbClr val="E0F5FA"/>
          </a:solidFill>
          <a:ln w="19050">
            <a:solidFill>
              <a:srgbClr val="0096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487168"/>
            <a:ext cx="73152" cy="10515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 품목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83464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 Connector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" y="32369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 내부 심사  ·  2026년 7월 9일  ·  외관 검사항목 누락 지적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730752"/>
            <a:ext cx="2029968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96312" y="3730752"/>
            <a:ext cx="2029968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87752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5152" y="3730752"/>
            <a:ext cx="2029968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일시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6592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2026.7.28(화) 15:00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93992" y="3730752"/>
            <a:ext cx="2029968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장소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85432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Taicang 회의실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50976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950976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950976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10424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0976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 요약 및 품목 정보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950976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950976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950976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21808" y="10424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이후 누락까지의 타임라인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901952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901952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1901952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" y="19933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" y="2340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— 기준서 누락 미확인·절차 미준수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1901952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901952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1901952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9933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340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— 관리 체계 한계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852928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852928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2852928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0976" y="29443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0976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즉시조치·운영개선·관리강화·기록화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26864" y="2852928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2852928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5" name="Text 33"/>
          <p:cNvSpPr/>
          <p:nvPr/>
        </p:nvSpPr>
        <p:spPr>
          <a:xfrm>
            <a:off x="4626864" y="2852928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21808" y="29443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vs TO-BE 업무 흐름 비교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3803904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803904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" y="3803904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50976" y="38953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50976" y="4242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 타임라인 (7~8월)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26864" y="3803904"/>
            <a:ext cx="416966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26864" y="3803904"/>
            <a:ext cx="585216" cy="82296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5" name="Text 43"/>
          <p:cNvSpPr/>
          <p:nvPr/>
        </p:nvSpPr>
        <p:spPr>
          <a:xfrm>
            <a:off x="4626864" y="3803904"/>
            <a:ext cx="585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321808" y="38953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21808" y="4242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 및 담당자 확인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Summary  ·  A3C0056420000 Connector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50976"/>
            <a:ext cx="3511296" cy="38039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정보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863193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89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번호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3255264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3255264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50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98064"/>
            <a:ext cx="3255264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개선품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2980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328416"/>
            <a:ext cx="3255264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일자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37360" y="3511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9일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3255264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주체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37360" y="4041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31920" y="950976"/>
            <a:ext cx="4956048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59936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1316736"/>
            <a:ext cx="863193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931920" y="1389888"/>
            <a:ext cx="4956048" cy="1335024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1389888"/>
            <a:ext cx="64008" cy="13350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4078224" y="14447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78224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검사항목 누락 미인지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78224" y="193852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내 외관 검사항목이 누락되어 있었으나 이를 인지하지 못함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0" y="2852928"/>
            <a:ext cx="4956048" cy="133502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2852928"/>
            <a:ext cx="64008" cy="13350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4078224" y="2907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78224" y="3127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미확인 상태에서 검사 진행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78224" y="340156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내용을 충분히 확인하지 않은 상태에서 검사 절차를 진행하여 누락 항목에 대한 검사가 이루어지지 않음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4700016"/>
            <a:ext cx="8631936" cy="256032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700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 :  개선품 리비전으로 구버전 기준서가 미갱신된 상태에서 입고 부재로 인해 점검 기회를 놓쳐 누락됨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Timeline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80467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2194560"/>
            <a:ext cx="237744" cy="237744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8366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4944" y="2578608"/>
            <a:ext cx="1481328" cy="19933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578608"/>
            <a:ext cx="1481328" cy="292608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786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" y="2926080"/>
            <a:ext cx="1335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(외관 항목 누락 상태)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194560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706624" y="188366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61488" y="2578608"/>
            <a:ext cx="1481328" cy="19933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2578608"/>
            <a:ext cx="1481328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798064" y="25786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926080"/>
            <a:ext cx="1335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출시·신규 기준서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9824" y="2194560"/>
            <a:ext cx="237744" cy="23774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88366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28032" y="2578608"/>
            <a:ext cx="1481328" cy="19933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2578608"/>
            <a:ext cx="1481328" cy="29260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25786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미입고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01184" y="2926080"/>
            <a:ext cx="1335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입고 중단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검토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 소멸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16368" y="219456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839712" y="188366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94576" y="2578608"/>
            <a:ext cx="1481328" cy="1993392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94576" y="2578608"/>
            <a:ext cx="1481328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931152" y="25786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67728" y="2926080"/>
            <a:ext cx="1335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항목 누락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4700016"/>
            <a:ext cx="8631936" cy="25603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700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입고 중단 품목은 정기 점검 대상에서 누락되어 기준서가 미갱신 상태로 방치된 것이 핵심 경위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  —  직접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Cause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50976"/>
            <a:ext cx="8631936" cy="29260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509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 :  검사기준서 외관 항목 누락 상태에서 절차 미준수로 검사 진행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4169664" cy="3255264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35024"/>
            <a:ext cx="4169664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371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1353312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1  —  외관 항목 누락 미확인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" y="182880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10512"/>
            <a:ext cx="3767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제공 기준서 내 외관 검사항목이 누락된 상태로 SQM팀에 등록됨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0624" y="274320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24912"/>
            <a:ext cx="3767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개선품(A3C00564201-0) 등록 시 구버전(A3C0056420000) 기준서의 외관 항목이 업데이트되지 않음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3657600"/>
            <a:ext cx="54864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39312"/>
            <a:ext cx="3767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담당자는 기준서 등록 여부만 확인하고 내용의 완전성은 별도로 검증하지 않음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335024"/>
            <a:ext cx="4169664" cy="325526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1335024"/>
            <a:ext cx="4169664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4736592" y="1371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65776" y="1353312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2  —  기준서 미확인 상태에서 검사 진행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9744" y="1828800"/>
            <a:ext cx="54864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810512"/>
            <a:ext cx="3767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검사 수행 시 기준서를 열어 항목별로 확인하는 절차를 준수하지 않고 진행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9744" y="2743200"/>
            <a:ext cx="54864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724912"/>
            <a:ext cx="3767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빈도가 낮아 이전 검사 방식을 관행적으로 적용하여 기준서 확인 단계를 생략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9744" y="3657600"/>
            <a:ext cx="54864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639312"/>
            <a:ext cx="3767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확인 여부를 기록하는 체크리스트가 별도로 운영되지 않아 누락 탐지 불가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4700016"/>
            <a:ext cx="8631936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700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직접 원인은 절차적 미준수와 기준서 완전성 검증 부재가 복합적으로 작용한 결과입니다.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  —  근본·시스템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&amp; System Cause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50976"/>
            <a:ext cx="8631936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509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 :  입고 빈도 기반 관리 체계의 구조적 한계 및 기록 프로세스 부재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2779776" cy="3255264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35024"/>
            <a:ext cx="2779776" cy="47548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3533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기반 관리 체계 한계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1901952"/>
            <a:ext cx="146304" cy="146304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1865376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없는 자재는 실물 검사 기회가 없어 기준서 점검 주기에서 자동 제외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072384"/>
            <a:ext cx="146304" cy="146304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3035808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실제 입고 품목 위주로 확인되어 미입고 품목은 사실상 사각지대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82112" y="1335024"/>
            <a:ext cx="2779776" cy="325526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2112" y="1335024"/>
            <a:ext cx="2779776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3533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73552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위주 운영·기록 부재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1901952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3511296" y="1865376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확인·요청이 구두로만 진행되어 처리 이력 추적 불가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307238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3511296" y="3035808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요청 후 처리 여부를 확인하는 피드백 체계 없어 미처리 건 누적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08192" y="1335024"/>
            <a:ext cx="2779776" cy="3255264"/>
          </a:xfrm>
          <a:prstGeom prst="rect">
            <a:avLst/>
          </a:prstGeom>
          <a:solidFill>
            <a:srgbClr val="E0F5FA"/>
          </a:solidFill>
          <a:ln w="15240">
            <a:solidFill>
              <a:srgbClr val="007A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08192" y="1335024"/>
            <a:ext cx="2779776" cy="475488"/>
          </a:xfrm>
          <a:prstGeom prst="rect">
            <a:avLst/>
          </a:prstGeom>
          <a:solidFill>
            <a:srgbClr val="007A93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13533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원인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9632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프로세스 부재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6208" y="1901952"/>
            <a:ext cx="146304" cy="146304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1" name="Text 29"/>
          <p:cNvSpPr/>
          <p:nvPr/>
        </p:nvSpPr>
        <p:spPr>
          <a:xfrm>
            <a:off x="6437376" y="1865376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여부와 무관한 전체 기준서 최신화 점검 프로세스 미수립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36208" y="3072384"/>
            <a:ext cx="146304" cy="146304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37376" y="3035808"/>
            <a:ext cx="2359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 절차 없어 연쇄 누락 구조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700016"/>
            <a:ext cx="8631936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700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세 가지 원인이 복합 작용하여 누락이 탐지되지 않는 구조적 취약점을 형성하였습니다.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Corrective &amp; Preventive 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50976"/>
            <a:ext cx="137160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50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64208" y="950976"/>
            <a:ext cx="343814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95097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내용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38928" y="950976"/>
            <a:ext cx="151790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95097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93408" y="950976"/>
            <a:ext cx="115214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950976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예정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82128" y="950976"/>
            <a:ext cx="987552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95097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280160"/>
            <a:ext cx="861364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527048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527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1335024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 외관 사진 항목 보완 요청 및 확인 완료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38928" y="1280160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93408" y="1280160"/>
            <a:ext cx="1152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2026.7.10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36992" y="1536192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153619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084832"/>
            <a:ext cx="8613648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3317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개선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2139696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담당자와 수시 피드백 체계 구축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(누락 감지→서면 요청→처리 확인→완료 보고)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2084832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협업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93408" y="2084832"/>
            <a:ext cx="1152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2026.7.31~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36992" y="2340864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234086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2889504"/>
            <a:ext cx="861364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136392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강화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37360" y="2944368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기준서 월간 전수 점검 실시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품목 발생 시 구버전 기준서 동시 점검 의무화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38928" y="2889504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93408" y="2889504"/>
            <a:ext cx="1152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36992" y="3145536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314553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694176"/>
            <a:ext cx="8613648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394106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941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737360" y="3749040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확인·조치 이력 서면 기록·보존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기준서 확인 보고 체계 유지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38928" y="3694176"/>
            <a:ext cx="1517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93408" y="3694176"/>
            <a:ext cx="1152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36992" y="3950208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36992" y="395020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6032" y="4645152"/>
            <a:ext cx="8631936" cy="256032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6451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 :  기준서 이상 감지  →  담당자 서면 요청  →  기준서 업데이트  →  확인 및 완료 보고  →  이력 기록 보존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1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  —  AS-IS vs TO-BE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Improvement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50976"/>
            <a:ext cx="4078224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9509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—  현행 문제 구조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407822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335024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입고 시에만 기준서 확인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" y="1773936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865376"/>
            <a:ext cx="4078224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865376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자재 → 기준서 점검 제외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" y="230428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395728"/>
            <a:ext cx="4078224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395728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위주로만 확인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" y="2834640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926080"/>
            <a:ext cx="4078224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92608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발견 → 구두 요청만 진행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" y="3364992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456432"/>
            <a:ext cx="4078224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456432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여부 미확인 · 기록 없음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" y="3895344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986784"/>
            <a:ext cx="4078224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986784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누락됨 → 심사 지적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07408" y="1828800"/>
            <a:ext cx="329184" cy="2194560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4370832" y="2706624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09744" y="950976"/>
            <a:ext cx="4078224" cy="31089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9509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—  개선 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9744" y="1335024"/>
            <a:ext cx="4078224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1335024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입고 여부와 무관한 전체 기준서 월간 점검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9744" y="1773936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9744" y="1865376"/>
            <a:ext cx="4078224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1865376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리비전 발생 시 구버전 기준서 동시 점검 의무화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9744" y="2304288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9744" y="2395728"/>
            <a:ext cx="4078224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2395728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누락 발견 → 서면(기록) 요청 즉시 진행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9744" y="2834640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9744" y="2926080"/>
            <a:ext cx="4078224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292608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SQM팀 피드백 체계로 처리 확인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9744" y="3364992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9744" y="3456432"/>
            <a:ext cx="4078224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3456432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완료 보고 후 이력 서면 기록 · 보존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09744" y="3895344"/>
            <a:ext cx="4078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9744" y="3986784"/>
            <a:ext cx="4078224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3986784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매일 아침 기준서 확인 보고 체계 운영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9089136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3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 —  Action Plan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512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Schedule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50976"/>
            <a:ext cx="1682496" cy="347472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5097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항목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75104" y="950976"/>
            <a:ext cx="1682496" cy="347472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75104" y="95097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2~4주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94176" y="950976"/>
            <a:ext cx="1682496" cy="347472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95097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1~2주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13248" y="950976"/>
            <a:ext cx="1243584" cy="347472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95097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3~4주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93408" y="950976"/>
            <a:ext cx="1097280" cy="347472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9509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27264" y="950976"/>
            <a:ext cx="1042416" cy="347472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7264" y="950976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298448"/>
            <a:ext cx="861364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12984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외관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보완·확인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66544" y="1408176"/>
            <a:ext cx="1499616" cy="34747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066544" y="140817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93408" y="129844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82128" y="1481328"/>
            <a:ext cx="932688" cy="237744"/>
          </a:xfrm>
          <a:prstGeom prst="roundRect">
            <a:avLst>
              <a:gd name="adj" fmla="val 15385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14813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1938528"/>
            <a:ext cx="8613648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193852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피드백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구축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66544" y="2048256"/>
            <a:ext cx="1499616" cy="34747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066544" y="20482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85616" y="2048256"/>
            <a:ext cx="1499616" cy="347472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32" name="Text 30"/>
          <p:cNvSpPr/>
          <p:nvPr/>
        </p:nvSpPr>
        <p:spPr>
          <a:xfrm>
            <a:off x="3785616" y="20482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93408" y="19385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SQM협업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82128" y="2121408"/>
            <a:ext cx="932688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128" y="212140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2578608"/>
            <a:ext cx="861364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257860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기준서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실시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85616" y="2688336"/>
            <a:ext cx="1499616" cy="34747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9" name="Text 37"/>
          <p:cNvSpPr/>
          <p:nvPr/>
        </p:nvSpPr>
        <p:spPr>
          <a:xfrm>
            <a:off x="3785616" y="268833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04688" y="2688336"/>
            <a:ext cx="1060704" cy="347472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41" name="Text 39"/>
          <p:cNvSpPr/>
          <p:nvPr/>
        </p:nvSpPr>
        <p:spPr>
          <a:xfrm>
            <a:off x="5504688" y="268833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93408" y="257860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82128" y="2761488"/>
            <a:ext cx="932688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2128" y="276148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3218688"/>
            <a:ext cx="8613648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21868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수립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85616" y="3328416"/>
            <a:ext cx="1499616" cy="34747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8" name="Text 46"/>
          <p:cNvSpPr/>
          <p:nvPr/>
        </p:nvSpPr>
        <p:spPr>
          <a:xfrm>
            <a:off x="3785616" y="33284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04688" y="3328416"/>
            <a:ext cx="1060704" cy="347472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0" name="Text 48"/>
          <p:cNvSpPr/>
          <p:nvPr/>
        </p:nvSpPr>
        <p:spPr>
          <a:xfrm>
            <a:off x="5504688" y="332841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93408" y="321868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882128" y="3401568"/>
            <a:ext cx="932688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82128" y="340156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3858768"/>
            <a:ext cx="861364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385876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체계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066544" y="3968496"/>
            <a:ext cx="1499616" cy="34747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7" name="Text 55"/>
          <p:cNvSpPr/>
          <p:nvPr/>
        </p:nvSpPr>
        <p:spPr>
          <a:xfrm>
            <a:off x="2066544" y="396849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85616" y="3968496"/>
            <a:ext cx="1499616" cy="347472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9" name="Text 57"/>
          <p:cNvSpPr/>
          <p:nvPr/>
        </p:nvSpPr>
        <p:spPr>
          <a:xfrm>
            <a:off x="3785616" y="396849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04688" y="3968496"/>
            <a:ext cx="1060704" cy="347472"/>
          </a:xfrm>
          <a:prstGeom prst="rect">
            <a:avLst/>
          </a:prstGeom>
          <a:solidFill>
            <a:srgbClr val="B2DDE8"/>
          </a:solidFill>
          <a:ln/>
        </p:spPr>
      </p:sp>
      <p:sp>
        <p:nvSpPr>
          <p:cNvPr id="61" name="Text 59"/>
          <p:cNvSpPr/>
          <p:nvPr/>
        </p:nvSpPr>
        <p:spPr>
          <a:xfrm>
            <a:off x="5504688" y="396849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93408" y="385876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882128" y="4041648"/>
            <a:ext cx="932688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82128" y="404164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56032" y="4645152"/>
            <a:ext cx="8631936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46451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기준일: 2026년 7월 31일  ·  월간 점검 결과는 매월 말 SQM팀에 보고 예정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Text 66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 to Prevention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060704"/>
            <a:ext cx="2194560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298448"/>
            <a:ext cx="36576" cy="4572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24358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43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내용의 완전성을 입고 여부와 무관하게 주기적으로 검증하겠습니다.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029968"/>
            <a:ext cx="36576" cy="4572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" y="197510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" y="201168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누락 확인 및 조치는 서면으로 기록하여 추적 가능한 체계를 유지하겠습니다.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761488"/>
            <a:ext cx="36576" cy="4572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270662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274320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 시 구버전 기준서를 반드시 동시에 점검하는 절차를 준수하겠습니다.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493008"/>
            <a:ext cx="36576" cy="4572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" y="343814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347472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SQM팀과의 수시 소통 체계를 통해 품질 이슈를 조기에 해소하겠습니다.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4261104"/>
            <a:ext cx="51206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4261104"/>
            <a:ext cx="54864" cy="56692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6" name="Text 24"/>
          <p:cNvSpPr/>
          <p:nvPr/>
        </p:nvSpPr>
        <p:spPr>
          <a:xfrm>
            <a:off x="2121408" y="42611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담당: 김종선 대리  ·  2026. 7. 31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" y="4919472"/>
            <a:ext cx="855878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93408" y="494690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705088" y="109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508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2026-07-30T15:08:30Z</dcterms:created>
  <dcterms:modified xsi:type="dcterms:W3CDTF">2026-07-30T15:08:30Z</dcterms:modified>
</cp:coreProperties>
</file>