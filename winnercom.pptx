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133856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 시스템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제안서 초안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305409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0352" y="3419856"/>
            <a:ext cx="438912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5478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연구개발실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803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 |  2026년 7월</a:t>
            </a:r>
            <a:endParaRPr lang="en-US" sz="11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457200"/>
            <a:ext cx="370332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 (독립 검사기 예시)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연계 (딥러닝 검사 확인 후)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— 단계별 도입 전략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 모델 — 임대 방식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6344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77316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2064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365760" y="365760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75488" y="373989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22960" y="373989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지금, 왜 인시스인가?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🔍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검출력 안정화가 관건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검사는 방향은 분명하나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학습·검출력 안정화 과정이 성패를 가릅니다.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🤝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검증된 파트너십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양산 검사기 개발·납품 실적을 보유한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엔지니어사와 전략적 협약을 맺고 있습니다.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⚡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더 빠른 결과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검증된 노하우로 시행착오를 줄여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안정적 검출력을 조기에 확보합니다.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안착부터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10512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기종별 검사 지그에 PCB 안착 시 바코드가 상부로 향하고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항상 동일 위치에 오도록 지그 설계 필요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1051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804672"/>
          </a:xfrm>
          <a:prstGeom prst="roundRect">
            <a:avLst>
              <a:gd name="adj" fmla="val 681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517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87121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205472" y="3163824"/>
            <a:ext cx="1444752" cy="237744"/>
          </a:xfrm>
          <a:prstGeom prst="roundRect">
            <a:avLst>
              <a:gd name="adj" fmla="val 11538"/>
            </a:avLst>
          </a:prstGeom>
          <a:solidFill>
            <a:srgbClr val="FECACA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05472" y="3163824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추후 옵션 — 독립 검사기 구조 시 가능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365760" y="3712464"/>
            <a:ext cx="8412480" cy="475488"/>
          </a:xfrm>
          <a:prstGeom prst="roundRect">
            <a:avLst>
              <a:gd name="adj" fmla="val 1346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548640" y="371246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365760" y="4261104"/>
            <a:ext cx="8412480" cy="768096"/>
          </a:xfrm>
          <a:prstGeom prst="roundRect">
            <a:avLst>
              <a:gd name="adj" fmla="val 8333"/>
            </a:avLst>
          </a:prstGeom>
          <a:solidFill>
            <a:srgbClr val="FFF8E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365760" y="4261104"/>
            <a:ext cx="54864" cy="7680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437083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3776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🤝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969264" y="4297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데이터 제공 협조 요청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69264" y="453542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검사원이 현장에서 판별한 양품·불량 결과 데이터를 AI 딥러닝 학습에 활용합니다.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이력(불량 유형, 판정 결과, 이미지)을 제공해 주시면 초기 학습 정확도를 높이고 도입 기간을 단축할 수 있습니다.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126480" y="4315968"/>
            <a:ext cx="2578608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435254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📋  요청 자료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199632" y="45354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불량 유형별 이미지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현장 판정 이력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양품 기준 샘플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  —  독립적인 검사기 예시</a:t>
            </a:r>
            <a:endParaRPr lang="en-US" sz="1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12707" y="438912"/>
            <a:ext cx="5518678" cy="4686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 (딥러닝 검사 확인 후)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71216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0944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80944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80944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71216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71216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80944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80944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80944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871216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871216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980944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80944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31536" y="1078992"/>
            <a:ext cx="3346704" cy="3493008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31536" y="1078992"/>
            <a:ext cx="3346704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1078992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559552" y="1554480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650992" y="1591056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50992" y="1792224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559552" y="2084832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650992" y="2121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50992" y="2322576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559552" y="2615184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50992" y="265176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50992" y="2852928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59552" y="3145536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650992" y="3182112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50992" y="3383280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559552" y="3675888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650992" y="3712464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650992" y="3913632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7085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07085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1480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070202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11526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1526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115922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179930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74643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15968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15968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820363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84371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479085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20410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20410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524805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588813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183526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24851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24851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229246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93254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 (딥러닝 누적 학습)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5720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5720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20040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29184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29184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329184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03504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12648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12648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 데이터 확보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12648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검사기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장비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축적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— 단계별 도입 전략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장비로 딥러닝 검출력을 먼저 확인, 양산 검사기는 고객 요구사항 반영 제작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24128"/>
            <a:ext cx="8412480" cy="402336"/>
          </a:xfrm>
          <a:prstGeom prst="roundRect">
            <a:avLst>
              <a:gd name="adj" fmla="val 15909"/>
            </a:avLst>
          </a:prstGeom>
          <a:solidFill>
            <a:srgbClr val="1B3A6B"/>
          </a:solidFill>
          <a:ln w="12700">
            <a:solidFill>
              <a:srgbClr val="2E5EA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24128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💡  상호 비용·시간 부담을 최소화하고 빠른 효과 검증을 위해, 검증 장비는 딥러닝 양불 판정 검증 전용으로 제작합니다.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1517904"/>
            <a:ext cx="411480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517904"/>
            <a:ext cx="4114800" cy="365760"/>
          </a:xfrm>
          <a:prstGeom prst="roundRect">
            <a:avLst>
              <a:gd name="adj" fmla="val 175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5179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  —  검증 장비 (검출력 검증)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" y="1938528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9568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투입·배출·스캔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901952" y="19568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수작업 진행 (자동화 미적용)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75488" y="2249424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2267712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검사기 구현 범위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901952" y="22677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양불 판정 기능만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75488" y="2560320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" y="257860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목표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01952" y="25786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검사원 이상의 검출력 확인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75488" y="2871216"/>
            <a:ext cx="3895344" cy="237744"/>
          </a:xfrm>
          <a:prstGeom prst="roundRect">
            <a:avLst>
              <a:gd name="adj" fmla="val 26923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75488" y="2871216"/>
            <a:ext cx="3895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 기간 단축 · 투자 비용 최소화 · 빠른 효과 검증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63440" y="1517904"/>
            <a:ext cx="411480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254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1517904"/>
            <a:ext cx="4114800" cy="365760"/>
          </a:xfrm>
          <a:prstGeom prst="roundRect">
            <a:avLst>
              <a:gd name="adj" fmla="val 17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63440" y="15179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  —  기능 확장 (효과 확인 후 협의)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73168" y="1938528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846320" y="195681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투입·배출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199632" y="195681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연계, 자동 이송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773168" y="2249424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846320" y="2267712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자동 스캔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199632" y="22677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 · MES 연동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73168" y="2560320"/>
            <a:ext cx="3895344" cy="274320"/>
          </a:xfrm>
          <a:prstGeom prst="roundRect">
            <a:avLst>
              <a:gd name="adj" fmla="val 2333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846320" y="257860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자동 분리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199632" y="25786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자동 분리 배출 구조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773168" y="2871216"/>
            <a:ext cx="3895344" cy="237744"/>
          </a:xfrm>
          <a:prstGeom prst="roundRect">
            <a:avLst>
              <a:gd name="adj" fmla="val 2692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73168" y="2871216"/>
            <a:ext cx="3895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결과 확인 후 범위·일정·비용 별도 협의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517136" y="2249424"/>
            <a:ext cx="109728" cy="182880"/>
          </a:xfrm>
          <a:prstGeom prst="rightArrow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80872" y="3328416"/>
            <a:ext cx="310896" cy="31089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80872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393192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706880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780032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1B2F5E"/>
          </a:solidFill>
          <a:ln w="1524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2295144" y="3328416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295144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807464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121152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94304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3709416" y="3328416"/>
            <a:ext cx="310896" cy="31089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09416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3221736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35424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08576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1B2F5E"/>
          </a:solidFill>
          <a:ln w="1524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5123688" y="3328416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23688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636008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949696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22848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1B2F5E"/>
          </a:solidFill>
          <a:ln w="1524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6537960" y="3328416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050280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시범 적용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7363968" y="3557016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437120" y="3273552"/>
            <a:ext cx="13411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7952232" y="3328416"/>
            <a:ext cx="310896" cy="31089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952232" y="3328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7464552" y="3657600"/>
            <a:ext cx="1286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검출력 검증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365760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365760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1780032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1780032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유형 분류 1~2주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3194304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1" name="Text 69"/>
          <p:cNvSpPr/>
          <p:nvPr/>
        </p:nvSpPr>
        <p:spPr>
          <a:xfrm>
            <a:off x="3194304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검증기 사양 협의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4608576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4608576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전용 단순 구조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6022848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6022848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병행 운영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7437120" y="3895344"/>
            <a:ext cx="1341120" cy="256032"/>
          </a:xfrm>
          <a:prstGeom prst="roundRect">
            <a:avLst>
              <a:gd name="adj" fmla="val 25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7" name="Text 75"/>
          <p:cNvSpPr/>
          <p:nvPr/>
        </p:nvSpPr>
        <p:spPr>
          <a:xfrm>
            <a:off x="7437120" y="3895344"/>
            <a:ext cx="1341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검사원 대비 비교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365760" y="4261104"/>
            <a:ext cx="8412480" cy="384048"/>
          </a:xfrm>
          <a:prstGeom prst="roundRect">
            <a:avLst>
              <a:gd name="adj" fmla="val 1666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9" name="Text 77"/>
          <p:cNvSpPr/>
          <p:nvPr/>
        </p:nvSpPr>
        <p:spPr>
          <a:xfrm>
            <a:off x="548640" y="426110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장비 제작 약 3~4주  ·  검출력 검증 후  →  고객 요구사항 반영한 양산 검사기 제작·제공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 모델 — 부담 없는 임대 방식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인시스가 투자·제작하고 위너콤은 임대로 사용합니다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548640"/>
          </a:xfrm>
          <a:prstGeom prst="roundRect">
            <a:avLst>
              <a:gd name="adj" fmla="val 11667"/>
            </a:avLst>
          </a:prstGeom>
          <a:solidFill>
            <a:srgbClr val="1B3A6B"/>
          </a:solidFill>
          <a:ln w="12700">
            <a:solidFill>
              <a:srgbClr val="2E5EA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7899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💡  인시스가 검사기를 투자·제작하여 임대 제공 — 위너콤은 초기 설비 투자 부담 없이 딥러닝 검사 효과부터 확인하실 수 있습니다.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65760" y="1828800"/>
            <a:ext cx="4297680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12064" y="2011680"/>
            <a:ext cx="420624" cy="42062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2064" y="2011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0704" y="195681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 투자 없음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60704" y="221284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구매 부담 없이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임대료만으로 도입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" y="2724912"/>
            <a:ext cx="4297680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12064" y="2907792"/>
            <a:ext cx="420624" cy="42062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" y="29077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🛡️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60704" y="28529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 최소화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60704" y="3108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실패 시에도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고객사 손실 부담 최소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621024"/>
            <a:ext cx="4297680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12064" y="3803904"/>
            <a:ext cx="420624" cy="42062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2064" y="38039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🔧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60704" y="3749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유지관리 포함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60704" y="40050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정기 점검·모델 재학습·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A/S를 임대료에 포함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46320" y="1828800"/>
            <a:ext cx="3931920" cy="2578608"/>
          </a:xfrm>
          <a:prstGeom prst="roundRect">
            <a:avLst>
              <a:gd name="adj" fmla="val 2482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46320" y="1828800"/>
            <a:ext cx="3931920" cy="402336"/>
          </a:xfrm>
          <a:prstGeom prst="roundRect">
            <a:avLst>
              <a:gd name="adj" fmla="val 1590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18288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기능 구성에 따른 임대료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974336" y="2340864"/>
            <a:ext cx="3675888" cy="566928"/>
          </a:xfrm>
          <a:prstGeom prst="roundRect">
            <a:avLst>
              <a:gd name="adj" fmla="val 1129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065776" y="239572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검증기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065776" y="261518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검사 + 수동 투입·배출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863840" y="2487168"/>
            <a:ext cx="749808" cy="274320"/>
          </a:xfrm>
          <a:prstGeom prst="roundRect">
            <a:avLst>
              <a:gd name="adj" fmla="val 1333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0" y="248716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974336" y="2999232"/>
            <a:ext cx="3675888" cy="566928"/>
          </a:xfrm>
          <a:prstGeom prst="roundRect">
            <a:avLst>
              <a:gd name="adj" fmla="val 11290"/>
            </a:avLst>
          </a:prstGeom>
          <a:solidFill>
            <a:srgbClr val="EEF6F4"/>
          </a:solidFill>
          <a:ln w="12700">
            <a:solidFill>
              <a:srgbClr val="EEF6F4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5065776" y="305409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양산 표준형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065776" y="32735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투입·배출 + 바코드 자동 스캔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863840" y="3145536"/>
            <a:ext cx="749808" cy="27432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0" y="31455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중간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974336" y="3657600"/>
            <a:ext cx="3675888" cy="566928"/>
          </a:xfrm>
          <a:prstGeom prst="roundRect">
            <a:avLst>
              <a:gd name="adj" fmla="val 11290"/>
            </a:avLst>
          </a:prstGeom>
          <a:solidFill>
            <a:srgbClr val="EEF6F4"/>
          </a:solidFill>
          <a:ln w="12700">
            <a:solidFill>
              <a:srgbClr val="EEF6F4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5065776" y="371246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양산 고급형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065776" y="39319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표준형 + NG 자동 분리 + MES 연동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863840" y="3803904"/>
            <a:ext cx="749808" cy="274320"/>
          </a:xfrm>
          <a:prstGeom prst="roundRect">
            <a:avLst>
              <a:gd name="adj" fmla="val 13333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863840" y="380390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높음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65760" y="4572000"/>
            <a:ext cx="8412480" cy="402336"/>
          </a:xfrm>
          <a:prstGeom prst="roundRect">
            <a:avLst>
              <a:gd name="adj" fmla="val 15909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48640" y="4572000"/>
            <a:ext cx="8046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검증기로 부담 없이 시작  →  검증 후 필요한 기능만 선택하여 양산형으로 전환  →  기능 범위에 따라 임대료 조정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적용 전 사전 검토가 필요한 항목입니다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11521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1521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기구·지그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914400" y="13533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PCB 연결 케이블 형태 균일화 및 바코드 위치 표준화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15727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케이블이 PCB와 연결된 상태에서 형태가 일정하지 않으면 지그 안착 불량 및 촬영 위치 오차가 발생할 수 있습니다. 또한 바코드 부착 위치가 개체마다 다를 경우 고정식 스캐너 인식률이 저하됩니다.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943600" y="11338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1704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035040" y="13533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 정형화 가능 여부 및 바코드 부착 위치 표준화 협의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" y="18790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790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8790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19522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EDE9FE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19522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운용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914400" y="21534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라인에서 안착 지그 회수 방법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4400" y="23728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타입 흐름 라인에 지그를 투입할 경우 검사 완료 후 지그를 투입 위치로 회수하는 방법이 필요합니다. 지그 미회수 시 라인 정체 및 추가 지그 소요 비용이 발생합니다.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943600" y="19339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035040" y="19705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035040" y="21534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회수 방식(수동 회수 / 자동 리턴 구조) 및 지그 수량 협의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26791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791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6791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27523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CCFBF1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27523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처리량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914400" y="29535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검사품 동시 안착 가능 여부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4400" y="31729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02항의 지그 회수 방식에 따라 복수의 검사품을 동시에 지그에 올려두는 멀티 안착 구조가 가능한지 검토가 필요합니다. 동시 처리 수량에 따라 검사기 설계 규모와 S/T가 결정됩니다.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943600" y="27340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035040" y="2770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29535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생산 속도 및 동시 처리 목표 수량 공유 요청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34792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65760" y="34792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4792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14400" y="35524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5524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설계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914400" y="37536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03항 가능 시 — 검사기 내부 지그 리턴 구조 추가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14400" y="39730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동시 안착이 가능하다면 검사기 내부에 지그 자동 리턴 구조를 설계에 포함합니다. 이 경우 장비 규모와 제작 기간·비용이 증가하므로 효용성을 함께 검토해야 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943600" y="35341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035040" y="35707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035040" y="37536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리턴 구조 포함 여부 및 설치 공간·예산 범위 사전 협의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2793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42793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2793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14400" y="43525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43525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협조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914400" y="45537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육안검사 경험 데이터의 딥러닝 학습 적용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4400" y="47731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비전검사기 도입 이전 검사원들이 육안으로 판별하며 축적한 불량 사례·판정 기준 데이터를 딥러닝 초기 학습에 활용하면 검출 정확도를 빠르게 높일 수 있습니다. 학습 데이터가 많을수록 도입 초기 성능이 향상됩니다.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943600" y="43342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035040" y="43708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6035040" y="45537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불량 이미지·판정 이력 데이터 제공 여부 및 범위 협의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인시스로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장비 제작·검증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검증 장비 제작 후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검사원 대비 검출력 검증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양산 검사기 제공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완료 후 고객 요구사항을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반영한 양산 검사기 제작·제공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연구개발실  |  담당: 이사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2026-07-27T23:34:57Z</dcterms:created>
  <dcterms:modified xsi:type="dcterms:W3CDTF">2026-07-27T23:34:57Z</dcterms:modified>
</cp:coreProperties>
</file>