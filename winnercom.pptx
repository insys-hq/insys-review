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46120"/>
            <a:ext cx="9144000" cy="1897380"/>
          </a:xfrm>
          <a:prstGeom prst="rect">
            <a:avLst/>
          </a:prstGeom>
          <a:solidFill>
            <a:srgbClr val="0F1D40"/>
          </a:solidFill>
          <a:ln w="12700">
            <a:solidFill>
              <a:srgbClr val="0F1D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53312"/>
            <a:ext cx="54864" cy="14996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133856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인라인 딥러닝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비전검사 시스템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제안서 초안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30540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제로화를 위한 스마트 인라인 자동화 솔루션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3419856"/>
            <a:ext cx="4389120" cy="0"/>
          </a:xfrm>
          <a:prstGeom prst="line">
            <a:avLst/>
          </a:prstGeom>
          <a:noFill/>
          <a:ln w="12700">
            <a:solidFill>
              <a:srgbClr val="4B6A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35478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제안사: 인시스 AI혁신 R&amp;D센터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38039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수신: 위너콤  |  2026년 7월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457200"/>
            <a:ext cx="370332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Table of Contents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17957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17957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배경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73168" y="117957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117957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카메라 vs 딥러닝 비전 비교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1609344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16916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69164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개요 및 검사 프로세스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609344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3168" y="16916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169164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설비 컨셉트 이미지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2121408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220370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2037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구성 &amp; MES 데이터 연계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2121408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73168" y="220370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22037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장점 &amp; 도입 효과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2633472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" y="271576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271576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확장성 — 추가 라인 도입 시 이점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63440" y="2633472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73168" y="271576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271576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절차 &amp; 개발 일정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3145536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" y="32278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322783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문제점 및 협의 사항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663440" y="3145536"/>
            <a:ext cx="4114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73168" y="32278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20640" y="322783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배경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 딥러닝 비전검사인가?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2394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" y="1298448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0976" y="124358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일관성 확보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" y="173736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사람의 판단에 의존하는 검사는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컨디션·환경에 따라 결과가 달라질 수 있습니다.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54296" y="1097280"/>
            <a:ext cx="412394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82312" y="1298448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39512" y="1243584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품질관리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82312" y="173736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데이터가 체계적으로 축적되지 않으면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 개선과 클레임 대응이 어렵습니다.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578608"/>
            <a:ext cx="412394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" y="2779776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0976" y="2724912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 자동화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" y="3218688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일관된 기준으로 동일한 품질의 검사를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수행하며 모든 데이터를 자동 누적합니다.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54296" y="2578608"/>
            <a:ext cx="412394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82312" y="2779776"/>
            <a:ext cx="365760" cy="36576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39512" y="2724912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위너콤 최적화 솔루션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82312" y="3218688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위너콤 외관검사 공정에 특화된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인라인 딥러닝 비전검사 시스템을 제안합니다.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카메라 vs 딥러닝 비전 성능 비교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목적에 따른 최적 조명 선택이 딥러닝 정확도를 결정합니다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651760" cy="365760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2651760" cy="420624"/>
          </a:xfrm>
          <a:prstGeom prst="roundRect">
            <a:avLst>
              <a:gd name="adj" fmla="val 1521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카메라 (룰 기반)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2064" y="1609344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명확한 불량만 검출 가능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76656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스크래치·치수 등 뚜렷한 유형에 한정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2064" y="2121408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조명 변화에 취약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6656" y="23408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변화 시 오검 증가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2064" y="263347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새 불량 유형 대응 불가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6656" y="2852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엔지니어가 규칙 직접 수정 필요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2064" y="314553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미세·복합 불량 검출 한계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6656" y="3364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경계 모호한 불량은 누락 위험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2064" y="365760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초기 구축 난이도 낮음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6656" y="38770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설정으로 빠른 도입 가능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163824" y="2578608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63824" y="257860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31920" y="1078992"/>
            <a:ext cx="4846320" cy="365760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31920" y="1078992"/>
            <a:ext cx="4846320" cy="420624"/>
          </a:xfrm>
          <a:prstGeom prst="roundRect">
            <a:avLst>
              <a:gd name="adj" fmla="val 1521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107899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 비전 + 최적 조명 선택  ★ 제안 방식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078224" y="1609344"/>
            <a:ext cx="2212848" cy="566928"/>
          </a:xfrm>
          <a:prstGeom prst="roundRect">
            <a:avLst>
              <a:gd name="adj" fmla="val 1129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69664" y="164592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미세·복합 불량 고정밀 검출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69664" y="190195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 학습으로 모호한 불량도 검출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37376" y="1609344"/>
            <a:ext cx="2212848" cy="566928"/>
          </a:xfrm>
          <a:prstGeom prst="roundRect">
            <a:avLst>
              <a:gd name="adj" fmla="val 1129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28816" y="164592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검사 목적별 최적 조명 선택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28816" y="190195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유형에 따라 조명 방식 결정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078224" y="2267712"/>
            <a:ext cx="2212848" cy="566928"/>
          </a:xfrm>
          <a:prstGeom prst="roundRect">
            <a:avLst>
              <a:gd name="adj" fmla="val 1129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69664" y="230428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새 불량 유형 추가 학습 대응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69664" y="256032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추가만으로 즉시 대응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37376" y="2267712"/>
            <a:ext cx="2212848" cy="566928"/>
          </a:xfrm>
          <a:prstGeom prst="roundRect">
            <a:avLst>
              <a:gd name="adj" fmla="val 1129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28816" y="230428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조명 환경 변화에 안정적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528816" y="256032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균일 조명 설계로 오검 최소화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078224" y="2926080"/>
            <a:ext cx="2212848" cy="566928"/>
          </a:xfrm>
          <a:prstGeom prst="roundRect">
            <a:avLst>
              <a:gd name="adj" fmla="val 1129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169664" y="296265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데이터 누적 → 정확도 지속 향상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69664" y="321868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운영할수록 검출율이 높아지는 구조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37376" y="2926080"/>
            <a:ext cx="2212848" cy="566928"/>
          </a:xfrm>
          <a:prstGeom prst="roundRect">
            <a:avLst>
              <a:gd name="adj" fmla="val 1129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528816" y="2962656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바코드·MES 연동 통합 운영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28816" y="321868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검사~이력관리 전 과정 자동화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931920" y="3602736"/>
            <a:ext cx="4846320" cy="987552"/>
          </a:xfrm>
          <a:prstGeom prst="roundRect">
            <a:avLst>
              <a:gd name="adj" fmla="val 6481"/>
            </a:avLst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986784" y="3639312"/>
            <a:ext cx="1426464" cy="877824"/>
          </a:xfrm>
          <a:prstGeom prst="roundRect">
            <a:avLst>
              <a:gd name="adj" fmla="val 5208"/>
            </a:avLst>
          </a:prstGeom>
          <a:solidFill>
            <a:srgbClr val="0F1D40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86784" y="36393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돔조명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986784" y="391363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Edge·형상 검출</a:t>
            </a:r>
            <a:endParaRPr lang="en-US" sz="7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반사 억제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522976" y="3639312"/>
            <a:ext cx="1426464" cy="877824"/>
          </a:xfrm>
          <a:prstGeom prst="roundRect">
            <a:avLst>
              <a:gd name="adj" fmla="val 5208"/>
            </a:avLst>
          </a:prstGeom>
          <a:solidFill>
            <a:srgbClr val="0F1D40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22976" y="36393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동축조명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522976" y="391363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스크래치</a:t>
            </a:r>
            <a:endParaRPr lang="en-US" sz="7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광택 이상 검출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059168" y="3639312"/>
            <a:ext cx="1426464" cy="877824"/>
          </a:xfrm>
          <a:prstGeom prst="roundRect">
            <a:avLst>
              <a:gd name="adj" fmla="val 5208"/>
            </a:avLst>
          </a:prstGeom>
          <a:solidFill>
            <a:srgbClr val="0F1D40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59168" y="36393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 Angle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Ring 조명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059168" y="3913632"/>
            <a:ext cx="1426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미세 흠집</a:t>
            </a:r>
            <a:endParaRPr lang="en-US" sz="7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요철·질감 검출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개요 및 검사 프로세스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지그 안착부터 양불 분리 배출까지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155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B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47472" y="12618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지그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44752" y="1362456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1078992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72768" y="11155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B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572768" y="12618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바코드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70048" y="1362456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98064" y="1078992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98064" y="11155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B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98064" y="12618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95344" y="1362456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1078992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11155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B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023360" y="12618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이송·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촬영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1362456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48656" y="1078992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48656" y="11155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B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48656" y="12618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45936" y="1362456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73952" y="1078992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11155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B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473952" y="12618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71232" y="1362456"/>
            <a:ext cx="12801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99248" y="1078992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9248" y="11155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B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699248" y="12618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1755648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1847088"/>
            <a:ext cx="347472" cy="34747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지그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14400" y="18105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기종별 검사 지그에 PCB 안착 시 바코드가 상부로 향하고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항상 동일 위치에 오도록 지그 설계 필요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26864" y="1755648"/>
            <a:ext cx="3968496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18304" y="1847088"/>
            <a:ext cx="347472" cy="347472"/>
          </a:xfrm>
          <a:prstGeom prst="ellipse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18304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75504" y="181051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투입을 인식한 검사기가 S/T 기준으로 이송하며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촬영·딥러닝 판정을 수행합니다.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97296" y="2468880"/>
            <a:ext cx="0" cy="25603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11680" y="2724912"/>
            <a:ext cx="3785616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2633472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26700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양품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작업자 옆 이송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 양품 데이터 전송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797296" y="2724912"/>
            <a:ext cx="1353312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633472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50608" y="26700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NG품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150608" y="29077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 구분함 이송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 NG 데이터 전송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834640" y="2633472"/>
            <a:ext cx="3474720" cy="621792"/>
          </a:xfrm>
          <a:prstGeom prst="roundRect">
            <a:avLst>
              <a:gd name="adj" fmla="val 10294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834640" y="263347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76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 실시간 연동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76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양품·NG 데이터 자동 전송 및 생산 이력 기록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5760" y="3712464"/>
            <a:ext cx="8412480" cy="475488"/>
          </a:xfrm>
          <a:prstGeom prst="roundRect">
            <a:avLst>
              <a:gd name="adj" fmla="val 13462"/>
            </a:avLst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48640" y="371246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투입부터 판정·MES 전송·분리 배출까지  전 과정 무인 자동 운영  |  별도 인력 불필요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65760" y="4261104"/>
            <a:ext cx="8412480" cy="768096"/>
          </a:xfrm>
          <a:prstGeom prst="roundRect">
            <a:avLst>
              <a:gd name="adj" fmla="val 8333"/>
            </a:avLst>
          </a:prstGeom>
          <a:solidFill>
            <a:srgbClr val="FFF8E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65760" y="4261104"/>
            <a:ext cx="54864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3776" y="437083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🤝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969264" y="4297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검사 데이터 제공 협조 요청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69264" y="453542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검사원이 현장에서 판별한 양품·불량 결과 데이터를 AI 딥러닝 학습에 활용합니다.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검사 이력(불량 유형, 판정 결과, 이미지)을 제공해 주시면 초기 학습 정확도를 높이고 도입 기간을 단축할 수 있습니다.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126480" y="4315968"/>
            <a:ext cx="2578608" cy="6400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199632" y="43525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 요청 자료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199632" y="45354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불량 유형별 이미지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현장 판정 이력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양품 기준 샘플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설비 컨셉트 이미지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7229" y="438912"/>
            <a:ext cx="7029450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구성 &amp; MES 데이터 연계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구성 모듈과 생산 시스템 연결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3774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338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13385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 라인 연계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4081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흐름 라인과 검사기 연계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S/T 기준 이송 속도 결정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71216" y="1078992"/>
            <a:ext cx="23774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71216" y="1078992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0944" y="11338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80944" y="113385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지그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80944" y="14081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정위치 정렬·고정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검사마다 동일 조건 유지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847088"/>
            <a:ext cx="23774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847088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1901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190195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 &amp; 돔조명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217627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고해상도 카메라 + 돔조명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전면·측면·후면 다각도 촬영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71216" y="1847088"/>
            <a:ext cx="23774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871216" y="1847088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80944" y="1901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80944" y="190195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 판정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980944" y="217627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GPU 엣지 컴퓨팅 현장 판정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불필요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615184"/>
            <a:ext cx="23774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615184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26700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267004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양불 분리 배출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" y="294436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양품 → 다음 공정 자동 이송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 → NG 구분함 자동 분리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71216" y="2615184"/>
            <a:ext cx="237744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871216" y="2615184"/>
            <a:ext cx="54864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80944" y="26700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980944" y="267004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바코드 스캐너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980944" y="294436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고정식 스캐너로 제품 이력 연동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결과·이미지 자동 저장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31536" y="1078992"/>
            <a:ext cx="3346704" cy="3493008"/>
          </a:xfrm>
          <a:prstGeom prst="roundRect">
            <a:avLst>
              <a:gd name="adj" fmla="val 1913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31536" y="1078992"/>
            <a:ext cx="3346704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31536" y="1078992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 데이터 연계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559552" y="1554480"/>
            <a:ext cx="3090672" cy="457200"/>
          </a:xfrm>
          <a:prstGeom prst="roundRect">
            <a:avLst>
              <a:gd name="adj" fmla="val 14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650992" y="1591056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수기 입력 제거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50992" y="1792224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결과 MES 자동 전송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559552" y="2084832"/>
            <a:ext cx="3090672" cy="457200"/>
          </a:xfrm>
          <a:prstGeom prst="roundRect">
            <a:avLst>
              <a:gd name="adj" fmla="val 14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650992" y="2121408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제품별 이력 추적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50992" y="2322576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바코드 기반 생산 이력 연동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559552" y="2615184"/>
            <a:ext cx="3090672" cy="457200"/>
          </a:xfrm>
          <a:prstGeom prst="roundRect">
            <a:avLst>
              <a:gd name="adj" fmla="val 14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650992" y="265176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생산·품질 데이터 통합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650992" y="2852928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양불 수량 실시간 집계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559552" y="3145536"/>
            <a:ext cx="3090672" cy="457200"/>
          </a:xfrm>
          <a:prstGeom prst="roundRect">
            <a:avLst>
              <a:gd name="adj" fmla="val 14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650992" y="318211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MES 방식 유지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50992" y="3383280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시스템 변경 불필요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559552" y="3675888"/>
            <a:ext cx="3090672" cy="457200"/>
          </a:xfrm>
          <a:prstGeom prst="roundRect">
            <a:avLst>
              <a:gd name="adj" fmla="val 14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650992" y="3712464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현황 대시보드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650992" y="3913632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불량 트렌드 파악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장점 &amp; 도입 효과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인시스 인라인 딥러닝 비전검사기가 만드는 변화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42416"/>
            <a:ext cx="1594714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42416"/>
            <a:ext cx="1594714" cy="128016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7085" y="1261872"/>
            <a:ext cx="512064" cy="51206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7085" y="1261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자동학습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" y="2194560"/>
            <a:ext cx="137525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67712"/>
            <a:ext cx="1503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누적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정확도 지속 향상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70202" y="1042416"/>
            <a:ext cx="1594714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70202" y="1042416"/>
            <a:ext cx="1594714" cy="128016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11526" y="1261872"/>
            <a:ext cx="512064" cy="51206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11526" y="1261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⚖️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15922" y="1828800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일관된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기준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79930" y="2194560"/>
            <a:ext cx="137525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15922" y="2267712"/>
            <a:ext cx="1503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컨디션 무관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기준 판정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74643" y="1042416"/>
            <a:ext cx="1594714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74643" y="1042416"/>
            <a:ext cx="1594714" cy="128016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15968" y="1261872"/>
            <a:ext cx="512064" cy="51206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1261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🚫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20363" y="1828800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혼입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원천 차단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84371" y="2194560"/>
            <a:ext cx="137525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20363" y="2267712"/>
            <a:ext cx="1503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분리 배출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재검사 불필요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79085" y="1042416"/>
            <a:ext cx="1594714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79085" y="1042416"/>
            <a:ext cx="1594714" cy="128016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20410" y="1261872"/>
            <a:ext cx="512064" cy="51206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20410" y="1261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📈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24805" y="1828800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데이터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자산화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88813" y="2194560"/>
            <a:ext cx="137525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24805" y="2267712"/>
            <a:ext cx="1503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통계·트렌드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 자동 생성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183526" y="1042416"/>
            <a:ext cx="1594714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83526" y="1042416"/>
            <a:ext cx="1594714" cy="128016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24851" y="1261872"/>
            <a:ext cx="512064" cy="51206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24851" y="12618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👤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229246" y="1828800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 인력</a:t>
            </a:r>
            <a:endParaRPr lang="en-US" sz="9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293254" y="2194560"/>
            <a:ext cx="137525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9246" y="2267712"/>
            <a:ext cx="15032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과정 자동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재배치 가능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2743200"/>
            <a:ext cx="2743200" cy="2327148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2743200"/>
            <a:ext cx="2743200" cy="292608"/>
          </a:xfrm>
          <a:prstGeom prst="roundRect">
            <a:avLst>
              <a:gd name="adj" fmla="val 2187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2743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3072384"/>
            <a:ext cx="2560320" cy="638556"/>
          </a:xfrm>
          <a:prstGeom prst="roundRect">
            <a:avLst>
              <a:gd name="adj" fmla="val 10024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30352" y="3090672"/>
            <a:ext cx="2414016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검출율 지속 향상 (딥러닝 누적 학습)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" y="3747516"/>
            <a:ext cx="2560320" cy="638556"/>
          </a:xfrm>
          <a:prstGeom prst="roundRect">
            <a:avLst>
              <a:gd name="adj" fmla="val 10024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30352" y="3765804"/>
            <a:ext cx="2414016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유형별 자동 분류·통계 제공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7200" y="4422648"/>
            <a:ext cx="2560320" cy="638556"/>
          </a:xfrm>
          <a:prstGeom prst="roundRect">
            <a:avLst>
              <a:gd name="adj" fmla="val 10024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30352" y="4440936"/>
            <a:ext cx="2414016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후공정 불량 혼입 원천 차단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00400" y="2743200"/>
            <a:ext cx="2743200" cy="2327148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00400" y="2743200"/>
            <a:ext cx="2743200" cy="292608"/>
          </a:xfrm>
          <a:prstGeom prst="roundRect">
            <a:avLst>
              <a:gd name="adj" fmla="val 2187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0" y="2743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91840" y="3072384"/>
            <a:ext cx="2560320" cy="638556"/>
          </a:xfrm>
          <a:prstGeom prst="roundRect">
            <a:avLst>
              <a:gd name="adj" fmla="val 10024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364992" y="3090672"/>
            <a:ext cx="2414016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공정 무인 자동 운영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91840" y="3747516"/>
            <a:ext cx="2560320" cy="638556"/>
          </a:xfrm>
          <a:prstGeom prst="roundRect">
            <a:avLst>
              <a:gd name="adj" fmla="val 10024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364992" y="3765804"/>
            <a:ext cx="2414016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 인력 생산 공정 재배치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91840" y="4422648"/>
            <a:ext cx="2560320" cy="638556"/>
          </a:xfrm>
          <a:prstGeom prst="roundRect">
            <a:avLst>
              <a:gd name="adj" fmla="val 10024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364992" y="4440936"/>
            <a:ext cx="2414016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편차 완전 제거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035040" y="2743200"/>
            <a:ext cx="2743200" cy="2327148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035040" y="2743200"/>
            <a:ext cx="2743200" cy="292608"/>
          </a:xfrm>
          <a:prstGeom prst="roundRect">
            <a:avLst>
              <a:gd name="adj" fmla="val 2187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35040" y="2743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경쟁력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126480" y="3072384"/>
            <a:ext cx="2560320" cy="638556"/>
          </a:xfrm>
          <a:prstGeom prst="roundRect">
            <a:avLst>
              <a:gd name="adj" fmla="val 10024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199632" y="3090672"/>
            <a:ext cx="2414016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납품처 신뢰도 향상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126480" y="3747516"/>
            <a:ext cx="2560320" cy="638556"/>
          </a:xfrm>
          <a:prstGeom prst="roundRect">
            <a:avLst>
              <a:gd name="adj" fmla="val 10024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199632" y="3765804"/>
            <a:ext cx="2414016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클레임 대응 근거 데이터 확보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126480" y="4422648"/>
            <a:ext cx="2560320" cy="638556"/>
          </a:xfrm>
          <a:prstGeom prst="roundRect">
            <a:avLst>
              <a:gd name="adj" fmla="val 10024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199632" y="4440936"/>
            <a:ext cx="2414016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수주 경쟁력 강화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확장성 — 추가 라인 도입 시 이점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1호기 도입 후 데이터 자산이 확장의 토대가 됩니다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737360" cy="786384"/>
          </a:xfrm>
          <a:prstGeom prst="roundRect">
            <a:avLst>
              <a:gd name="adj" fmla="val 8140"/>
            </a:avLst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338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1호기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파일럿 설치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최적화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03120" y="1472184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078992"/>
            <a:ext cx="1554480" cy="786384"/>
          </a:xfrm>
          <a:prstGeom prst="roundRect">
            <a:avLst>
              <a:gd name="adj" fmla="val 814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1338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15361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검출율 확인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안정화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49040" y="1472184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07899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13385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1536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양품·불량 이미지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 확보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0" y="1472184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1078992"/>
            <a:ext cx="1737360" cy="786384"/>
          </a:xfrm>
          <a:prstGeom prst="roundRect">
            <a:avLst>
              <a:gd name="adj" fmla="val 814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1338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라인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 재활용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기간·비용 단축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98080" y="1472184"/>
            <a:ext cx="914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1078992"/>
            <a:ext cx="1920240" cy="786384"/>
          </a:xfrm>
          <a:prstGeom prst="roundRect">
            <a:avLst>
              <a:gd name="adj" fmla="val 814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1338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라인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89520" y="15361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품질</a:t>
            </a:r>
            <a:endParaRPr lang="en-US" sz="8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체계 완성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029968"/>
            <a:ext cx="2731008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38656" y="2176272"/>
            <a:ext cx="585216" cy="58521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38656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⏱️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2852928"/>
            <a:ext cx="254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기간 단축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127248"/>
            <a:ext cx="2548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1호기 학습 데이터를 추가 호기에 즉시 적용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 초기 학습 기간 대폭 단축 가능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6496" y="2029968"/>
            <a:ext cx="2731008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79392" y="2176272"/>
            <a:ext cx="585216" cy="58521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7939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💰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297936" y="2852928"/>
            <a:ext cx="254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효율 향상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7936" y="3127248"/>
            <a:ext cx="2548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사양·설치 노하우 축적으로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도입 시 설계·제작 비용 절감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47232" y="2029968"/>
            <a:ext cx="2731008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20128" y="2176272"/>
            <a:ext cx="585216" cy="58521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20128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138672" y="2852928"/>
            <a:ext cx="254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정확도 가속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38672" y="3127248"/>
            <a:ext cx="2548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 데이터가 많을수록 검출 정확도 향상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호기 도입 즉시 높은 검출율 확보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3657600"/>
            <a:ext cx="8412480" cy="804672"/>
          </a:xfrm>
          <a:prstGeom prst="roundRect">
            <a:avLst>
              <a:gd name="adj" fmla="val 7955"/>
            </a:avLst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" y="3657600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1호기 도입 후 효과 확인  →  학습 데이터 자산 활용  →  추가 라인 도입 시 개발·학습 기간 단축 및 비용 절감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절차 &amp; 개발 일정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입수부터 현장 가동까지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60704"/>
            <a:ext cx="1139081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7557" y="1152144"/>
            <a:ext cx="475488" cy="47548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7557" y="1152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1700784"/>
            <a:ext cx="10659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04841" y="1563624"/>
            <a:ext cx="731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77993" y="1060704"/>
            <a:ext cx="1139081" cy="1005840"/>
          </a:xfrm>
          <a:prstGeom prst="roundRect">
            <a:avLst>
              <a:gd name="adj" fmla="val 6364"/>
            </a:avLst>
          </a:prstGeom>
          <a:solidFill>
            <a:srgbClr val="1B2F5E"/>
          </a:solidFill>
          <a:ln w="19050">
            <a:solidFill>
              <a:srgbClr val="1B2F5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09790" y="1152144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09790" y="1152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14569" y="1700784"/>
            <a:ext cx="10659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17074" y="1563624"/>
            <a:ext cx="731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90226" y="1060704"/>
            <a:ext cx="1139081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22023" y="1152144"/>
            <a:ext cx="475488" cy="47548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22023" y="1152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26802" y="1700784"/>
            <a:ext cx="10659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29307" y="1563624"/>
            <a:ext cx="731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02459" y="1060704"/>
            <a:ext cx="1139081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34256" y="1152144"/>
            <a:ext cx="475488" cy="47548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34256" y="1152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39035" y="1700784"/>
            <a:ext cx="10659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사양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41541" y="1563624"/>
            <a:ext cx="731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14693" y="1060704"/>
            <a:ext cx="1139081" cy="1005840"/>
          </a:xfrm>
          <a:prstGeom prst="roundRect">
            <a:avLst>
              <a:gd name="adj" fmla="val 6364"/>
            </a:avLst>
          </a:prstGeom>
          <a:solidFill>
            <a:srgbClr val="1B2F5E"/>
          </a:solidFill>
          <a:ln w="19050">
            <a:solidFill>
              <a:srgbClr val="1B2F5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46489" y="1152144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46489" y="1152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1269" y="1700784"/>
            <a:ext cx="10659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개발·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53774" y="1563624"/>
            <a:ext cx="731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26926" y="1060704"/>
            <a:ext cx="1139081" cy="1005840"/>
          </a:xfrm>
          <a:prstGeom prst="roundRect">
            <a:avLst>
              <a:gd name="adj" fmla="val 6364"/>
            </a:avLst>
          </a:prstGeom>
          <a:solidFill>
            <a:srgbClr val="1B2F5E"/>
          </a:solidFill>
          <a:ln w="19050">
            <a:solidFill>
              <a:srgbClr val="1B2F5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58722" y="1152144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58722" y="1152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63502" y="1700784"/>
            <a:ext cx="10659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설치·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66007" y="1563624"/>
            <a:ext cx="7315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39159" y="1060704"/>
            <a:ext cx="1139081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970955" y="1152144"/>
            <a:ext cx="475488" cy="47548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70955" y="1152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75735" y="1700784"/>
            <a:ext cx="10659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2139696"/>
            <a:ext cx="1139081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65760" y="2139696"/>
            <a:ext cx="11390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불량·양품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제공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577993" y="2139696"/>
            <a:ext cx="1139081" cy="45720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577993" y="2139696"/>
            <a:ext cx="11390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유형 분류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1~2주 이내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90226" y="2139696"/>
            <a:ext cx="1139081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790226" y="2139696"/>
            <a:ext cx="11390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라인 구조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 환경 확인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002459" y="2139696"/>
            <a:ext cx="1139081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002459" y="2139696"/>
            <a:ext cx="11390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조건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 방식 협의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214693" y="2139696"/>
            <a:ext cx="1139081" cy="45720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214693" y="2139696"/>
            <a:ext cx="11390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40일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426926" y="2139696"/>
            <a:ext cx="1139081" cy="45720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426926" y="2139696"/>
            <a:ext cx="11390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MES 연계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2주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639159" y="2139696"/>
            <a:ext cx="1139081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639159" y="2139696"/>
            <a:ext cx="11390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검출율 확인</a:t>
            </a:r>
            <a:endParaRPr lang="en-US" sz="7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생산팀 인수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5760" y="3255264"/>
            <a:ext cx="128016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291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&amp; 리포트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65760" y="35661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1~2주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645920" y="3255264"/>
            <a:ext cx="822960" cy="566928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45920" y="3291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실사·사양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645920" y="35661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1주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468880" y="3255264"/>
            <a:ext cx="2926080" cy="566928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6888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개발·제작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468880" y="35661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40일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394960" y="3255264"/>
            <a:ext cx="146304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9496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설치·테스트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394960" y="35661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2주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858000" y="3255264"/>
            <a:ext cx="100584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8000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검증·인수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858000" y="35661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65760" y="3931920"/>
            <a:ext cx="8412480" cy="603504"/>
          </a:xfrm>
          <a:prstGeom prst="roundRect">
            <a:avLst>
              <a:gd name="adj" fmla="val 10606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548640" y="3931920"/>
            <a:ext cx="8046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사양 확정 후 개발 착수부터 현장 가동까지  →  약 2개월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377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문제점 및 협의 사항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적용 전 사전 검토가 필요한 항목입니다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475488" cy="74980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152144"/>
            <a:ext cx="658368" cy="1828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521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기구·지그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914400" y="13533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PCB 연결 케이블 형태 균일화 및 바코드 위치 표준화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15727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케이블이 PCB와 연결된 상태에서 형태가 일정하지 않으면 지그 안착 불량 및 촬영 위치 오차가 발생할 수 있습니다. 또한 바코드 부착 위치가 개체마다 다를 경우 고정식 스캐너 인식률이 저하됩니다.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943600" y="1133856"/>
            <a:ext cx="2834640" cy="6400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170432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협의 요청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035040" y="1353312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케이블 정형화 가능 여부 및 바코드 부착 위치 표준화 협의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1879092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879092"/>
            <a:ext cx="475488" cy="749808"/>
          </a:xfrm>
          <a:prstGeom prst="roundRect">
            <a:avLst>
              <a:gd name="adj" fmla="val 1153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87909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1952244"/>
            <a:ext cx="658368" cy="18288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19522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지그 운용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914400" y="21534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 라인에서 안착 지그 회수 방법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4400" y="23728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컨베어 타입 흐름 라인에 지그를 투입할 경우 검사 완료 후 지그를 투입 위치로 회수하는 방법이 필요합니다. 지그 미회수 시 라인 정체 및 추가 지그 소요 비용이 발생합니다.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943600" y="1933956"/>
            <a:ext cx="2834640" cy="64008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35040" y="1970532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협의 요청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035040" y="2153412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지그 회수 방식(수동 회수 / 자동 리턴 구조) 및 지그 수량 협의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2679192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679192"/>
            <a:ext cx="475488" cy="749808"/>
          </a:xfrm>
          <a:prstGeom prst="roundRect">
            <a:avLst>
              <a:gd name="adj" fmla="val 1153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67919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" y="2752344"/>
            <a:ext cx="658368" cy="182880"/>
          </a:xfrm>
          <a:prstGeom prst="roundRect">
            <a:avLst>
              <a:gd name="adj" fmla="val 20000"/>
            </a:avLst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처리량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914400" y="29535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다수 검사품 동시 안착 가능 여부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4400" y="31729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02항의 지그 회수 방식에 따라 복수의 검사품을 동시에 지그에 올려두는 멀티 안착 구조가 가능한지 검토가 필요합니다. 동시 처리 수량에 따라 검사기 설계 규모와 S/T가 결정됩니다.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943600" y="2734056"/>
            <a:ext cx="2834640" cy="64008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35040" y="2770632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협의 요청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035040" y="2953512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라인 생산 속도 및 동시 처리 목표 수량 공유 요청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3479292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479292"/>
            <a:ext cx="475488" cy="749808"/>
          </a:xfrm>
          <a:prstGeom prst="roundRect">
            <a:avLst>
              <a:gd name="adj" fmla="val 1153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47929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14400" y="3552444"/>
            <a:ext cx="658368" cy="18288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35524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설계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914400" y="37536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03항 가능 시 — 검사기 내부 지그 리턴 구조 추가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14400" y="39730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다수 동시 안착이 가능하다면 검사기 내부에 지그 자동 리턴 구조를 설계에 포함합니다. 이 경우 장비 규모와 제작 기간·비용이 증가하므로 효용성을 함께 검토해야 합니다.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943600" y="3534156"/>
            <a:ext cx="2834640" cy="6400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035040" y="3570732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협의 요청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035040" y="3753612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리턴 구조 포함 여부 및 설치 공간·예산 범위 사전 협의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4279392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4279392"/>
            <a:ext cx="475488" cy="749808"/>
          </a:xfrm>
          <a:prstGeom prst="roundRect">
            <a:avLst>
              <a:gd name="adj" fmla="val 1153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27939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14400" y="4352544"/>
            <a:ext cx="658368" cy="18288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4400" y="43525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협조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914400" y="45537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F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육안검사 경험 데이터의 딥러닝 학습 적용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14400" y="47731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비전검사기 도입 이전 검사원들이 육안으로 판별하며 축적한 불량 사례·판정 기준 데이터를 딥러닝 초기 학습에 활용하면 검출 정확도를 빠르게 높일 수 있습니다. 학습 데이터가 많을수록 도입 초기 성능이 향상됩니다.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943600" y="4334256"/>
            <a:ext cx="2834640" cy="64008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035040" y="4370832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협의 요청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035040" y="4553712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불량 이미지·판정 이력 데이터 제공 여부 및 범위 협의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F5E"/>
          </a:solidFill>
          <a:ln w="12700">
            <a:solidFill>
              <a:srgbClr val="1B2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310128"/>
            <a:ext cx="9144000" cy="1833372"/>
          </a:xfrm>
          <a:prstGeom prst="rect">
            <a:avLst/>
          </a:prstGeom>
          <a:solidFill>
            <a:srgbClr val="0F1D40"/>
          </a:solidFill>
          <a:ln w="12700">
            <a:solidFill>
              <a:srgbClr val="0F1D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949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 바로 시작할 수 있습니다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651760" cy="2066544"/>
          </a:xfrm>
          <a:prstGeom prst="roundRect">
            <a:avLst>
              <a:gd name="adj" fmla="val 3097"/>
            </a:avLst>
          </a:prstGeom>
          <a:solidFill>
            <a:srgbClr val="1B2F5E"/>
          </a:solidFill>
          <a:ln w="12700">
            <a:solidFill>
              <a:srgbClr val="2E4D8A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18872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064" y="146304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불량·양품 샘플 제공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182880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불량 이력 샘플과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양품 샘플을 R&amp;D센터로 제공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078992"/>
            <a:ext cx="2651760" cy="2066544"/>
          </a:xfrm>
          <a:prstGeom prst="roundRect">
            <a:avLst>
              <a:gd name="adj" fmla="val 3097"/>
            </a:avLst>
          </a:prstGeom>
          <a:solidFill>
            <a:srgbClr val="1B2F5E"/>
          </a:solidFill>
          <a:ln w="12700">
            <a:solidFill>
              <a:srgbClr val="2E4D8A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64992" y="118872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64992" y="146304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리포트 수령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182880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분석 후 1~2주 이내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불량 유형 검토 리포트 제출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616" y="1078992"/>
            <a:ext cx="2651760" cy="2066544"/>
          </a:xfrm>
          <a:prstGeom prst="roundRect">
            <a:avLst>
              <a:gd name="adj" fmla="val 3097"/>
            </a:avLst>
          </a:prstGeom>
          <a:solidFill>
            <a:srgbClr val="1B2F5E"/>
          </a:solidFill>
          <a:ln w="12700">
            <a:solidFill>
              <a:srgbClr val="2E4D8A"/>
            </a:solidFill>
            <a:prstDash val="solid"/>
          </a:ln>
          <a:effectLst>
            <a:outerShdw sx="100000" sy="100000" kx="0" ky="0" algn="bl" rotWithShape="0" blurRad="50800" dist="25400" dir="16200000">
              <a:srgbClr val="9CA3AF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18872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46304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실사 &amp; 사양 확정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방문 후 맞춤 사양 확정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5C4F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착수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8412480" cy="0"/>
          </a:xfrm>
          <a:prstGeom prst="line">
            <a:avLst/>
          </a:prstGeom>
          <a:noFill/>
          <a:ln w="12700">
            <a:solidFill>
              <a:srgbClr val="4B6A9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112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인시스 AI혁신 R&amp;D센터  |  담당: 센터장 김양섭  |  ys.kim@in-sys.co.kr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8770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위너콤의 품질 경쟁력을 인시스가 함께 높이겠습니다.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2026-07-20T23:48:11Z</dcterms:created>
  <dcterms:modified xsi:type="dcterms:W3CDTF">2026-07-20T23:48:11Z</dcterms:modified>
</cp:coreProperties>
</file>