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068933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0"/>
            <a:ext cx="7397496" cy="5486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" y="164592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184648" y="16459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" y="914400"/>
            <a:ext cx="701344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검사기준서 누락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29184" y="1737360"/>
            <a:ext cx="701344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원인분석 및 재발방지 대책서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29184" y="2304288"/>
            <a:ext cx="2560320" cy="4572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" y="2578608"/>
            <a:ext cx="699516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" y="2779776"/>
            <a:ext cx="6995160" cy="1170432"/>
          </a:xfrm>
          <a:prstGeom prst="rect">
            <a:avLst/>
          </a:prstGeom>
          <a:solidFill>
            <a:srgbClr val="E0F5FA"/>
          </a:solidFill>
          <a:ln w="19050">
            <a:solidFill>
              <a:srgbClr val="0096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" y="2779776"/>
            <a:ext cx="73152" cy="1170432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" y="28529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지적 품목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12064" y="3090672"/>
            <a:ext cx="66476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22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  Connector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2064" y="3511296"/>
            <a:ext cx="6647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셰플러(Schaeffler) 내부 심사  ·  2026년 7월 9일  ·  외관 검사항목 누락 지적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9184" y="4206240"/>
            <a:ext cx="699516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9184" y="4206240"/>
            <a:ext cx="54864" cy="65836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" y="42976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184648" y="4297680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4320" y="10323576"/>
            <a:ext cx="7013448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103418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641848" y="10341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7086600" y="1097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86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1068933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7507224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7507224" cy="6949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6739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  차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37744" y="475488"/>
            <a:ext cx="6739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Table of Contents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" y="896112"/>
            <a:ext cx="3401568" cy="8412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" y="896112"/>
            <a:ext cx="530352" cy="84124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" y="896112"/>
            <a:ext cx="530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7824" y="98755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개요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77824" y="1335024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사항 요약 및 품목 정보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03904" y="896112"/>
            <a:ext cx="3401568" cy="8412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03904" y="896112"/>
            <a:ext cx="530352" cy="84124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5" name="Text 13"/>
          <p:cNvSpPr/>
          <p:nvPr/>
        </p:nvSpPr>
        <p:spPr>
          <a:xfrm>
            <a:off x="3803904" y="896112"/>
            <a:ext cx="530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43984" y="98755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경위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43984" y="1335024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리비전 이후 누락까지의 타임라인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37744" y="1901952"/>
            <a:ext cx="3401568" cy="8412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901952"/>
            <a:ext cx="530352" cy="84124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20" name="Text 18"/>
          <p:cNvSpPr/>
          <p:nvPr/>
        </p:nvSpPr>
        <p:spPr>
          <a:xfrm>
            <a:off x="237744" y="1901952"/>
            <a:ext cx="530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7824" y="199339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①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77824" y="2340864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 — 기준서 누락 미확인·절차 미준수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803904" y="1901952"/>
            <a:ext cx="3401568" cy="8412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03904" y="1901952"/>
            <a:ext cx="530352" cy="84124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25" name="Text 23"/>
          <p:cNvSpPr/>
          <p:nvPr/>
        </p:nvSpPr>
        <p:spPr>
          <a:xfrm>
            <a:off x="3803904" y="1901952"/>
            <a:ext cx="530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43984" y="199339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②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43984" y="2340864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근본·시스템 원인 — 관리 체계 한계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37744" y="2907792"/>
            <a:ext cx="3401568" cy="8412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2907792"/>
            <a:ext cx="530352" cy="84124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30" name="Text 28"/>
          <p:cNvSpPr/>
          <p:nvPr/>
        </p:nvSpPr>
        <p:spPr>
          <a:xfrm>
            <a:off x="237744" y="2907792"/>
            <a:ext cx="530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77824" y="299923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재발방지 대책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7824" y="3346704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즉시조치·운영개선·관리강화·기록화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803904" y="2907792"/>
            <a:ext cx="3401568" cy="8412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803904" y="2907792"/>
            <a:ext cx="530352" cy="84124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35" name="Text 33"/>
          <p:cNvSpPr/>
          <p:nvPr/>
        </p:nvSpPr>
        <p:spPr>
          <a:xfrm>
            <a:off x="3803904" y="2907792"/>
            <a:ext cx="530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443984" y="299923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프로세스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443984" y="3346704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vs TO-BE 업무 흐름 비교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37744" y="3913632"/>
            <a:ext cx="3401568" cy="8412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3913632"/>
            <a:ext cx="530352" cy="84124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0" name="Text 38"/>
          <p:cNvSpPr/>
          <p:nvPr/>
        </p:nvSpPr>
        <p:spPr>
          <a:xfrm>
            <a:off x="237744" y="3913632"/>
            <a:ext cx="530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77824" y="400507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계획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77824" y="4352544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Plan 타임라인 (7~8월)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803904" y="3913632"/>
            <a:ext cx="3401568" cy="8412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03904" y="3913632"/>
            <a:ext cx="530352" cy="84124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5" name="Text 43"/>
          <p:cNvSpPr/>
          <p:nvPr/>
        </p:nvSpPr>
        <p:spPr>
          <a:xfrm>
            <a:off x="3803904" y="3913632"/>
            <a:ext cx="53035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443984" y="400507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맺음말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443984" y="4352544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 방지 약속 및 담당자 확인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74320" y="10323576"/>
            <a:ext cx="7013448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9" name="Text 47"/>
          <p:cNvSpPr/>
          <p:nvPr/>
        </p:nvSpPr>
        <p:spPr>
          <a:xfrm>
            <a:off x="274320" y="103418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641848" y="10341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086600" y="1097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86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1068933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7507224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7507224" cy="6949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6739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이슈 개요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37744" y="475488"/>
            <a:ext cx="6739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Issue Summary  ·  A3C0056420000 Connector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" y="859536"/>
            <a:ext cx="2926080" cy="424281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9144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 정보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" y="1188720"/>
            <a:ext cx="7086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12618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 번호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591056" y="126187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1609344"/>
            <a:ext cx="2688336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181051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품목명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591056" y="181051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Connector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47472" y="2157984"/>
            <a:ext cx="2688336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235915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591056" y="235915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셰플러(Schaeffler)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" y="2706624"/>
            <a:ext cx="2688336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290779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개선품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591056" y="290779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A3C00564201-0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7472" y="3255264"/>
            <a:ext cx="2688336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3" name="Text 21"/>
          <p:cNvSpPr/>
          <p:nvPr/>
        </p:nvSpPr>
        <p:spPr>
          <a:xfrm>
            <a:off x="347472" y="34564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일자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591056" y="345643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7월 9일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" y="3803904"/>
            <a:ext cx="2688336" cy="457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40050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주체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591056" y="4005072"/>
            <a:ext cx="1444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내부 심사팀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28416" y="859536"/>
            <a:ext cx="3986784" cy="424281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56432" y="914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사항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37744" y="1188720"/>
            <a:ext cx="7086600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1" name="Shape 29"/>
          <p:cNvSpPr/>
          <p:nvPr/>
        </p:nvSpPr>
        <p:spPr>
          <a:xfrm>
            <a:off x="3328416" y="1261872"/>
            <a:ext cx="3986784" cy="1554480"/>
          </a:xfrm>
          <a:prstGeom prst="rect">
            <a:avLst/>
          </a:prstGeom>
          <a:solidFill>
            <a:srgbClr val="FDECEA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28416" y="1261872"/>
            <a:ext cx="64008" cy="1554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0" y="131673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1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474720" y="1536192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외관 검사항목 누락 미인지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474720" y="1810512"/>
            <a:ext cx="36941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검사기준서 내 외관 검사항목이 누락되어 있었으나 이를 인지하지 못함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328416" y="2962656"/>
            <a:ext cx="3986784" cy="1554480"/>
          </a:xfrm>
          <a:prstGeom prst="rect">
            <a:avLst/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28416" y="2962656"/>
            <a:ext cx="64008" cy="155448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0" y="30175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85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지적 2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474720" y="3236976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미확인 상태에서 검사 진행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474720" y="3511296"/>
            <a:ext cx="369417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내용을 충분히 확인하지 않은 상태에서 검사 절차를 진행하여 누락 항목에 대한 검사 자체가 이루어지지 않음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237744" y="5230368"/>
            <a:ext cx="7077456" cy="274320"/>
          </a:xfrm>
          <a:prstGeom prst="rect">
            <a:avLst/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52303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요약  :  개선품 리비전으로 구버전 기준서가 미갱신된 상태에서 입고 부재로 인해 점검 기회를 놓쳐 누락됨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10323576"/>
            <a:ext cx="7013448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103418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5641848" y="10341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7086600" y="1097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086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1068933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7507224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7507224" cy="6949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6739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발생 경위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37744" y="475488"/>
            <a:ext cx="6739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Incident Timeline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078992" y="896112"/>
            <a:ext cx="36576" cy="8503920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060704"/>
            <a:ext cx="365760" cy="365760"/>
          </a:xfrm>
          <a:prstGeom prst="ellipse">
            <a:avLst/>
          </a:prstGeom>
          <a:solidFill>
            <a:srgbClr val="A0AEC0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" y="107899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과거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408176" y="1005840"/>
            <a:ext cx="5897880" cy="170078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08176" y="1005840"/>
            <a:ext cx="54864" cy="1700784"/>
          </a:xfrm>
          <a:prstGeom prst="rect">
            <a:avLst/>
          </a:prstGeom>
          <a:solidFill>
            <a:srgbClr val="A0AEC0"/>
          </a:solidFill>
          <a:ln/>
        </p:spPr>
      </p:sp>
      <p:sp>
        <p:nvSpPr>
          <p:cNvPr id="13" name="Text 11"/>
          <p:cNvSpPr/>
          <p:nvPr/>
        </p:nvSpPr>
        <p:spPr>
          <a:xfrm>
            <a:off x="1572768" y="1115568"/>
            <a:ext cx="5641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등록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72768" y="1408176"/>
            <a:ext cx="56418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 기준서가 SQM팀에 등록되었으나 이미 외관 사진 항목이 누락된 상태였습니다.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14400" y="3072384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237744" y="309067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408176" y="3017520"/>
            <a:ext cx="5897880" cy="170078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408176" y="3017520"/>
            <a:ext cx="54864" cy="170078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1572768" y="3127248"/>
            <a:ext cx="5641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개선품 리비전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572768" y="3419856"/>
            <a:ext cx="56418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A3C00564201-0 출시와 함께 신규 기준서가 등록되었고 구버전 자재는 입고가 중단되었습니다.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5084064"/>
            <a:ext cx="365760" cy="36576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2" name="Text 20"/>
          <p:cNvSpPr/>
          <p:nvPr/>
        </p:nvSpPr>
        <p:spPr>
          <a:xfrm>
            <a:off x="237744" y="510235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408176" y="5029200"/>
            <a:ext cx="5897880" cy="170078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08176" y="5029200"/>
            <a:ext cx="54864" cy="1700784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5" name="Text 23"/>
          <p:cNvSpPr/>
          <p:nvPr/>
        </p:nvSpPr>
        <p:spPr>
          <a:xfrm>
            <a:off x="1572768" y="5138928"/>
            <a:ext cx="5641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구버전 미입고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572768" y="5431536"/>
            <a:ext cx="56418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입고가 없어 기준서를 열어볼 기회가 없었고, 점검 시에도 입고 품목 위주로 확인되어 구버전 기준서 누락이 방치되었습니다.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14400" y="7095744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8" name="Text 26"/>
          <p:cNvSpPr/>
          <p:nvPr/>
        </p:nvSpPr>
        <p:spPr>
          <a:xfrm>
            <a:off x="237744" y="7114032"/>
            <a:ext cx="6217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2026.7.9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408176" y="7040880"/>
            <a:ext cx="5897880" cy="1700784"/>
          </a:xfrm>
          <a:prstGeom prst="rect">
            <a:avLst/>
          </a:prstGeom>
          <a:solidFill>
            <a:srgbClr val="FDECEA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408176" y="7040880"/>
            <a:ext cx="73152" cy="170078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9"/>
          <p:cNvSpPr/>
          <p:nvPr/>
        </p:nvSpPr>
        <p:spPr>
          <a:xfrm>
            <a:off x="1572768" y="7150608"/>
            <a:ext cx="5641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 지적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572768" y="7443216"/>
            <a:ext cx="5641848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내부 심사에서 외관 항목 누락이 처음으로 인지되어 공식 지적을 받았습니다.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37744" y="10030968"/>
            <a:ext cx="7086600" cy="256032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" y="10030968"/>
            <a:ext cx="6958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입고 중단 품목은 정기 점검 대상에서 누락되어 기준서가 미갱신 상태로 방치된 것이 핵심 경위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10323576"/>
            <a:ext cx="7013448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" y="103418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5641848" y="10341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086600" y="1097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86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1068933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7507224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7507224" cy="6949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6739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①  —  직접 원인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37744" y="475488"/>
            <a:ext cx="6739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 Cause Analysis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" y="859536"/>
            <a:ext cx="7086600" cy="274320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859536"/>
            <a:ext cx="695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  :  검사기준서 외관 항목 누락 상태에서 절차 미준수로 검사 진행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" y="1225296"/>
            <a:ext cx="7086600" cy="3877056"/>
          </a:xfrm>
          <a:prstGeom prst="rect">
            <a:avLst/>
          </a:prstGeom>
          <a:solidFill>
            <a:srgbClr val="FDECEA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" y="1225296"/>
            <a:ext cx="7086600" cy="38404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Shape 10"/>
          <p:cNvSpPr/>
          <p:nvPr/>
        </p:nvSpPr>
        <p:spPr>
          <a:xfrm>
            <a:off x="310896" y="128016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10896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" y="1280160"/>
            <a:ext cx="6592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 1  —  외관 항목 누락 미확인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1792224"/>
            <a:ext cx="45720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512064" y="1773936"/>
            <a:ext cx="67391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제공 기준서 내 외관 검사항목이 누락된 상태로 SQM팀에 등록됨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4048" y="2852928"/>
            <a:ext cx="45720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" y="2834640"/>
            <a:ext cx="67391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개선품(A3C00564201-0) 등록 시 구버전(A3C0056420000) 기준서의 외관 항목이 업데이트되지 않음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84048" y="3913632"/>
            <a:ext cx="45720" cy="7498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512064" y="3895344"/>
            <a:ext cx="67391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당사 담당자는 기준서 등록 여부만 확인하고 내용의 완전성은 별도로 검증하지 않음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37744" y="5431536"/>
            <a:ext cx="7086600" cy="3877056"/>
          </a:xfrm>
          <a:prstGeom prst="rect">
            <a:avLst/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" y="5431536"/>
            <a:ext cx="7086600" cy="38404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3" name="Shape 21"/>
          <p:cNvSpPr/>
          <p:nvPr/>
        </p:nvSpPr>
        <p:spPr>
          <a:xfrm>
            <a:off x="310896" y="5486400"/>
            <a:ext cx="274320" cy="27432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10896" y="5486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8368" y="5486400"/>
            <a:ext cx="6592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직접 원인 2  —  기준서 미확인 상태에서 검사 진행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4048" y="5998464"/>
            <a:ext cx="45720" cy="7498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" y="5980176"/>
            <a:ext cx="67391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 검사 수행 시 기준서를 열어 항목별로 확인하는 절차를 준수하지 않고 진행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4048" y="7059168"/>
            <a:ext cx="45720" cy="7498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9" name="Text 27"/>
          <p:cNvSpPr/>
          <p:nvPr/>
        </p:nvSpPr>
        <p:spPr>
          <a:xfrm>
            <a:off x="512064" y="7040880"/>
            <a:ext cx="67391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빈도가 낮아 이전 검사 방식을 관행적으로 적용하여 기준서 확인 단계를 생략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84048" y="8119872"/>
            <a:ext cx="45720" cy="749808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31" name="Text 29"/>
          <p:cNvSpPr/>
          <p:nvPr/>
        </p:nvSpPr>
        <p:spPr>
          <a:xfrm>
            <a:off x="512064" y="8101584"/>
            <a:ext cx="673912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확인 여부를 기록하는 체크리스트가 별도로 운영되지 않아 누락 탐지 불가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37744" y="10030968"/>
            <a:ext cx="70866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47472" y="10030968"/>
            <a:ext cx="6958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 직접 원인은 절차적 미준수와 기준서 완전성 검증 부재가 복합적으로 작용한 결과입니다.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74320" y="10323576"/>
            <a:ext cx="7013448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103418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641848" y="10341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7086600" y="1097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86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1068933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7507224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7507224" cy="6949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6739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 분석 ②  —  근본·시스템 원인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37744" y="475488"/>
            <a:ext cx="6739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Root &amp; System Cause Analysis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" y="859536"/>
            <a:ext cx="708660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859536"/>
            <a:ext cx="695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근본·시스템 원인  :  입고 빈도 기반 관리 체계의 구조적 한계 및 기록 프로세스 부재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37744" y="1243584"/>
            <a:ext cx="7086600" cy="2578608"/>
          </a:xfrm>
          <a:prstGeom prst="rect">
            <a:avLst/>
          </a:prstGeom>
          <a:solidFill>
            <a:srgbClr val="E0F2FE"/>
          </a:solidFill>
          <a:ln w="15240">
            <a:solidFill>
              <a:srgbClr val="0284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7744" y="1243584"/>
            <a:ext cx="7086600" cy="45720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129844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 원인 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1499616"/>
            <a:ext cx="6958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DF4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기반 관리 체계 한계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" y="1847088"/>
            <a:ext cx="146304" cy="146304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1810512"/>
            <a:ext cx="6720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없는 자재는 실물 검사 기회가 없어 기준서 점검 주기에서 자동 제외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47472" y="2798064"/>
            <a:ext cx="146304" cy="146304"/>
          </a:xfrm>
          <a:prstGeom prst="ellipse">
            <a:avLst/>
          </a:prstGeom>
          <a:solidFill>
            <a:srgbClr val="0284C7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2761488"/>
            <a:ext cx="6720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시 실제 입고 품목 위주로 확인되어 미입고 품목은 사실상 사각지대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37744" y="4078224"/>
            <a:ext cx="7086600" cy="2578608"/>
          </a:xfrm>
          <a:prstGeom prst="rect">
            <a:avLst/>
          </a:prstGeom>
          <a:solidFill>
            <a:srgbClr val="FEF3C7"/>
          </a:solidFill>
          <a:ln w="15240">
            <a:solidFill>
              <a:srgbClr val="B4530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4078224"/>
            <a:ext cx="7086600" cy="45720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413308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근본 원인 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4334256"/>
            <a:ext cx="6958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DF4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구두 위주 운영·기록 부재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47472" y="4681728"/>
            <a:ext cx="146304" cy="14630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645152"/>
            <a:ext cx="6720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누락 확인·요청이 구두로만 진행되어 처리 이력 추적 불가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47472" y="5632704"/>
            <a:ext cx="146304" cy="146304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5596128"/>
            <a:ext cx="6720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 요청 후 처리 여부를 확인하는 피드백 체계 없어 미처리 건 누적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37744" y="6912864"/>
            <a:ext cx="7086600" cy="2578608"/>
          </a:xfrm>
          <a:prstGeom prst="rect">
            <a:avLst/>
          </a:prstGeom>
          <a:solidFill>
            <a:srgbClr val="E0F5FA"/>
          </a:solidFill>
          <a:ln w="15240">
            <a:solidFill>
              <a:srgbClr val="007A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7744" y="6912864"/>
            <a:ext cx="7086600" cy="457200"/>
          </a:xfrm>
          <a:prstGeom prst="rect">
            <a:avLst/>
          </a:prstGeom>
          <a:solidFill>
            <a:srgbClr val="007A93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696772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원인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7472" y="7168896"/>
            <a:ext cx="69585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DDF4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프로세스 부재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47472" y="7516368"/>
            <a:ext cx="146304" cy="146304"/>
          </a:xfrm>
          <a:prstGeom prst="ellipse">
            <a:avLst/>
          </a:prstGeom>
          <a:solidFill>
            <a:srgbClr val="007A93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7479792"/>
            <a:ext cx="6720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입고 여부와 무관한 전체 기준서 최신화 점검 프로세스 미수립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47472" y="8467344"/>
            <a:ext cx="146304" cy="146304"/>
          </a:xfrm>
          <a:prstGeom prst="ellipse">
            <a:avLst/>
          </a:prstGeom>
          <a:solidFill>
            <a:srgbClr val="007A93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8430768"/>
            <a:ext cx="6720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리비전 발생 시 구버전 기준서 동시 점검 의무 절차 없어 연쇄 누락 구조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37744" y="10030968"/>
            <a:ext cx="70866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47472" y="10030968"/>
            <a:ext cx="6958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 세 가지 원인이 복합 작용하여 누락이 탐지되지 않는 구조적 취약점을 형성하였습니다.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10323576"/>
            <a:ext cx="7013448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103418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641848" y="10341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086600" y="1097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86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1068933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7507224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7507224" cy="6949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6739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재발방지 대책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37744" y="475488"/>
            <a:ext cx="6739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Corrective &amp; Preventive Actions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" y="859536"/>
            <a:ext cx="1316736" cy="310896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859536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591056" y="859536"/>
            <a:ext cx="3145536" cy="310896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91056" y="859536"/>
            <a:ext cx="3145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대책 내용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73168" y="859536"/>
            <a:ext cx="1243584" cy="310896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859536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53328" y="859536"/>
            <a:ext cx="877824" cy="310896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53328" y="859536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예정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67728" y="859536"/>
            <a:ext cx="841248" cy="310896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67728" y="859536"/>
            <a:ext cx="841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37744" y="1170432"/>
            <a:ext cx="708660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1929384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192938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조치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664208" y="1261872"/>
            <a:ext cx="30175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A3C0056420000 기준서 외관 사진 항목 보완 요청 및 확인 완료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73168" y="1170432"/>
            <a:ext cx="12435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 담당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053328" y="1170432"/>
            <a:ext cx="8778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2026.7.10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022592" y="1947672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22592" y="194767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7744" y="3035808"/>
            <a:ext cx="7086600" cy="18105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7472" y="3794760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E0F2FE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37947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284C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개선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64208" y="3127248"/>
            <a:ext cx="30175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SQM팀 담당자와 수시 피드백 체계 구축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(누락 감지→서면 요청→처리 확인→완료 보고)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773168" y="3035808"/>
            <a:ext cx="12435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SQM팀 협업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53328" y="3035808"/>
            <a:ext cx="8778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2026.7.31~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022592" y="3813048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22592" y="38130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37744" y="4901184"/>
            <a:ext cx="7086600" cy="181051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47472" y="5660136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566013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4530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 강화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664208" y="4992624"/>
            <a:ext cx="30175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기준서 월간 전수 점검 실시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리비전 품목 발생 시 구버전 기준서 동시 점검 의무화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73168" y="4901184"/>
            <a:ext cx="12435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 담당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053328" y="4901184"/>
            <a:ext cx="8778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2026.8월~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022592" y="5678424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22592" y="567842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37744" y="6766560"/>
            <a:ext cx="7086600" cy="1810512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7472" y="7525512"/>
            <a:ext cx="1097280" cy="292608"/>
          </a:xfrm>
          <a:prstGeom prst="roundRect">
            <a:avLst>
              <a:gd name="adj" fmla="val 12500"/>
            </a:avLst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7472" y="75255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기록화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664208" y="6858000"/>
            <a:ext cx="3017520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누락 확인·조치 이력 서면 기록·보존</a:t>
            </a:r>
            <a:endParaRPr lang="en-US" sz="10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아침 기준서 확인 보고 체계 유지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4773168" y="6766560"/>
            <a:ext cx="124358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 담당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053328" y="6766560"/>
            <a:ext cx="877824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2026.8월~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022592" y="7543800"/>
            <a:ext cx="731520" cy="256032"/>
          </a:xfrm>
          <a:prstGeom prst="roundRect">
            <a:avLst>
              <a:gd name="adj" fmla="val 14286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022592" y="754380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37744" y="10030968"/>
            <a:ext cx="7086600" cy="256032"/>
          </a:xfrm>
          <a:prstGeom prst="rect">
            <a:avLst/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47472" y="10030968"/>
            <a:ext cx="6958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흐름  :  기준서 이상 감지  →  담당자 서면 요청  →  기준서 업데이트  →  확인 및 완료 보고  →  이력 기록 보존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74320" y="10323576"/>
            <a:ext cx="7013448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3" name="Text 51"/>
          <p:cNvSpPr/>
          <p:nvPr/>
        </p:nvSpPr>
        <p:spPr>
          <a:xfrm>
            <a:off x="274320" y="103418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5641848" y="10341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7086600" y="1097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86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1068933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7507224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7507224" cy="6949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6739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 프로세스  —  AS-IS vs TO-BE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37744" y="475488"/>
            <a:ext cx="6739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 Improvement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" y="859536"/>
            <a:ext cx="3451860" cy="310896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" y="859536"/>
            <a:ext cx="33238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AS-IS  —  현행 문제 구조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" y="1243584"/>
            <a:ext cx="3451860" cy="11704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43584"/>
            <a:ext cx="32689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자재 입고 시에만 기준서 확인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37744" y="2414016"/>
            <a:ext cx="3451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7744" y="2560320"/>
            <a:ext cx="3451860" cy="1170432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560320"/>
            <a:ext cx="32689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미입고 자재 → 기준서 점검 제외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37744" y="3730752"/>
            <a:ext cx="3451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37744" y="3877056"/>
            <a:ext cx="3451860" cy="1170432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877056"/>
            <a:ext cx="32689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시 입고 품목 위주로만 확인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37744" y="5047488"/>
            <a:ext cx="3451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37744" y="5193792"/>
            <a:ext cx="3451860" cy="1170432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5193792"/>
            <a:ext cx="32689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 발견 → 구두 요청만 진행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37744" y="6364224"/>
            <a:ext cx="3451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7744" y="6510528"/>
            <a:ext cx="3451860" cy="1170432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6510528"/>
            <a:ext cx="32689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여부 미확인 · 기록 없음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37744" y="7680960"/>
            <a:ext cx="3451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37744" y="7827264"/>
            <a:ext cx="3451860" cy="1170432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7827264"/>
            <a:ext cx="32689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누락됨 → 심사 지적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726180" y="1828800"/>
            <a:ext cx="109728" cy="6400800"/>
          </a:xfrm>
          <a:prstGeom prst="rect">
            <a:avLst/>
          </a:prstGeom>
          <a:solidFill>
            <a:srgbClr val="E0F5FA"/>
          </a:solidFill>
          <a:ln/>
        </p:spPr>
      </p:sp>
      <p:sp>
        <p:nvSpPr>
          <p:cNvPr id="28" name="Text 26"/>
          <p:cNvSpPr/>
          <p:nvPr/>
        </p:nvSpPr>
        <p:spPr>
          <a:xfrm>
            <a:off x="3689604" y="4846320"/>
            <a:ext cx="2560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872484" y="859536"/>
            <a:ext cx="3451860" cy="31089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30" name="Text 28"/>
          <p:cNvSpPr/>
          <p:nvPr/>
        </p:nvSpPr>
        <p:spPr>
          <a:xfrm>
            <a:off x="3963924" y="859536"/>
            <a:ext cx="33238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TO-BE  —  개선 후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872484" y="1243584"/>
            <a:ext cx="3451860" cy="1170432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00500" y="1243584"/>
            <a:ext cx="32689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입고 여부와 무관한 전체 기준서 월간 점검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872484" y="2414016"/>
            <a:ext cx="3451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872484" y="2560320"/>
            <a:ext cx="3451860" cy="1170432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00500" y="2560320"/>
            <a:ext cx="32689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리비전 발생 시 구버전 기준서 동시 점검 의무화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872484" y="3730752"/>
            <a:ext cx="3451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872484" y="3877056"/>
            <a:ext cx="3451860" cy="1170432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00500" y="3877056"/>
            <a:ext cx="32689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누락 발견 → 서면(기록) 요청 즉시 진행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872484" y="5047488"/>
            <a:ext cx="3451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872484" y="5193792"/>
            <a:ext cx="3451860" cy="1170432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000500" y="5193792"/>
            <a:ext cx="32689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SQM팀 피드백 체계로 처리 확인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872484" y="6364224"/>
            <a:ext cx="3451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872484" y="6510528"/>
            <a:ext cx="3451860" cy="1170432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00500" y="6510528"/>
            <a:ext cx="32689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완료 보고 후 이력 서면 기록 · 보존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872484" y="7680960"/>
            <a:ext cx="34518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↓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872484" y="7827264"/>
            <a:ext cx="3451860" cy="1170432"/>
          </a:xfrm>
          <a:prstGeom prst="rect">
            <a:avLst/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00500" y="7827264"/>
            <a:ext cx="32689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매일 아침 기준서 확인 보고 체계 운영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74320" y="10323576"/>
            <a:ext cx="7013448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9" name="Text 47"/>
          <p:cNvSpPr/>
          <p:nvPr/>
        </p:nvSpPr>
        <p:spPr>
          <a:xfrm>
            <a:off x="274320" y="103418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5641848" y="10341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086600" y="1097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86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1068933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" y="0"/>
            <a:ext cx="7507224" cy="3657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" y="36576"/>
            <a:ext cx="7507224" cy="694944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6" name="Text 4"/>
          <p:cNvSpPr/>
          <p:nvPr/>
        </p:nvSpPr>
        <p:spPr>
          <a:xfrm>
            <a:off x="237744" y="91440"/>
            <a:ext cx="6739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계획  —  Action Plan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37744" y="475488"/>
            <a:ext cx="6739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Implementation Schedule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" y="859536"/>
            <a:ext cx="1645920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" y="85953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대책 항목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20240" y="859536"/>
            <a:ext cx="1645920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85953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7월 2~4주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602736" y="859536"/>
            <a:ext cx="1645920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2736" y="85953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1~2주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285232" y="859536"/>
            <a:ext cx="1042416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859536"/>
            <a:ext cx="1042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8월 3~4주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364224" y="859536"/>
            <a:ext cx="877824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859536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278624" y="859536"/>
            <a:ext cx="877824" cy="329184"/>
          </a:xfrm>
          <a:prstGeom prst="rect">
            <a:avLst/>
          </a:prstGeom>
          <a:solidFill>
            <a:srgbClr val="0F2244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78624" y="859536"/>
            <a:ext cx="877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7744" y="1243584"/>
            <a:ext cx="7086600" cy="15179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0896" y="1243584"/>
            <a:ext cx="1554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외관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 보완·확인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011680" y="1517904"/>
            <a:ext cx="1463040" cy="969264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23" name="Text 21"/>
          <p:cNvSpPr/>
          <p:nvPr/>
        </p:nvSpPr>
        <p:spPr>
          <a:xfrm>
            <a:off x="2011680" y="1517904"/>
            <a:ext cx="1463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64224" y="1243584"/>
            <a:ext cx="87782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333488" y="1883664"/>
            <a:ext cx="768096" cy="237744"/>
          </a:xfrm>
          <a:prstGeom prst="roundRect">
            <a:avLst>
              <a:gd name="adj" fmla="val 15385"/>
            </a:avLst>
          </a:prstGeom>
          <a:solidFill>
            <a:srgbClr val="E8F5EE"/>
          </a:solidFill>
          <a:ln w="12700">
            <a:solidFill>
              <a:srgbClr val="1A7A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33488" y="1883664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1A7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37744" y="2816352"/>
            <a:ext cx="7086600" cy="151790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0896" y="2816352"/>
            <a:ext cx="1554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SQM팀 피드백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 구축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11680" y="3090672"/>
            <a:ext cx="1463040" cy="96926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30" name="Text 28"/>
          <p:cNvSpPr/>
          <p:nvPr/>
        </p:nvSpPr>
        <p:spPr>
          <a:xfrm>
            <a:off x="2011680" y="3090672"/>
            <a:ext cx="1463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94176" y="3090672"/>
            <a:ext cx="1463040" cy="969264"/>
          </a:xfrm>
          <a:prstGeom prst="rect">
            <a:avLst/>
          </a:prstGeom>
          <a:solidFill>
            <a:srgbClr val="67C1D7"/>
          </a:solidFill>
          <a:ln/>
        </p:spPr>
      </p:sp>
      <p:sp>
        <p:nvSpPr>
          <p:cNvPr id="32" name="Text 30"/>
          <p:cNvSpPr/>
          <p:nvPr/>
        </p:nvSpPr>
        <p:spPr>
          <a:xfrm>
            <a:off x="3694176" y="3090672"/>
            <a:ext cx="1463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64224" y="2816352"/>
            <a:ext cx="87782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SQM협업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333488" y="3456432"/>
            <a:ext cx="768096" cy="237744"/>
          </a:xfrm>
          <a:prstGeom prst="roundRect">
            <a:avLst>
              <a:gd name="adj" fmla="val 15385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33488" y="3456432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237744" y="4389120"/>
            <a:ext cx="7086600" cy="15179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0896" y="4389120"/>
            <a:ext cx="1554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전수 기준서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점검 실시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94176" y="4663440"/>
            <a:ext cx="1463040" cy="96926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39" name="Text 37"/>
          <p:cNvSpPr/>
          <p:nvPr/>
        </p:nvSpPr>
        <p:spPr>
          <a:xfrm>
            <a:off x="3694176" y="4663440"/>
            <a:ext cx="1463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376672" y="4663440"/>
            <a:ext cx="859536" cy="969264"/>
          </a:xfrm>
          <a:prstGeom prst="rect">
            <a:avLst/>
          </a:prstGeom>
          <a:solidFill>
            <a:srgbClr val="67C1D7"/>
          </a:solidFill>
          <a:ln/>
        </p:spPr>
      </p:sp>
      <p:sp>
        <p:nvSpPr>
          <p:cNvPr id="41" name="Text 39"/>
          <p:cNvSpPr/>
          <p:nvPr/>
        </p:nvSpPr>
        <p:spPr>
          <a:xfrm>
            <a:off x="5376672" y="4663440"/>
            <a:ext cx="8595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364224" y="4389120"/>
            <a:ext cx="87782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33488" y="5029200"/>
            <a:ext cx="768096" cy="237744"/>
          </a:xfrm>
          <a:prstGeom prst="roundRect">
            <a:avLst>
              <a:gd name="adj" fmla="val 15385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33488" y="5029200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237744" y="5961888"/>
            <a:ext cx="7086600" cy="1517904"/>
          </a:xfrm>
          <a:prstGeom prst="rect">
            <a:avLst/>
          </a:prstGeom>
          <a:solidFill>
            <a:srgbClr val="F1F5F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0896" y="5961888"/>
            <a:ext cx="1554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 기록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 수립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94176" y="6236208"/>
            <a:ext cx="1463040" cy="96926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8" name="Text 46"/>
          <p:cNvSpPr/>
          <p:nvPr/>
        </p:nvSpPr>
        <p:spPr>
          <a:xfrm>
            <a:off x="3694176" y="6236208"/>
            <a:ext cx="1463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수립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376672" y="6236208"/>
            <a:ext cx="859536" cy="969264"/>
          </a:xfrm>
          <a:prstGeom prst="rect">
            <a:avLst/>
          </a:prstGeom>
          <a:solidFill>
            <a:srgbClr val="67C1D7"/>
          </a:solidFill>
          <a:ln/>
        </p:spPr>
      </p:sp>
      <p:sp>
        <p:nvSpPr>
          <p:cNvPr id="50" name="Text 48"/>
          <p:cNvSpPr/>
          <p:nvPr/>
        </p:nvSpPr>
        <p:spPr>
          <a:xfrm>
            <a:off x="5376672" y="6236208"/>
            <a:ext cx="8595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364224" y="5961888"/>
            <a:ext cx="87782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333488" y="6601968"/>
            <a:ext cx="768096" cy="237744"/>
          </a:xfrm>
          <a:prstGeom prst="roundRect">
            <a:avLst>
              <a:gd name="adj" fmla="val 15385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33488" y="6601968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37744" y="7534656"/>
            <a:ext cx="7086600" cy="1517904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0896" y="7534656"/>
            <a:ext cx="155448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아침</a:t>
            </a:r>
            <a:endParaRPr lang="en-US" sz="1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 체계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011680" y="7808976"/>
            <a:ext cx="1463040" cy="96926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7" name="Text 55"/>
          <p:cNvSpPr/>
          <p:nvPr/>
        </p:nvSpPr>
        <p:spPr>
          <a:xfrm>
            <a:off x="2011680" y="7808976"/>
            <a:ext cx="1463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694176" y="7808976"/>
            <a:ext cx="1463040" cy="969264"/>
          </a:xfrm>
          <a:prstGeom prst="rect">
            <a:avLst/>
          </a:prstGeom>
          <a:solidFill>
            <a:srgbClr val="67C1D7"/>
          </a:solidFill>
          <a:ln/>
        </p:spPr>
      </p:sp>
      <p:sp>
        <p:nvSpPr>
          <p:cNvPr id="59" name="Text 57"/>
          <p:cNvSpPr/>
          <p:nvPr/>
        </p:nvSpPr>
        <p:spPr>
          <a:xfrm>
            <a:off x="3694176" y="7808976"/>
            <a:ext cx="14630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376672" y="7808976"/>
            <a:ext cx="859536" cy="969264"/>
          </a:xfrm>
          <a:prstGeom prst="rect">
            <a:avLst/>
          </a:prstGeom>
          <a:solidFill>
            <a:srgbClr val="B2DDE8"/>
          </a:solidFill>
          <a:ln/>
        </p:spPr>
      </p:sp>
      <p:sp>
        <p:nvSpPr>
          <p:cNvPr id="61" name="Text 59"/>
          <p:cNvSpPr/>
          <p:nvPr/>
        </p:nvSpPr>
        <p:spPr>
          <a:xfrm>
            <a:off x="5376672" y="7808976"/>
            <a:ext cx="859536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정착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364224" y="7534656"/>
            <a:ext cx="87782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인시스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333488" y="8174736"/>
            <a:ext cx="768096" cy="237744"/>
          </a:xfrm>
          <a:prstGeom prst="roundRect">
            <a:avLst>
              <a:gd name="adj" fmla="val 15385"/>
            </a:avLst>
          </a:prstGeom>
          <a:solidFill>
            <a:srgbClr val="E0F5FA"/>
          </a:solidFill>
          <a:ln w="12700">
            <a:solidFill>
              <a:srgbClr val="007A9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33488" y="8174736"/>
            <a:ext cx="768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b="1" dirty="0">
                <a:solidFill>
                  <a:srgbClr val="007A9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중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237744" y="10030968"/>
            <a:ext cx="7086600" cy="256032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7472" y="10030968"/>
            <a:ext cx="6958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기준일: 2026년 7월 31일  ·  월간 점검 결과는 매월 말 SQM팀에 보고 예정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274320" y="10323576"/>
            <a:ext cx="7013448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68" name="Text 66"/>
          <p:cNvSpPr/>
          <p:nvPr/>
        </p:nvSpPr>
        <p:spPr>
          <a:xfrm>
            <a:off x="274320" y="103418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750" dirty="0"/>
          </a:p>
        </p:txBody>
      </p:sp>
      <p:sp>
        <p:nvSpPr>
          <p:cNvPr id="69" name="Text 67"/>
          <p:cNvSpPr/>
          <p:nvPr/>
        </p:nvSpPr>
        <p:spPr>
          <a:xfrm>
            <a:off x="5641848" y="10341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7086600" y="1097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086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62088" cy="106893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10689336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0"/>
            <a:ext cx="7397496" cy="5486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5" name="Text 3"/>
          <p:cNvSpPr/>
          <p:nvPr/>
        </p:nvSpPr>
        <p:spPr>
          <a:xfrm>
            <a:off x="329184" y="201168"/>
            <a:ext cx="705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재발 방지 약속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29184" y="841248"/>
            <a:ext cx="7050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Commitment to Prevention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" y="1152144"/>
            <a:ext cx="2011680" cy="45720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8" name="Shape 6"/>
          <p:cNvSpPr/>
          <p:nvPr/>
        </p:nvSpPr>
        <p:spPr>
          <a:xfrm>
            <a:off x="329184" y="1463040"/>
            <a:ext cx="36576" cy="148132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1389888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3898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7824" y="1444752"/>
            <a:ext cx="64282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기준서 내용의 완전성을 입고 여부와 무관하게 주기적으로 검증하겠습니다.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9184" y="3255264"/>
            <a:ext cx="36576" cy="148132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3182112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821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7824" y="3236976"/>
            <a:ext cx="64282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누락 확인 및 조치는 서면으로 기록하여 추적 가능한 체계를 유지하겠습니다.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29184" y="5047488"/>
            <a:ext cx="36576" cy="148132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974336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974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7824" y="5029200"/>
            <a:ext cx="64282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개선품 리비전 시 구버전 기준서를 반드시 동시에 점검하는 절차를 준수하겠습니다.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29184" y="6839712"/>
            <a:ext cx="36576" cy="1481328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6766560"/>
            <a:ext cx="310896" cy="310896"/>
          </a:xfrm>
          <a:prstGeom prst="roundRect">
            <a:avLst>
              <a:gd name="adj" fmla="val 11765"/>
            </a:avLst>
          </a:prstGeom>
          <a:solidFill>
            <a:srgbClr val="E0F5FA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766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096B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77824" y="6821424"/>
            <a:ext cx="642823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셰플러 SQM팀과의 수시 소통 체계를 통해 품질 이슈를 조기에 해소하겠습니다.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645920" y="9610344"/>
            <a:ext cx="4270248" cy="603504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45920" y="9610344"/>
            <a:ext cx="54864" cy="603504"/>
          </a:xfrm>
          <a:prstGeom prst="rect">
            <a:avLst/>
          </a:prstGeom>
          <a:solidFill>
            <a:srgbClr val="0096B4"/>
          </a:solidFill>
          <a:ln/>
        </p:spPr>
      </p:sp>
      <p:sp>
        <p:nvSpPr>
          <p:cNvPr id="26" name="Text 24"/>
          <p:cNvSpPr/>
          <p:nvPr/>
        </p:nvSpPr>
        <p:spPr>
          <a:xfrm>
            <a:off x="1792224" y="9610344"/>
            <a:ext cx="40873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0F22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담당: 김종선 대리  ·  2026. 7. 31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74320" y="10323576"/>
            <a:ext cx="7013448" cy="91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103418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(주)인시스  ·  검사기준서 누락 원인분석 및 재발방지 대책서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641848" y="10341864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2026. 7. 31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086600" y="109728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0096B4"/>
          </a:solidFill>
          <a:ln w="12700">
            <a:solidFill>
              <a:srgbClr val="0096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109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2026-07-30T15:38:55Z</dcterms:created>
  <dcterms:modified xsi:type="dcterms:W3CDTF">2026-07-30T15:38:55Z</dcterms:modified>
</cp:coreProperties>
</file>