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셰플러 SQM 요청에 따른 수입검사 업무 개선 실행계획서입니다. 6개 항목으로 구성되어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01~05는 셰플러 SQM이 요청한 항목이고, 06은 인시스가 자체적으로 추가한 항목입니다.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R&amp;R은 매핑표 등록 → RACI 매트릭스 작성 → 전자서명 확인의 3단계로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7개 항목 모두 셰플러 SQM의 품질 권한을 존중하는 내용으로 구성되어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7단계 표준 프로세스와 3가지 분기 처리 방식을 정의했습니다.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기준서·판정기준은 셰플러 SQM 소관이므로, 인시스는 확인하고 이상 시 보고하는 역할입니다.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 시 반복적으로 강조하는 핵심 마음가짐입니다.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부품 취급 표준은 품질 확보를 위한 필수 준수사항으로 교육 시 반복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4개 데이터 소스를 자동 취합하여 일일 업무일지를 생성합니다.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실시간 지표와 일일/주간/월간 보고서 자동 발송 기능을 제공합니다.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셰플러 보안 정책을 준수하기 위해 물리적으로 완전 분리된 독립망을 구성합니다.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6개 항목의 담당자와 완료 목표일입니다. 진행 현황은 주간·월간으로 공유합니다.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실행계획서 마무리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0" y="-822960"/>
            <a:ext cx="3840480" cy="3840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377440"/>
            <a:ext cx="2377440" cy="23774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SCHAEFFLER ICHEON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수입검사 업무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실행계획서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범위 명확화 · 프로세스 표준화 · 지속 모니터링 체계 구축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1371600" cy="1828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703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00507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 08. 04   |   v3.1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6대 실행 항목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8638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요청 5개 항목 + 인시스 자체 추진 1개 항목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25296"/>
            <a:ext cx="2624328" cy="1517904"/>
          </a:xfrm>
          <a:prstGeom prst="roundRect">
            <a:avLst>
              <a:gd name="adj" fmla="val 3012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504" y="137160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31720" y="1408176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3504" y="18288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Scope · R&amp;R 명확화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03504" y="210312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업무·권한·책임 정의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 매트릭스 · 전자서명 확인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64408" y="1225296"/>
            <a:ext cx="2624328" cy="1517904"/>
          </a:xfrm>
          <a:prstGeom prst="roundRect">
            <a:avLst>
              <a:gd name="adj" fmla="val 3012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10712" y="137160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11"/>
          <p:cNvSpPr/>
          <p:nvPr/>
        </p:nvSpPr>
        <p:spPr>
          <a:xfrm>
            <a:off x="3410712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38928" y="1408176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410712" y="18288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프로세스 표준화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410712" y="210312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Flow Chart 작성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 절차 문서화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71616" y="1225296"/>
            <a:ext cx="2624328" cy="1517904"/>
          </a:xfrm>
          <a:prstGeom prst="roundRect">
            <a:avLst>
              <a:gd name="adj" fmla="val 3012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946136" y="1408176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8288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마인드 강화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217920" y="210312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행동 지침서 · 부품 취급 표준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및 공유 이력 관리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926080"/>
            <a:ext cx="2624328" cy="1517904"/>
          </a:xfrm>
          <a:prstGeom prst="roundRect">
            <a:avLst>
              <a:gd name="adj" fmla="val 3012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3504" y="3072384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331720" y="310896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03504" y="35295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업무일지 운영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03504" y="380390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 내역 자동 취합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이력 추적·관리 체계 수립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64408" y="2926080"/>
            <a:ext cx="2624328" cy="1517904"/>
          </a:xfrm>
          <a:prstGeom prst="roundRect">
            <a:avLst>
              <a:gd name="adj" fmla="val 3012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10712" y="3072384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1" name="Text 29"/>
          <p:cNvSpPr/>
          <p:nvPr/>
        </p:nvSpPr>
        <p:spPr>
          <a:xfrm>
            <a:off x="3410712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38928" y="310896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410712" y="35295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기반 모니터링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3410712" y="380390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진행 현황 실시간 관리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실적·운영 현황 보고 체계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071616" y="2926080"/>
            <a:ext cx="2624328" cy="1517904"/>
          </a:xfrm>
          <a:prstGeom prst="roundRect">
            <a:avLst>
              <a:gd name="adj" fmla="val 3012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384048" cy="384048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946136" y="310896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217920" y="35295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환경 구축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217920" y="380390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독립 네트워크 · 전용 단말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정책 준수 환경 조성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57200" y="479145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8321040" y="4791456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47472"/>
            <a:ext cx="475488" cy="47548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47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60704" y="31089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 Scope · R&amp;R 명확화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0704" y="67665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담당 업무·권한·책임을 명확히 정의하고 인지 체계 구축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4663440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335024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335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13167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 업무 범위 매핑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160934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성명·직급·담당 품목군·백업 담당자를 시스템에 등록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304288"/>
            <a:ext cx="4663440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468880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97280" y="24505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 책임 매트릭스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27432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20개 업무 × 5개 역할을 R/A/C/I로 구분하여 권한 경계 확정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438144"/>
            <a:ext cx="4663440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602736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97280" y="35844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공유 및 서명 확인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7280" y="387705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7개 준수사항 확인문에 검사원 본인이 전자서명하여 인지 확인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358384" y="1170432"/>
            <a:ext cx="3328416" cy="2761488"/>
          </a:xfrm>
          <a:prstGeom prst="roundRect">
            <a:avLst>
              <a:gd name="adj" fmla="val 1656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77840" y="13350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RACI 정의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577840" y="17373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D4A017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0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98464" y="1719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998464" y="190195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책임 — 직접 수행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577840" y="22677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D4A017"/>
          </a:solidFill>
          <a:ln/>
        </p:spPr>
      </p:sp>
      <p:sp>
        <p:nvSpPr>
          <p:cNvPr id="29" name="Text 27"/>
          <p:cNvSpPr/>
          <p:nvPr/>
        </p:nvSpPr>
        <p:spPr>
          <a:xfrm>
            <a:off x="5577840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998464" y="224942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Accountable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998464" y="243230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승인 — 결과 책임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577840" y="279806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D4A017"/>
          </a:solidFill>
          <a:ln/>
        </p:spPr>
      </p:sp>
      <p:sp>
        <p:nvSpPr>
          <p:cNvPr id="33" name="Text 31"/>
          <p:cNvSpPr/>
          <p:nvPr/>
        </p:nvSpPr>
        <p:spPr>
          <a:xfrm>
            <a:off x="5577840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998464" y="27797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998464" y="296265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협의 — 사전 의견 수렴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577840" y="33284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D4A017"/>
          </a:solidFill>
          <a:ln/>
        </p:spPr>
      </p:sp>
      <p:sp>
        <p:nvSpPr>
          <p:cNvPr id="37" name="Text 35"/>
          <p:cNvSpPr/>
          <p:nvPr/>
        </p:nvSpPr>
        <p:spPr>
          <a:xfrm>
            <a:off x="557784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998464" y="33101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Informed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998464" y="349300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 공유 — 결과 통보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57200" y="479145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321040" y="4791456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47472"/>
            <a:ext cx="475488" cy="47548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47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60704" y="31089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R&amp;R 확인 — 검사원 준수사항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0704" y="67665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전자서명으로 인지 확인하는 7개 항목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93776" y="1179576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" y="1179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6112" y="1133856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기준·검사기준서·판정기준은 셰플러 SQM이 정한 바에 따르며, 임의 해석·변경하지 않는다.</a:t>
            </a:r>
            <a:endParaRPr lang="en-US" sz="1120" dirty="0"/>
          </a:p>
        </p:txBody>
      </p:sp>
      <p:sp>
        <p:nvSpPr>
          <p:cNvPr id="10" name="Shape 8"/>
          <p:cNvSpPr/>
          <p:nvPr/>
        </p:nvSpPr>
        <p:spPr>
          <a:xfrm>
            <a:off x="896112" y="1554480"/>
            <a:ext cx="7772400" cy="7315"/>
          </a:xfrm>
          <a:prstGeom prst="rect">
            <a:avLst/>
          </a:prstGeom>
          <a:solidFill>
            <a:srgbClr val="D3DDE6"/>
          </a:solidFill>
          <a:ln/>
        </p:spPr>
      </p:sp>
      <p:sp>
        <p:nvSpPr>
          <p:cNvPr id="11" name="Shape 9"/>
          <p:cNvSpPr/>
          <p:nvPr/>
        </p:nvSpPr>
        <p:spPr>
          <a:xfrm>
            <a:off x="493776" y="1682496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" y="1682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96112" y="1636776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검사기준서 이상 발견 시 셰플러 SQM에 서면 보고하고, 지시 전까지 검사를 보류한다.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896112" y="2057400"/>
            <a:ext cx="7772400" cy="7315"/>
          </a:xfrm>
          <a:prstGeom prst="rect">
            <a:avLst/>
          </a:prstGeom>
          <a:solidFill>
            <a:srgbClr val="D3DDE6"/>
          </a:solidFill>
          <a:ln/>
        </p:spPr>
      </p:sp>
      <p:sp>
        <p:nvSpPr>
          <p:cNvPr id="15" name="Shape 13"/>
          <p:cNvSpPr/>
          <p:nvPr/>
        </p:nvSpPr>
        <p:spPr>
          <a:xfrm>
            <a:off x="493776" y="2185416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493776" y="2185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96112" y="2139696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판정이 애매한 건은 임의 판단하지 않고 셰플러 SQM에 판단을 요청한다.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896112" y="2560320"/>
            <a:ext cx="7772400" cy="7315"/>
          </a:xfrm>
          <a:prstGeom prst="rect">
            <a:avLst/>
          </a:prstGeom>
          <a:solidFill>
            <a:srgbClr val="D3DDE6"/>
          </a:solidFill>
          <a:ln/>
        </p:spPr>
      </p:sp>
      <p:sp>
        <p:nvSpPr>
          <p:cNvPr id="19" name="Shape 17"/>
          <p:cNvSpPr/>
          <p:nvPr/>
        </p:nvSpPr>
        <p:spPr>
          <a:xfrm>
            <a:off x="493776" y="2688336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" y="2688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96112" y="2642616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부적합품의 반품·특채·재작업·폐기는 셰플러 SQM 승인 후에만 처리한다.</a:t>
            </a:r>
            <a:endParaRPr lang="en-US" sz="1120" dirty="0"/>
          </a:p>
        </p:txBody>
      </p:sp>
      <p:sp>
        <p:nvSpPr>
          <p:cNvPr id="22" name="Shape 20"/>
          <p:cNvSpPr/>
          <p:nvPr/>
        </p:nvSpPr>
        <p:spPr>
          <a:xfrm>
            <a:off x="896112" y="3063240"/>
            <a:ext cx="7772400" cy="7315"/>
          </a:xfrm>
          <a:prstGeom prst="rect">
            <a:avLst/>
          </a:prstGeom>
          <a:solidFill>
            <a:srgbClr val="D3DDE6"/>
          </a:solidFill>
          <a:ln/>
        </p:spPr>
      </p:sp>
      <p:sp>
        <p:nvSpPr>
          <p:cNvPr id="23" name="Shape 21"/>
          <p:cNvSpPr/>
          <p:nvPr/>
        </p:nvSpPr>
        <p:spPr>
          <a:xfrm>
            <a:off x="493776" y="319125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/>
          <p:nvPr/>
        </p:nvSpPr>
        <p:spPr>
          <a:xfrm>
            <a:off x="493776" y="3191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96112" y="3145536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결과는 SAP와 인시스 업무관리 시스템에 당일 내 각각 기록한다.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896112" y="3566160"/>
            <a:ext cx="7772400" cy="7315"/>
          </a:xfrm>
          <a:prstGeom prst="rect">
            <a:avLst/>
          </a:prstGeom>
          <a:solidFill>
            <a:srgbClr val="D3DDE6"/>
          </a:solidFill>
          <a:ln/>
        </p:spPr>
      </p:sp>
      <p:sp>
        <p:nvSpPr>
          <p:cNvPr id="27" name="Shape 25"/>
          <p:cNvSpPr/>
          <p:nvPr/>
        </p:nvSpPr>
        <p:spPr>
          <a:xfrm>
            <a:off x="493776" y="369417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" y="3694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96112" y="3648456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인시스가 제공하는 교육·훈련에 성실히 참여하고, 습득 내용을 업무에 적용한다.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896112" y="4069080"/>
            <a:ext cx="7772400" cy="7315"/>
          </a:xfrm>
          <a:prstGeom prst="rect">
            <a:avLst/>
          </a:prstGeom>
          <a:solidFill>
            <a:srgbClr val="D3DDE6"/>
          </a:solidFill>
          <a:ln/>
        </p:spPr>
      </p:sp>
      <p:sp>
        <p:nvSpPr>
          <p:cNvPr id="31" name="Shape 29"/>
          <p:cNvSpPr/>
          <p:nvPr/>
        </p:nvSpPr>
        <p:spPr>
          <a:xfrm>
            <a:off x="493776" y="419709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493776" y="4197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96112" y="4151376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사업장 보안 규정 및 인시스 인력 운영 규정을 준수한다.</a:t>
            </a:r>
            <a:endParaRPr lang="en-US" sz="1120" dirty="0"/>
          </a:p>
        </p:txBody>
      </p:sp>
      <p:sp>
        <p:nvSpPr>
          <p:cNvPr id="34" name="Text 32"/>
          <p:cNvSpPr/>
          <p:nvPr/>
        </p:nvSpPr>
        <p:spPr>
          <a:xfrm>
            <a:off x="457200" y="479145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321040" y="4791456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47472"/>
            <a:ext cx="475488" cy="47548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47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60704" y="31089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 프로세스 표준화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0704" y="67665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표준 Flow Chart — 7단계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987552" cy="1371600"/>
          </a:xfrm>
          <a:prstGeom prst="roundRect">
            <a:avLst>
              <a:gd name="adj" fmla="val 4630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5528" y="1426464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426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접수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93776" y="212140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납품서·수량 확인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1495044" y="1956816"/>
            <a:ext cx="118872" cy="1828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Shape 11"/>
          <p:cNvSpPr/>
          <p:nvPr/>
        </p:nvSpPr>
        <p:spPr>
          <a:xfrm>
            <a:off x="1664208" y="1280160"/>
            <a:ext cx="987552" cy="1371600"/>
          </a:xfrm>
          <a:prstGeom prst="roundRect">
            <a:avLst>
              <a:gd name="adj" fmla="val 4630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2536" y="1426464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2002536" y="1426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700784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확인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700784" y="212140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유무·내용 검토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2702052" y="1956816"/>
            <a:ext cx="118872" cy="1828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1216" y="1280160"/>
            <a:ext cx="987552" cy="1371600"/>
          </a:xfrm>
          <a:prstGeom prst="roundRect">
            <a:avLst>
              <a:gd name="adj" fmla="val 4630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9544" y="1426464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3209544" y="1426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907792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907792" y="212140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Rev·항목 완전성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3909060" y="1956816"/>
            <a:ext cx="118872" cy="1828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5" name="Shape 23"/>
          <p:cNvSpPr/>
          <p:nvPr/>
        </p:nvSpPr>
        <p:spPr>
          <a:xfrm>
            <a:off x="4078224" y="1280160"/>
            <a:ext cx="987552" cy="1371600"/>
          </a:xfrm>
          <a:prstGeom prst="roundRect">
            <a:avLst>
              <a:gd name="adj" fmla="val 4630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16552" y="1426464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4416552" y="1426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0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샘플 추출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114800" y="212140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AQL 기준 무작위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5116068" y="1956816"/>
            <a:ext cx="118872" cy="1828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1" name="Shape 29"/>
          <p:cNvSpPr/>
          <p:nvPr/>
        </p:nvSpPr>
        <p:spPr>
          <a:xfrm>
            <a:off x="5285232" y="1280160"/>
            <a:ext cx="987552" cy="1371600"/>
          </a:xfrm>
          <a:prstGeom prst="roundRect">
            <a:avLst>
              <a:gd name="adj" fmla="val 4630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23560" y="1426464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3" name="Text 31"/>
          <p:cNvSpPr/>
          <p:nvPr/>
        </p:nvSpPr>
        <p:spPr>
          <a:xfrm>
            <a:off x="5623560" y="1426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321808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외관 검사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321808" y="212140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대비 전수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6323076" y="1956816"/>
            <a:ext cx="118872" cy="1828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7" name="Shape 35"/>
          <p:cNvSpPr/>
          <p:nvPr/>
        </p:nvSpPr>
        <p:spPr>
          <a:xfrm>
            <a:off x="6492240" y="1280160"/>
            <a:ext cx="987552" cy="1371600"/>
          </a:xfrm>
          <a:prstGeom prst="roundRect">
            <a:avLst>
              <a:gd name="adj" fmla="val 4630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830568" y="1426464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9" name="Text 37"/>
          <p:cNvSpPr/>
          <p:nvPr/>
        </p:nvSpPr>
        <p:spPr>
          <a:xfrm>
            <a:off x="6830568" y="1426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28816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치수 검사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528816" y="212140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측정기 실측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7530084" y="1956816"/>
            <a:ext cx="118872" cy="1828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3" name="Shape 41"/>
          <p:cNvSpPr/>
          <p:nvPr/>
        </p:nvSpPr>
        <p:spPr>
          <a:xfrm>
            <a:off x="7699248" y="1280160"/>
            <a:ext cx="987552" cy="1371600"/>
          </a:xfrm>
          <a:prstGeom prst="roundRect">
            <a:avLst>
              <a:gd name="adj" fmla="val 463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37576" y="1426464"/>
            <a:ext cx="310896" cy="31089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5" name="Text 43"/>
          <p:cNvSpPr/>
          <p:nvPr/>
        </p:nvSpPr>
        <p:spPr>
          <a:xfrm>
            <a:off x="8037576" y="1426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735824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판정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735824" y="212140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B8C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합격/불합격/보류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457200" y="2926080"/>
            <a:ext cx="2624328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5442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3504" y="3072384"/>
            <a:ext cx="182880" cy="182880"/>
          </a:xfrm>
          <a:prstGeom prst="ellipse">
            <a:avLst/>
          </a:prstGeom>
          <a:solidFill>
            <a:srgbClr val="B5442E"/>
          </a:solidFill>
          <a:ln/>
        </p:spPr>
      </p:sp>
      <p:sp>
        <p:nvSpPr>
          <p:cNvPr id="50" name="Text 48"/>
          <p:cNvSpPr/>
          <p:nvPr/>
        </p:nvSpPr>
        <p:spPr>
          <a:xfrm>
            <a:off x="877824" y="303580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없음 / 기준서 이상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03504" y="3346704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중단 → 셰플러 SQM 서면 보고 → 지시 대기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64408" y="2926080"/>
            <a:ext cx="2624328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410712" y="3072384"/>
            <a:ext cx="182880" cy="182880"/>
          </a:xfrm>
          <a:prstGeom prst="ellipse">
            <a:avLst/>
          </a:prstGeom>
          <a:solidFill>
            <a:srgbClr val="1F7A5C"/>
          </a:solidFill>
          <a:ln/>
        </p:spPr>
      </p:sp>
      <p:sp>
        <p:nvSpPr>
          <p:cNvPr id="54" name="Text 52"/>
          <p:cNvSpPr/>
          <p:nvPr/>
        </p:nvSpPr>
        <p:spPr>
          <a:xfrm>
            <a:off x="3685032" y="303580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410712" y="3346704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승인 → SAP 결과 입력 → 지정 위치 이송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071616" y="2926080"/>
            <a:ext cx="2624328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17920" y="3072384"/>
            <a:ext cx="182880" cy="1828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8" name="Text 56"/>
          <p:cNvSpPr/>
          <p:nvPr/>
        </p:nvSpPr>
        <p:spPr>
          <a:xfrm>
            <a:off x="6492240" y="303580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불합격 / 보류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217920" y="3346704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부적합품 격리 → SQM 통보 → 승인 후 처리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57200" y="479145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321040" y="4791456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47472"/>
            <a:ext cx="475488" cy="47548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47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60704" y="31089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절차 문서화 및 보고 체계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0704" y="67665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 절차 · 이상 발견 시 보고 절차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33856"/>
            <a:ext cx="4114800" cy="3200400"/>
          </a:xfrm>
          <a:prstGeom prst="roundRect">
            <a:avLst>
              <a:gd name="adj" fmla="val 1429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13167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입고 시 기준서 확인 절차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94944" y="175564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17007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SAP에서 품목번호로 성적서 존재 여부 조회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694944" y="212140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206654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Rev.와 기준서 Rev. 대조 (최신 여부)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694944" y="248716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" y="243230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외관 검사항목·참조 사진 누락 여부 확인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94944" y="285292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279806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치수 규격값 전 항목 기재 여부 확인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" y="31638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품목번호와 실물 일치 여부 확인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694944" y="358444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932688" y="3529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리비전 이전 구버전 품목 해당 여부 확인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94944" y="395020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932688" y="389534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결과를 SAP 특기사항란·시스템에 기록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4809744" y="1133856"/>
            <a:ext cx="3877056" cy="3200400"/>
          </a:xfrm>
          <a:prstGeom prst="roundRect">
            <a:avLst>
              <a:gd name="adj" fmla="val 1429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1371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 발견 시 보고 절차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029200" y="164592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→ 셰플러 SQM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9200" y="2066544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0" y="20665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394960" y="204825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D6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내용 구체 기록 (품목·항목·Rev.)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5029200" y="2468880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2468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394960" y="245059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D6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시스템에 "이상 있음" 저장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5029200" y="2871216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3" name="Text 31"/>
          <p:cNvSpPr/>
          <p:nvPr/>
        </p:nvSpPr>
        <p:spPr>
          <a:xfrm>
            <a:off x="5029200" y="2871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394960" y="285292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D6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담당자에게 서면(이메일) 보고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5029200" y="3273552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6" name="Text 34"/>
          <p:cNvSpPr/>
          <p:nvPr/>
        </p:nvSpPr>
        <p:spPr>
          <a:xfrm>
            <a:off x="5029200" y="32735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94960" y="32552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D6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일자·내용·수신자 업무일지 기록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5029200" y="3675888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9" name="Text 37"/>
          <p:cNvSpPr/>
          <p:nvPr/>
        </p:nvSpPr>
        <p:spPr>
          <a:xfrm>
            <a:off x="5029200" y="3675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394960" y="36576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D6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처리 완료 회신 후 재확인·검사 재개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5029200" y="4078224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0" y="40782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94960" y="405993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D6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처리 이력 시스템 기록 (추적 가능)</a:t>
            </a:r>
            <a:endParaRPr lang="en-US" sz="980" dirty="0"/>
          </a:p>
        </p:txBody>
      </p:sp>
      <p:sp>
        <p:nvSpPr>
          <p:cNvPr id="44" name="Text 42"/>
          <p:cNvSpPr/>
          <p:nvPr/>
        </p:nvSpPr>
        <p:spPr>
          <a:xfrm>
            <a:off x="457200" y="479145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8321040" y="4791456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47472"/>
            <a:ext cx="475488" cy="47548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47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60704" y="31089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품질 마인드 강화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0704" y="67665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파견 검사원의 기본 마음가짐 7개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33856"/>
            <a:ext cx="4005072" cy="676656"/>
          </a:xfrm>
          <a:prstGeom prst="roundRect">
            <a:avLst>
              <a:gd name="adj" fmla="val 6757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307592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0704" y="12435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나는 인시스의 얼굴이다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1060704" y="149961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업무 태도가 곧 인시스에 대한 평가가 된다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81728" y="1133856"/>
            <a:ext cx="4005072" cy="676656"/>
          </a:xfrm>
          <a:prstGeom prst="roundRect">
            <a:avLst>
              <a:gd name="adj" fmla="val 6757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46320" y="1307592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285232" y="12435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기준은 셰플러가 정하고, 나는 지킨다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5285232" y="149961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품질·판정 기준을 임의 해석하지 않는다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1920240"/>
            <a:ext cx="4005072" cy="676656"/>
          </a:xfrm>
          <a:prstGeom prst="roundRect">
            <a:avLst>
              <a:gd name="adj" fmla="val 6757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" y="2093976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60704" y="20299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나는 최종 방어선이다</a:t>
            </a:r>
            <a:endParaRPr lang="en-US" sz="1180" dirty="0"/>
          </a:p>
        </p:txBody>
      </p:sp>
      <p:sp>
        <p:nvSpPr>
          <p:cNvPr id="21" name="Text 19"/>
          <p:cNvSpPr/>
          <p:nvPr/>
        </p:nvSpPr>
        <p:spPr>
          <a:xfrm>
            <a:off x="1060704" y="22860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내가 통과시킨 부품은 고객 생산라인으로 직행한다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1920240"/>
            <a:ext cx="4005072" cy="676656"/>
          </a:xfrm>
          <a:prstGeom prst="roundRect">
            <a:avLst>
              <a:gd name="adj" fmla="val 6757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46320" y="2093976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85232" y="20299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의심스러우면 멈추고 물어본다</a:t>
            </a:r>
            <a:endParaRPr lang="en-US" sz="1180" dirty="0"/>
          </a:p>
        </p:txBody>
      </p:sp>
      <p:sp>
        <p:nvSpPr>
          <p:cNvPr id="26" name="Text 24"/>
          <p:cNvSpPr/>
          <p:nvPr/>
        </p:nvSpPr>
        <p:spPr>
          <a:xfrm>
            <a:off x="5285232" y="22860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애매한 건은 SQM에 판단을 요청한다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2706624"/>
            <a:ext cx="4005072" cy="676656"/>
          </a:xfrm>
          <a:prstGeom prst="roundRect">
            <a:avLst>
              <a:gd name="adj" fmla="val 6757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1792" y="2880360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60704" y="28163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기록하지 않은 것은 하지 않은 것</a:t>
            </a:r>
            <a:endParaRPr lang="en-US" sz="1180" dirty="0"/>
          </a:p>
        </p:txBody>
      </p:sp>
      <p:sp>
        <p:nvSpPr>
          <p:cNvPr id="31" name="Text 29"/>
          <p:cNvSpPr/>
          <p:nvPr/>
        </p:nvSpPr>
        <p:spPr>
          <a:xfrm>
            <a:off x="1060704" y="307238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구두 확인·구두 보고는 이력이 남지 않는다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81728" y="2706624"/>
            <a:ext cx="4005072" cy="676656"/>
          </a:xfrm>
          <a:prstGeom prst="roundRect">
            <a:avLst>
              <a:gd name="adj" fmla="val 6757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46320" y="2880360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4" name="Text 32"/>
          <p:cNvSpPr/>
          <p:nvPr/>
        </p:nvSpPr>
        <p:spPr>
          <a:xfrm>
            <a:off x="484632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285232" y="28163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관행보다 절차를 우선한다</a:t>
            </a:r>
            <a:endParaRPr lang="en-US" sz="1180" dirty="0"/>
          </a:p>
        </p:txBody>
      </p:sp>
      <p:sp>
        <p:nvSpPr>
          <p:cNvPr id="36" name="Text 34"/>
          <p:cNvSpPr/>
          <p:nvPr/>
        </p:nvSpPr>
        <p:spPr>
          <a:xfrm>
            <a:off x="5285232" y="307238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"원래 이렇게 해왔다"로 확인을 생략하지 않는다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3493008"/>
            <a:ext cx="8229600" cy="676656"/>
          </a:xfrm>
          <a:prstGeom prst="roundRect">
            <a:avLst>
              <a:gd name="adj" fmla="val 675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666744"/>
            <a:ext cx="329184" cy="32918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9" name="Text 37"/>
          <p:cNvSpPr/>
          <p:nvPr/>
        </p:nvSpPr>
        <p:spPr>
          <a:xfrm>
            <a:off x="640080" y="3666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8992" y="36027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 보고가 최선의 대응이다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078992" y="38587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B8C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발견 즉시 보고가 가장 빠른 해결이다</a:t>
            </a:r>
            <a:endParaRPr lang="en-US" sz="980" dirty="0"/>
          </a:p>
        </p:txBody>
      </p:sp>
      <p:sp>
        <p:nvSpPr>
          <p:cNvPr id="42" name="Text 40"/>
          <p:cNvSpPr/>
          <p:nvPr/>
        </p:nvSpPr>
        <p:spPr>
          <a:xfrm>
            <a:off x="457200" y="479145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8321040" y="4791456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47472"/>
            <a:ext cx="475488" cy="47548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47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60704" y="31089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일일 실천 사항 및 부품 취급 표준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0704" y="67665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시간대별 행동 기준 · 취급 준수사항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Action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749808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46304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출근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316736" y="146304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 확인 · 안전보호구 착용 점검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883664"/>
            <a:ext cx="749808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83664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아침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16736" y="18836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예정 품목 기준서 사전 점검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304288"/>
            <a:ext cx="749808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304288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시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16736" y="230428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확인 → 내용 검토 → 기록 → 검사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724912"/>
            <a:ext cx="749808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724912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중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316736" y="27249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펼쳐놓고 항목별 대조 확인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145536"/>
            <a:ext cx="749808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14553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316736" y="31455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입력 + 소요시간·특이사항 기록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566160"/>
            <a:ext cx="749808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56616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시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316736" y="356616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중단 → 격리 → SQM 서면 보고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986784"/>
            <a:ext cx="749808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3986784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퇴근 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316736" y="398678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업무일지 생성 → 보완 → 저장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09744" y="1097280"/>
            <a:ext cx="3877056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0" y="122529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반드시 지킬 것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29200" y="14996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 취급 전 지정 장갑 착용 확인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5029200" y="175564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지정 트레이·팔레트 위에서만 취급</a:t>
            </a:r>
            <a:endParaRPr lang="en-US" sz="930" dirty="0"/>
          </a:p>
        </p:txBody>
      </p:sp>
      <p:sp>
        <p:nvSpPr>
          <p:cNvPr id="33" name="Text 31"/>
          <p:cNvSpPr/>
          <p:nvPr/>
        </p:nvSpPr>
        <p:spPr>
          <a:xfrm>
            <a:off x="5029200" y="201168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낙하 시 즉시 별도 격리 후 재검사</a:t>
            </a:r>
            <a:endParaRPr lang="en-US" sz="930" dirty="0"/>
          </a:p>
        </p:txBody>
      </p:sp>
      <p:sp>
        <p:nvSpPr>
          <p:cNvPr id="34" name="Text 32"/>
          <p:cNvSpPr/>
          <p:nvPr/>
        </p:nvSpPr>
        <p:spPr>
          <a:xfrm>
            <a:off x="5029200" y="2267712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검사 완료품은 지정 위치에 정렬 적재</a:t>
            </a:r>
            <a:endParaRPr lang="en-US" sz="930" dirty="0"/>
          </a:p>
        </p:txBody>
      </p:sp>
      <p:sp>
        <p:nvSpPr>
          <p:cNvPr id="35" name="Shape 33"/>
          <p:cNvSpPr/>
          <p:nvPr/>
        </p:nvSpPr>
        <p:spPr>
          <a:xfrm>
            <a:off x="4809744" y="2706624"/>
            <a:ext cx="3877056" cy="1627632"/>
          </a:xfrm>
          <a:prstGeom prst="roundRect">
            <a:avLst>
              <a:gd name="adj" fmla="val 2809"/>
            </a:avLst>
          </a:prstGeom>
          <a:solidFill>
            <a:srgbClr val="FFFFFF"/>
          </a:solidFill>
          <a:ln w="12700">
            <a:solidFill>
              <a:srgbClr val="B5442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0" y="28346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 사항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29200" y="310896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부품을 맨손으로 만지지 않는다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029200" y="3346704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부품을 발로 차거나 밀치지 않는다</a:t>
            </a:r>
            <a:endParaRPr lang="en-US" sz="930" dirty="0"/>
          </a:p>
        </p:txBody>
      </p:sp>
      <p:sp>
        <p:nvSpPr>
          <p:cNvPr id="39" name="Text 37"/>
          <p:cNvSpPr/>
          <p:nvPr/>
        </p:nvSpPr>
        <p:spPr>
          <a:xfrm>
            <a:off x="5029200" y="358444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박스를 바닥에 던지거나 끌지 않는다</a:t>
            </a:r>
            <a:endParaRPr lang="en-US" sz="930" dirty="0"/>
          </a:p>
        </p:txBody>
      </p:sp>
      <p:sp>
        <p:nvSpPr>
          <p:cNvPr id="40" name="Text 38"/>
          <p:cNvSpPr/>
          <p:nvPr/>
        </p:nvSpPr>
        <p:spPr>
          <a:xfrm>
            <a:off x="5029200" y="3822192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검사 완료품·미검사품을 섞지 않는다</a:t>
            </a:r>
            <a:endParaRPr lang="en-US" sz="930" dirty="0"/>
          </a:p>
        </p:txBody>
      </p:sp>
      <p:sp>
        <p:nvSpPr>
          <p:cNvPr id="41" name="Text 39"/>
          <p:cNvSpPr/>
          <p:nvPr/>
        </p:nvSpPr>
        <p:spPr>
          <a:xfrm>
            <a:off x="5029200" y="405993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부적합품을 일반 자재와 함께 두지 않는다</a:t>
            </a:r>
            <a:endParaRPr lang="en-US" sz="930" dirty="0"/>
          </a:p>
        </p:txBody>
      </p:sp>
      <p:sp>
        <p:nvSpPr>
          <p:cNvPr id="42" name="Text 40"/>
          <p:cNvSpPr/>
          <p:nvPr/>
        </p:nvSpPr>
        <p:spPr>
          <a:xfrm>
            <a:off x="457200" y="479145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8321040" y="4791456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47472"/>
            <a:ext cx="475488" cy="47548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47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60704" y="31089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업무일지 운영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0704" y="67665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 내역 자동 취합 · 이력 추적 체계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 취합 대상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1481328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627632"/>
            <a:ext cx="182880" cy="1828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15270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96112" y="1719072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품목·수량·소요시간·판정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2048256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" y="2194560"/>
            <a:ext cx="182880" cy="1828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20939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검토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96112" y="228600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Rev·검토 결과·특기사항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615184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" y="2761488"/>
            <a:ext cx="182880" cy="1828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266090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측정의뢰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96112" y="285292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의뢰 내용·소요시간·결과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57200" y="3182112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" y="3328416"/>
            <a:ext cx="182880" cy="1828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32278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96112" y="341985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유형·수량·처리 방법·상태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12464" y="23774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4261104" y="1481328"/>
            <a:ext cx="4425696" cy="2377440"/>
          </a:xfrm>
          <a:prstGeom prst="roundRect">
            <a:avLst>
              <a:gd name="adj" fmla="val 1923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17136" y="166420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일일 업무일지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17136" y="197510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버튼 클릭 한 번으로 당일 전체 업무 내역 자동 생성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17136" y="2340864"/>
            <a:ext cx="1883664" cy="603504"/>
          </a:xfrm>
          <a:prstGeom prst="roundRect">
            <a:avLst>
              <a:gd name="adj" fmla="val 7576"/>
            </a:avLst>
          </a:prstGeom>
          <a:solidFill>
            <a:srgbClr val="2E3A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241401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 카드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645152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9F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건수·소요시간 집계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6565392" y="2340864"/>
            <a:ext cx="1883664" cy="603504"/>
          </a:xfrm>
          <a:prstGeom prst="roundRect">
            <a:avLst>
              <a:gd name="adj" fmla="val 7576"/>
            </a:avLst>
          </a:prstGeom>
          <a:solidFill>
            <a:srgbClr val="2E3A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93408" y="241401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 내역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9340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9F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항목별 테이블 자동 구성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4517136" y="3072384"/>
            <a:ext cx="1883664" cy="603504"/>
          </a:xfrm>
          <a:prstGeom prst="roundRect">
            <a:avLst>
              <a:gd name="adj" fmla="val 7576"/>
            </a:avLst>
          </a:prstGeom>
          <a:solidFill>
            <a:srgbClr val="2E3A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45152" y="314553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특기사항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645152" y="33832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9F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수기 보완 입력</a:t>
            </a:r>
            <a:endParaRPr lang="en-US" sz="830" dirty="0"/>
          </a:p>
        </p:txBody>
      </p:sp>
      <p:sp>
        <p:nvSpPr>
          <p:cNvPr id="37" name="Shape 35"/>
          <p:cNvSpPr/>
          <p:nvPr/>
        </p:nvSpPr>
        <p:spPr>
          <a:xfrm>
            <a:off x="6565392" y="3072384"/>
            <a:ext cx="1883664" cy="603504"/>
          </a:xfrm>
          <a:prstGeom prst="roundRect">
            <a:avLst>
              <a:gd name="adj" fmla="val 7576"/>
            </a:avLst>
          </a:prstGeom>
          <a:solidFill>
            <a:srgbClr val="2E3A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93408" y="314553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저장·인쇄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693408" y="33832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9F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일별 이력 영구 보관</a:t>
            </a:r>
            <a:endParaRPr lang="en-US" sz="830" dirty="0"/>
          </a:p>
        </p:txBody>
      </p:sp>
      <p:sp>
        <p:nvSpPr>
          <p:cNvPr id="40" name="Shape 38"/>
          <p:cNvSpPr/>
          <p:nvPr/>
        </p:nvSpPr>
        <p:spPr>
          <a:xfrm>
            <a:off x="457200" y="3986784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398678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이력 추적  —  일자·작성자·건수·특기사항을 시스템에 영구 보관하여 언제든 조회·수정 가능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79145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8321040" y="4791456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47472"/>
            <a:ext cx="475488" cy="47548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47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60704" y="31089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ERP 기반 모니터링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0704" y="67665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진행 현황 실시간 관리 · 실적 보고 체계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33856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3504" y="1280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실적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3504" y="1554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월간 건수 · 합격률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2560320" y="1133856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06624" y="1280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소요 시간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06624" y="1554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평균 검사 소요(분/건)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4663440" y="1133856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12700">
            <a:solidFill>
              <a:srgbClr val="B544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280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처리 대기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09744" y="1554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 · 기준서 이상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6766560" y="1133856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12864" y="1280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운영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912864" y="1554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R&amp;R · 교육 · 업무일지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457200" y="223113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인력 운영 모니터링 항목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93776" y="2633472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2560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R&amp;R 정의 등록 · 서명 확인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493776" y="2926080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2852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실시 (월 1회 이상)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493776" y="3218688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145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방문 면담 기록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493776" y="3511296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34381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업무일지 작성 현황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493776" y="3803904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37307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등록 · 환경 구축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493776" y="4096512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0233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보고서 발송 이력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4809744" y="2231136"/>
            <a:ext cx="3877056" cy="2103120"/>
          </a:xfrm>
          <a:prstGeom prst="roundRect">
            <a:avLst>
              <a:gd name="adj" fmla="val 2174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0" y="239572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보고서 자동 생성 · 발송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029200" y="2743200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D4A017"/>
          </a:solidFill>
          <a:ln/>
        </p:spPr>
      </p:sp>
      <p:sp>
        <p:nvSpPr>
          <p:cNvPr id="35" name="Text 33"/>
          <p:cNvSpPr/>
          <p:nvPr/>
        </p:nvSpPr>
        <p:spPr>
          <a:xfrm>
            <a:off x="5029200" y="2743200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705856" y="274320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D6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당일 검사 실적 · 부적합 현황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5029200" y="3200400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D4A017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0" y="3200400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주간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705856" y="320040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D6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주간 누계 · SQM 처리 요청 사항</a:t>
            </a:r>
            <a:endParaRPr lang="en-US" sz="930" dirty="0"/>
          </a:p>
        </p:txBody>
      </p:sp>
      <p:sp>
        <p:nvSpPr>
          <p:cNvPr id="40" name="Shape 38"/>
          <p:cNvSpPr/>
          <p:nvPr/>
        </p:nvSpPr>
        <p:spPr>
          <a:xfrm>
            <a:off x="5029200" y="3657600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D4A017"/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0" y="3657600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월간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05856" y="365760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D6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월간 실적 · 인력 운영 종합</a:t>
            </a:r>
            <a:endParaRPr lang="en-US" sz="930" dirty="0"/>
          </a:p>
        </p:txBody>
      </p:sp>
      <p:sp>
        <p:nvSpPr>
          <p:cNvPr id="43" name="Text 41"/>
          <p:cNvSpPr/>
          <p:nvPr/>
        </p:nvSpPr>
        <p:spPr>
          <a:xfrm>
            <a:off x="5029200" y="405993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수신자 이메일로 즉시 발송 · 발송 이력 자동 기록</a:t>
            </a:r>
            <a:endParaRPr lang="en-US" sz="880" dirty="0"/>
          </a:p>
        </p:txBody>
      </p:sp>
      <p:sp>
        <p:nvSpPr>
          <p:cNvPr id="44" name="Text 42"/>
          <p:cNvSpPr/>
          <p:nvPr/>
        </p:nvSpPr>
        <p:spPr>
          <a:xfrm>
            <a:off x="457200" y="479145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8321040" y="4791456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47472"/>
            <a:ext cx="475488" cy="47548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47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60704" y="31089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시스템 환경 구축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0704" y="67665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인트라넷과 분리된 독립 네트워크 구성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46888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12700">
            <a:solidFill>
              <a:srgbClr val="5A6B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35331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인트라넷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1792" y="1609344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통제 구역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21792" y="1938528"/>
            <a:ext cx="2139696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193852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단말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621792" y="2267712"/>
            <a:ext cx="2139696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2267712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시스템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21792" y="2596896"/>
            <a:ext cx="2139696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596896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인터넷 차단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621792" y="2926080"/>
            <a:ext cx="2139696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292608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저장매체 통제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3127248" y="2048256"/>
            <a:ext cx="457200" cy="457200"/>
          </a:xfrm>
          <a:prstGeom prst="ellipse">
            <a:avLst/>
          </a:prstGeom>
          <a:solidFill>
            <a:srgbClr val="FBEFEC"/>
          </a:solidFill>
          <a:ln w="25400">
            <a:solidFill>
              <a:srgbClr val="B544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27248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871216" y="257860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5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물리적 분리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41648" y="1188720"/>
            <a:ext cx="4645152" cy="2103120"/>
          </a:xfrm>
          <a:prstGeom prst="roundRect">
            <a:avLst>
              <a:gd name="adj" fmla="val 2174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240" y="1353312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독립 네트워크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06240" y="1609344"/>
            <a:ext cx="4315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 기반 · 무선 통신망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224528" y="1956816"/>
            <a:ext cx="1316736" cy="786384"/>
          </a:xfrm>
          <a:prstGeom prst="roundRect">
            <a:avLst>
              <a:gd name="adj" fmla="val 5814"/>
            </a:avLst>
          </a:prstGeom>
          <a:solidFill>
            <a:srgbClr val="2E3A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79392" y="20848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279392" y="2377440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9F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LTE/5G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5577840" y="2340864"/>
            <a:ext cx="91440" cy="1828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8" name="Shape 26"/>
          <p:cNvSpPr/>
          <p:nvPr/>
        </p:nvSpPr>
        <p:spPr>
          <a:xfrm>
            <a:off x="5705856" y="1956816"/>
            <a:ext cx="1316736" cy="786384"/>
          </a:xfrm>
          <a:prstGeom prst="roundRect">
            <a:avLst>
              <a:gd name="adj" fmla="val 5814"/>
            </a:avLst>
          </a:prstGeom>
          <a:solidFill>
            <a:srgbClr val="2E3A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0" y="20848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전용 노트북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760720" y="2377440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9F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전용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7059168" y="2340864"/>
            <a:ext cx="91440" cy="1828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2" name="Shape 30"/>
          <p:cNvSpPr/>
          <p:nvPr/>
        </p:nvSpPr>
        <p:spPr>
          <a:xfrm>
            <a:off x="7187184" y="1956816"/>
            <a:ext cx="1316736" cy="786384"/>
          </a:xfrm>
          <a:prstGeom prst="roundRect">
            <a:avLst>
              <a:gd name="adj" fmla="val 5814"/>
            </a:avLst>
          </a:prstGeom>
          <a:solidFill>
            <a:srgbClr val="2E3A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42048" y="20848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242048" y="2377440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9F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DB</a:t>
            </a:r>
            <a:endParaRPr lang="en-US" sz="820" dirty="0"/>
          </a:p>
        </p:txBody>
      </p:sp>
      <p:sp>
        <p:nvSpPr>
          <p:cNvPr id="35" name="Text 33"/>
          <p:cNvSpPr/>
          <p:nvPr/>
        </p:nvSpPr>
        <p:spPr>
          <a:xfrm>
            <a:off x="4206240" y="2889504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F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결과는 육안 확인 후 수기 입력 — 셰플러 자료 직접 연동 없음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57200" y="3438144"/>
            <a:ext cx="82296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356616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원칙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76656" y="380390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전용 노트북은 업무 전용으로만 사용  ·  셰플러망 PC와 저장매체 공유 금지  ·  화면 잠금·비밀번호 설정  ·  퇴근 시 지정 장소 시건 보관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유선 LAN·사내 Wi-Fi 연결 금지  ·  도면·기준서 원본 파일 저장 금지  ·  검사 결과는 수치·판정만 입력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479145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8321040" y="4791456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 일정 및 담당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8638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항목별 담당자 및 완료 목표 일정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8229600" cy="347472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704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9264" y="1170432"/>
            <a:ext cx="2542032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항목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566160" y="1170432"/>
            <a:ext cx="1993392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산출물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14416" y="1170432"/>
            <a:ext cx="118872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0" y="117043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644384" y="1170432"/>
            <a:ext cx="1042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517904"/>
            <a:ext cx="8229600" cy="4572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69264" y="1517904"/>
            <a:ext cx="2542032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Scope · R&amp;R 명확화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566160" y="1517904"/>
            <a:ext cx="1993392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R&amp;R 정의서 · RACI · 전자서명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14416" y="15179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58000" y="15179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08.15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735824" y="161848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5824" y="1618488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7200" y="1975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69264" y="1975104"/>
            <a:ext cx="2542032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프로세스 표준화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566160" y="1975104"/>
            <a:ext cx="1993392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Chart · 절차서 · SOP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14416" y="1975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8000" y="19751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08.15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735824" y="207568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2075688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2432304"/>
            <a:ext cx="8229600" cy="4572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69264" y="2432304"/>
            <a:ext cx="2542032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마인드 강화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566160" y="2432304"/>
            <a:ext cx="1993392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행동 지침서 · 교육 이력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614416" y="24323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김종선 대리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858000" y="24323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735824" y="253288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35824" y="2532888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57200" y="2889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69264" y="2889504"/>
            <a:ext cx="2542032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업무일지 운영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566160" y="2889504"/>
            <a:ext cx="1993392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생성 · 보고서 발송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614416" y="28895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김종선 대리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858000" y="28895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08.08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735824" y="299008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35824" y="2990088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57200" y="3346704"/>
            <a:ext cx="8229600" cy="4572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43" name="Text 41"/>
          <p:cNvSpPr/>
          <p:nvPr/>
        </p:nvSpPr>
        <p:spPr>
          <a:xfrm>
            <a:off x="457200" y="3346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69264" y="3346704"/>
            <a:ext cx="2542032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기반 모니터링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566160" y="3346704"/>
            <a:ext cx="1993392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 · 실시간 현황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614416" y="33467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858000" y="33467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08.08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735824" y="344728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35824" y="3447288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57200" y="3803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69264" y="3803904"/>
            <a:ext cx="2542032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환경 구축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566160" y="3803904"/>
            <a:ext cx="1993392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 · 전용 노트북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614416" y="38039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858000" y="38039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08.15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735824" y="390448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35824" y="3904488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구축 중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57200" y="4352544"/>
            <a:ext cx="8229600" cy="402336"/>
          </a:xfrm>
          <a:prstGeom prst="roundRect">
            <a:avLst>
              <a:gd name="adj" fmla="val 11364"/>
            </a:avLst>
          </a:prstGeom>
          <a:solidFill>
            <a:srgbClr val="F4F7FA"/>
          </a:solidFill>
          <a:ln w="12700">
            <a:solidFill>
              <a:srgbClr val="D3DDE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76656" y="435254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현황 공유  —  주간: 매주 금요일 이메일 보고   |   월간: 월말 방문 면담 시 대면 보고   |   수시: 시스템 실시간 조회</a:t>
            </a:r>
            <a:endParaRPr lang="en-US" sz="930" dirty="0"/>
          </a:p>
        </p:txBody>
      </p:sp>
      <p:sp>
        <p:nvSpPr>
          <p:cNvPr id="59" name="Text 57"/>
          <p:cNvSpPr/>
          <p:nvPr/>
        </p:nvSpPr>
        <p:spPr>
          <a:xfrm>
            <a:off x="457200" y="479145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321040" y="4791456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3108960"/>
            <a:ext cx="3291840" cy="32918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-914400"/>
            <a:ext cx="2743200" cy="2743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3716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지속적인 개선을 약속드립니다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2048256"/>
            <a:ext cx="914400" cy="1828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1737360" y="2441448"/>
            <a:ext cx="128016" cy="12801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2011680" y="235915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완전성을 입고 여부와 무관하게 주기적으로 확인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737360" y="2843784"/>
            <a:ext cx="128016" cy="12801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276148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확인·조치를 서면으로 기록하여 추적 가능한 체계 유지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737360" y="3246120"/>
            <a:ext cx="128016" cy="12801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Text 10"/>
          <p:cNvSpPr/>
          <p:nvPr/>
        </p:nvSpPr>
        <p:spPr>
          <a:xfrm>
            <a:off x="2011680" y="316382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리비전 시 구버전 기준서 동시 점검 절차 준수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737360" y="3648456"/>
            <a:ext cx="128016" cy="12801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4" name="Text 12"/>
          <p:cNvSpPr/>
          <p:nvPr/>
        </p:nvSpPr>
        <p:spPr>
          <a:xfrm>
            <a:off x="2011680" y="356616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SQM과의 긴밀한 소통으로 품질 이슈 조기 해소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97280" y="42245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 ·   2026. 08. 04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2026-08-05T03:54:45Z</dcterms:created>
  <dcterms:modified xsi:type="dcterms:W3CDTF">2026-08-05T03:54:45Z</dcterms:modified>
</cp:coreProperties>
</file>