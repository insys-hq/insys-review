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셰플러 SQM 요청에 따른 수입검사 업무 개선 실행계획서입니다. 6개 항목으로 구성되어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01~05는 셰플러 SQM이 요청한 항목이고, 06은 인시스가 자체적으로 추가한 항목입니다.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R&amp;R은 매핑표 등록 → RACI 매트릭스 작성 → 전자서명 확인의 3단계로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 항목 모두 셰플러 SQM의 품질 권한을 존중하는 내용으로 구성되어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7단계 표준 프로세스와 3가지 분기 처리 방식을 정의했습니다.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기준서·판정기준은 셰플러 SQM 소관이므로, 인시스는 확인하고 이상 시 보고하는 역할입니다.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교육 시 반복적으로 강조하는 핵심 마음가짐입니다.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부품 취급 표준은 품질 확보를 위한 필수 준수사항으로 교육 시 반복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3개 데이터 소스를 자동 취합하여 일일 업무보고를 생성합니다.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 메뉴로 구성된 업무관리 시스템에서 실시간 현황을 확인할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작성·승인·열람 권한을 명확히 구분하여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셰플러 보안 정책을 준수하기 위해 물리적으로 완전 분리된 독립망을 구성합니다.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7개 항목의 담당자와 완료 목표일입니다. 진행 현황은 주간·월간으로 공유합니다.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실행계획서 마무리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" name="Shape 2"/>
          <p:cNvSpPr/>
          <p:nvPr/>
        </p:nvSpPr>
        <p:spPr>
          <a:xfrm>
            <a:off x="146304" y="0"/>
            <a:ext cx="8997696" cy="128016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0" y="548640"/>
            <a:ext cx="2743200" cy="2743200"/>
          </a:xfrm>
          <a:prstGeom prst="ellipse">
            <a:avLst/>
          </a:prstGeom>
          <a:solidFill>
            <a:srgbClr val="EEF3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2926080"/>
            <a:ext cx="1463040" cy="1463040"/>
          </a:xfrm>
          <a:prstGeom prst="ellipse">
            <a:avLst/>
          </a:prstGeom>
          <a:solidFill>
            <a:srgbClr val="DCE6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051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SCHAEFFLER ICHEON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58368" y="1389888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수입검사 업무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실행계획서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658368" y="2852928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범위 명확화 · 프로세스 표준화 · 지속 모니터링 체계 구축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58368" y="3383280"/>
            <a:ext cx="128016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35844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" y="3877056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 08. 05   |   v4.1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6대 실행 항목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요청 5개 항목 + 인시스 자체 추진 1개 항목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042416"/>
            <a:ext cx="8229600" cy="16459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43584"/>
            <a:ext cx="2624328" cy="1481328"/>
          </a:xfrm>
          <a:prstGeom prst="roundRect">
            <a:avLst>
              <a:gd name="adj" fmla="val 2469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243584"/>
            <a:ext cx="50292" cy="148132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389888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286000" y="142646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40080" y="1828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Scope · R&amp;R 명확화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21031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업무·권한·책임 정의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 매트릭스 · 전자서명 확인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3264408" y="1243584"/>
            <a:ext cx="2624328" cy="1481328"/>
          </a:xfrm>
          <a:prstGeom prst="roundRect">
            <a:avLst>
              <a:gd name="adj" fmla="val 2469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1243584"/>
            <a:ext cx="50292" cy="148132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15" name="Shape 13"/>
          <p:cNvSpPr/>
          <p:nvPr/>
        </p:nvSpPr>
        <p:spPr>
          <a:xfrm>
            <a:off x="3447288" y="1389888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47288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093208" y="142646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447288" y="1828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프로세스 표준화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447288" y="21031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Flow Chart 7단계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 절차 문서화</a:t>
            </a:r>
            <a:endParaRPr lang="en-US" sz="930" dirty="0"/>
          </a:p>
        </p:txBody>
      </p:sp>
      <p:sp>
        <p:nvSpPr>
          <p:cNvPr id="20" name="Shape 18"/>
          <p:cNvSpPr/>
          <p:nvPr/>
        </p:nvSpPr>
        <p:spPr>
          <a:xfrm>
            <a:off x="6071616" y="1243584"/>
            <a:ext cx="2624328" cy="1481328"/>
          </a:xfrm>
          <a:prstGeom prst="roundRect">
            <a:avLst>
              <a:gd name="adj" fmla="val 2469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71616" y="1243584"/>
            <a:ext cx="50292" cy="148132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22" name="Shape 20"/>
          <p:cNvSpPr/>
          <p:nvPr/>
        </p:nvSpPr>
        <p:spPr>
          <a:xfrm>
            <a:off x="6254496" y="1389888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4496" y="13898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900416" y="1426464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54496" y="1828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마인드 강화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254496" y="2103120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행동 지침서 · 부품 취급 표준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및 공유 이력 관리</a:t>
            </a:r>
            <a:endParaRPr lang="en-US" sz="930" dirty="0"/>
          </a:p>
        </p:txBody>
      </p:sp>
      <p:sp>
        <p:nvSpPr>
          <p:cNvPr id="27" name="Shape 25"/>
          <p:cNvSpPr/>
          <p:nvPr/>
        </p:nvSpPr>
        <p:spPr>
          <a:xfrm>
            <a:off x="457200" y="2907792"/>
            <a:ext cx="2624328" cy="1481328"/>
          </a:xfrm>
          <a:prstGeom prst="roundRect">
            <a:avLst>
              <a:gd name="adj" fmla="val 2469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7200" y="2907792"/>
            <a:ext cx="50292" cy="148132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29" name="Shape 27"/>
          <p:cNvSpPr/>
          <p:nvPr/>
        </p:nvSpPr>
        <p:spPr>
          <a:xfrm>
            <a:off x="640080" y="3054096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2286000" y="309067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40080" y="34930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업무일지 운영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40080" y="3767328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자동 취합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이력 추적·관리 체계 수립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3264408" y="2907792"/>
            <a:ext cx="2624328" cy="1481328"/>
          </a:xfrm>
          <a:prstGeom prst="roundRect">
            <a:avLst>
              <a:gd name="adj" fmla="val 2469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64408" y="2907792"/>
            <a:ext cx="50292" cy="148132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36" name="Shape 34"/>
          <p:cNvSpPr/>
          <p:nvPr/>
        </p:nvSpPr>
        <p:spPr>
          <a:xfrm>
            <a:off x="3447288" y="3054096"/>
            <a:ext cx="365760" cy="36576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447288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093208" y="309067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447288" y="34930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기반 모니터링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3447288" y="3767328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진행 현황 실시간 관리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실적·운영 현황 보고 체계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6071616" y="2907792"/>
            <a:ext cx="2624328" cy="1481328"/>
          </a:xfrm>
          <a:prstGeom prst="roundRect">
            <a:avLst>
              <a:gd name="adj" fmla="val 2469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071616" y="2907792"/>
            <a:ext cx="50292" cy="14813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3" name="Shape 41"/>
          <p:cNvSpPr/>
          <p:nvPr/>
        </p:nvSpPr>
        <p:spPr>
          <a:xfrm>
            <a:off x="6254496" y="3054096"/>
            <a:ext cx="365760" cy="365760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254496" y="30540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7900416" y="3090672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254496" y="34930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환경 구축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254496" y="3767328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독립 네트워크 · 전용 단말</a:t>
            </a:r>
            <a:endParaRPr lang="en-US" sz="93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정책 준수 환경 조성</a:t>
            </a:r>
            <a:endParaRPr lang="en-US" sz="930" dirty="0"/>
          </a:p>
        </p:txBody>
      </p:sp>
      <p:sp>
        <p:nvSpPr>
          <p:cNvPr id="48" name="Shape 46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v4.1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 Scope · R&amp;R 명확화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담당 업무·권한·책임을 명확히 정의하고 인지 체계 구축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33856"/>
            <a:ext cx="46634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298448"/>
            <a:ext cx="310896" cy="31089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2984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78992" y="126187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 업무 범위 매핑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078992" y="155448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검사원별 성명·직급·담당 품목군·백업 담당자를 시스템에 등록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457200" y="2249424"/>
            <a:ext cx="46634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2414016"/>
            <a:ext cx="310896" cy="31089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4140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078992" y="237744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RACI 책임 매트릭스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078992" y="267004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20개 업무 × 5개 역할을 R/A/C/I로 구분하여 권한 경계 확정</a:t>
            </a:r>
            <a:endParaRPr lang="en-US" sz="980" dirty="0"/>
          </a:p>
        </p:txBody>
      </p:sp>
      <p:sp>
        <p:nvSpPr>
          <p:cNvPr id="19" name="Shape 17"/>
          <p:cNvSpPr/>
          <p:nvPr/>
        </p:nvSpPr>
        <p:spPr>
          <a:xfrm>
            <a:off x="457200" y="3364992"/>
            <a:ext cx="4663440" cy="950976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3529584"/>
            <a:ext cx="310896" cy="310896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78992" y="349300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공유 및 서명 확인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78992" y="3785616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7개 준수사항 확인문에 검사원 본인이 전자서명하여 인지 확인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5358384" y="1133856"/>
            <a:ext cx="3328416" cy="2743200"/>
          </a:xfrm>
          <a:prstGeom prst="roundRect">
            <a:avLst>
              <a:gd name="adj" fmla="val 1333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358384" y="1133856"/>
            <a:ext cx="3328416" cy="365760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6" name="Text 24"/>
          <p:cNvSpPr/>
          <p:nvPr/>
        </p:nvSpPr>
        <p:spPr>
          <a:xfrm>
            <a:off x="5541264" y="113385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RACI 정의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541264" y="1627632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1C7293"/>
          </a:solidFill>
          <a:ln/>
        </p:spPr>
      </p:sp>
      <p:sp>
        <p:nvSpPr>
          <p:cNvPr id="28" name="Text 26"/>
          <p:cNvSpPr/>
          <p:nvPr/>
        </p:nvSpPr>
        <p:spPr>
          <a:xfrm>
            <a:off x="5541264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961888" y="160934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961888" y="179222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책임 — 직접 수행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541264" y="2139696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A83232"/>
          </a:solidFill>
          <a:ln/>
        </p:spPr>
      </p:sp>
      <p:sp>
        <p:nvSpPr>
          <p:cNvPr id="32" name="Text 30"/>
          <p:cNvSpPr/>
          <p:nvPr/>
        </p:nvSpPr>
        <p:spPr>
          <a:xfrm>
            <a:off x="5541264" y="21396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961888" y="21214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Accountable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961888" y="230428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승인 — 결과 책임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541264" y="2651760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9A6B12"/>
          </a:solidFill>
          <a:ln/>
        </p:spPr>
      </p:sp>
      <p:sp>
        <p:nvSpPr>
          <p:cNvPr id="36" name="Text 34"/>
          <p:cNvSpPr/>
          <p:nvPr/>
        </p:nvSpPr>
        <p:spPr>
          <a:xfrm>
            <a:off x="5541264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961888" y="26334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Consulted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961888" y="281635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협의 — 사전 의견 수렴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541264" y="3163824"/>
            <a:ext cx="310896" cy="310896"/>
          </a:xfrm>
          <a:prstGeom prst="roundRect">
            <a:avLst>
              <a:gd name="adj" fmla="val 14706"/>
            </a:avLst>
          </a:prstGeom>
          <a:solidFill>
            <a:srgbClr val="5A6B7C"/>
          </a:solidFill>
          <a:ln/>
        </p:spPr>
      </p:sp>
      <p:sp>
        <p:nvSpPr>
          <p:cNvPr id="40" name="Text 38"/>
          <p:cNvSpPr/>
          <p:nvPr/>
        </p:nvSpPr>
        <p:spPr>
          <a:xfrm>
            <a:off x="5541264" y="3163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961888" y="314553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Informed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961888" y="3328416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정보 공유 — 결과 통보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v4.1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R&amp;R 확인 — 검사원 준수사항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전자서명으로 인지 확인하는 7개 항목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6984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14300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143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69264" y="10972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기준·검사기준서·판정기준은 셰플러 SQM이 정한 바에 따르며, 임의 해석·변경하지 않는다.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164592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9264" y="160020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검사기준서 이상 발견 시 셰플러 SQM에 서면 보고하고, 지시 전까지 검사를 보류한다.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07568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66928" y="214884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969264" y="210312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판정이 애매한 건은 임의 판단하지 않고 셰플러 SQM에 판단을 요청한다.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2651760"/>
            <a:ext cx="274320" cy="27432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26517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969264" y="260604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부적합품의 반품·특채·재작업·폐기는 셰플러 SQM 승인 후에만 처리한다.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08152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6928" y="31546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9264" y="31089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결과는 SAP와 인시스 업무관리 시스템에 당일 내 각각 기록한다.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66928" y="365760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657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969264" y="361188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인시스가 제공하는 교육·훈련에 성실히 참여하고, 습득 내용을 업무에 적용한다.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087368"/>
            <a:ext cx="8229600" cy="45720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6928" y="416052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6928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969264" y="411480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사업장 보안 규정 및 인시스 인력 운영 규정을 준수한다.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35" name="Text 33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v4.1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 프로세스 표준화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표준 Flow Chart — 7단계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84632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접수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84632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납품서·수량 확인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1495044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Shape 13"/>
          <p:cNvSpPr/>
          <p:nvPr/>
        </p:nvSpPr>
        <p:spPr>
          <a:xfrm>
            <a:off x="1664208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11680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0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691640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확인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691640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유무·내용 검토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702052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1" name="Shape 19"/>
          <p:cNvSpPr/>
          <p:nvPr/>
        </p:nvSpPr>
        <p:spPr>
          <a:xfrm>
            <a:off x="2871216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18688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18688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2898648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898648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주기 도래 시 실시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909060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Shape 25"/>
          <p:cNvSpPr/>
          <p:nvPr/>
        </p:nvSpPr>
        <p:spPr>
          <a:xfrm>
            <a:off x="4078224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425696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25696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105656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샘플 추출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105656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AQL 기준 무작위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116068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3" name="Shape 31"/>
          <p:cNvSpPr/>
          <p:nvPr/>
        </p:nvSpPr>
        <p:spPr>
          <a:xfrm>
            <a:off x="5285232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632704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632704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312664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외관 검사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12664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대비 확인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323076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9" name="Shape 37"/>
          <p:cNvSpPr/>
          <p:nvPr/>
        </p:nvSpPr>
        <p:spPr>
          <a:xfrm>
            <a:off x="6492240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39712" y="1335024"/>
            <a:ext cx="292608" cy="29260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39712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519672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치수 검사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6519672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측정기 실측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7530084" y="1847088"/>
            <a:ext cx="118872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5" name="Shape 43"/>
          <p:cNvSpPr/>
          <p:nvPr/>
        </p:nvSpPr>
        <p:spPr>
          <a:xfrm>
            <a:off x="7699248" y="1188720"/>
            <a:ext cx="987552" cy="1335024"/>
          </a:xfrm>
          <a:prstGeom prst="roundRect">
            <a:avLst>
              <a:gd name="adj" fmla="val 3704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99248" y="1188720"/>
            <a:ext cx="987552" cy="4114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7" name="Shape 45"/>
          <p:cNvSpPr/>
          <p:nvPr/>
        </p:nvSpPr>
        <p:spPr>
          <a:xfrm>
            <a:off x="8046720" y="1335024"/>
            <a:ext cx="292608" cy="292608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46720" y="1335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726680" y="1700784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판정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726680" y="1993392"/>
            <a:ext cx="932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합격/불합격/보류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2798064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3232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7200" y="2798064"/>
            <a:ext cx="45720" cy="914400"/>
          </a:xfrm>
          <a:prstGeom prst="rect">
            <a:avLst/>
          </a:prstGeom>
          <a:solidFill>
            <a:srgbClr val="A83232"/>
          </a:solidFill>
          <a:ln/>
        </p:spPr>
      </p:sp>
      <p:sp>
        <p:nvSpPr>
          <p:cNvPr id="53" name="Text 51"/>
          <p:cNvSpPr/>
          <p:nvPr/>
        </p:nvSpPr>
        <p:spPr>
          <a:xfrm>
            <a:off x="640080" y="29077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없음 / 기준서 이상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40080" y="32004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중단 → 셰플러 SQM 서면 보고 → 지시 대기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3264408" y="2798064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F6B4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264408" y="2798064"/>
            <a:ext cx="45720" cy="914400"/>
          </a:xfrm>
          <a:prstGeom prst="rect">
            <a:avLst/>
          </a:prstGeom>
          <a:solidFill>
            <a:srgbClr val="1F6B4A"/>
          </a:solidFill>
          <a:ln/>
        </p:spPr>
      </p:sp>
      <p:sp>
        <p:nvSpPr>
          <p:cNvPr id="57" name="Text 55"/>
          <p:cNvSpPr/>
          <p:nvPr/>
        </p:nvSpPr>
        <p:spPr>
          <a:xfrm>
            <a:off x="3447288" y="29077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합격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3447288" y="32004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승인 → SAP 결과 입력 → 지정 위치 이송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071616" y="2798064"/>
            <a:ext cx="2624328" cy="914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71616" y="2798064"/>
            <a:ext cx="45720" cy="9144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61" name="Text 59"/>
          <p:cNvSpPr/>
          <p:nvPr/>
        </p:nvSpPr>
        <p:spPr>
          <a:xfrm>
            <a:off x="6254496" y="2907792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불합격 / 보류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254496" y="3200400"/>
            <a:ext cx="2331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부적합품 격리 → SQM 통보 → 승인 후 처리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64" name="Text 62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v4.1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절차 문서화 및 보고 체계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 절차 · 이상 발견 시 보고 절차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4114800" cy="3145536"/>
          </a:xfrm>
          <a:prstGeom prst="roundRect">
            <a:avLst>
              <a:gd name="adj" fmla="val 116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271016"/>
            <a:ext cx="45720" cy="2194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786384" y="1243584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시 기준서 확인 절차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4944" y="1700784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932688" y="164592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SAP에서 품목번호로 성적서 존재 여부 조회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694944" y="205740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932688" y="200253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Rev.와 기준서 Rev. 대조 (최신 여부)</a:t>
            </a:r>
            <a:endParaRPr lang="en-US" sz="960" dirty="0"/>
          </a:p>
        </p:txBody>
      </p:sp>
      <p:sp>
        <p:nvSpPr>
          <p:cNvPr id="16" name="Shape 14"/>
          <p:cNvSpPr/>
          <p:nvPr/>
        </p:nvSpPr>
        <p:spPr>
          <a:xfrm>
            <a:off x="694944" y="2414016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932688" y="235915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외관 검사항목·참조 사진 누락 여부 확인</a:t>
            </a:r>
            <a:endParaRPr lang="en-US" sz="960" dirty="0"/>
          </a:p>
        </p:txBody>
      </p:sp>
      <p:sp>
        <p:nvSpPr>
          <p:cNvPr id="18" name="Shape 16"/>
          <p:cNvSpPr/>
          <p:nvPr/>
        </p:nvSpPr>
        <p:spPr>
          <a:xfrm>
            <a:off x="694944" y="2770632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932688" y="2715768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치수 규격값 전 항목 기재 여부 확인</a:t>
            </a:r>
            <a:endParaRPr lang="en-US" sz="960" dirty="0"/>
          </a:p>
        </p:txBody>
      </p:sp>
      <p:sp>
        <p:nvSpPr>
          <p:cNvPr id="20" name="Shape 18"/>
          <p:cNvSpPr/>
          <p:nvPr/>
        </p:nvSpPr>
        <p:spPr>
          <a:xfrm>
            <a:off x="694944" y="3127248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932688" y="307238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품목번호와 실물 일치 여부 확인</a:t>
            </a:r>
            <a:endParaRPr lang="en-US" sz="960" dirty="0"/>
          </a:p>
        </p:txBody>
      </p:sp>
      <p:sp>
        <p:nvSpPr>
          <p:cNvPr id="22" name="Shape 20"/>
          <p:cNvSpPr/>
          <p:nvPr/>
        </p:nvSpPr>
        <p:spPr>
          <a:xfrm>
            <a:off x="694944" y="3483864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932688" y="342900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리비전 이전 구버전 품목 해당 여부 확인</a:t>
            </a:r>
            <a:endParaRPr lang="en-US" sz="960" dirty="0"/>
          </a:p>
        </p:txBody>
      </p:sp>
      <p:sp>
        <p:nvSpPr>
          <p:cNvPr id="24" name="Shape 22"/>
          <p:cNvSpPr/>
          <p:nvPr/>
        </p:nvSpPr>
        <p:spPr>
          <a:xfrm>
            <a:off x="694944" y="384048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932688" y="378561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결과를 SAP 특기사항란·시스템에 기록</a:t>
            </a:r>
            <a:endParaRPr lang="en-US" sz="960" dirty="0"/>
          </a:p>
        </p:txBody>
      </p:sp>
      <p:sp>
        <p:nvSpPr>
          <p:cNvPr id="26" name="Shape 24"/>
          <p:cNvSpPr/>
          <p:nvPr/>
        </p:nvSpPr>
        <p:spPr>
          <a:xfrm>
            <a:off x="4809744" y="1097280"/>
            <a:ext cx="3877056" cy="3145536"/>
          </a:xfrm>
          <a:prstGeom prst="roundRect">
            <a:avLst>
              <a:gd name="adj" fmla="val 1163"/>
            </a:avLst>
          </a:prstGeom>
          <a:solidFill>
            <a:srgbClr val="FFFFFF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09744" y="1097280"/>
            <a:ext cx="3877056" cy="384048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8" name="Text 26"/>
          <p:cNvSpPr/>
          <p:nvPr/>
        </p:nvSpPr>
        <p:spPr>
          <a:xfrm>
            <a:off x="5010912" y="109728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이상 발견 시 보고 절차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010912" y="1536192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→ 셰플러 SQM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10912" y="1901952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10912" y="1901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376672" y="18836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내용 구체 기록 (품목·항목·Rev.)</a:t>
            </a:r>
            <a:endParaRPr lang="en-US" sz="960" dirty="0"/>
          </a:p>
        </p:txBody>
      </p:sp>
      <p:sp>
        <p:nvSpPr>
          <p:cNvPr id="33" name="Shape 31"/>
          <p:cNvSpPr/>
          <p:nvPr/>
        </p:nvSpPr>
        <p:spPr>
          <a:xfrm>
            <a:off x="5010912" y="2286000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10912" y="2286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376672" y="2267712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시스템에 "이상 있음" 저장</a:t>
            </a:r>
            <a:endParaRPr lang="en-US" sz="960" dirty="0"/>
          </a:p>
        </p:txBody>
      </p:sp>
      <p:sp>
        <p:nvSpPr>
          <p:cNvPr id="36" name="Shape 34"/>
          <p:cNvSpPr/>
          <p:nvPr/>
        </p:nvSpPr>
        <p:spPr>
          <a:xfrm>
            <a:off x="5010912" y="2670048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010912" y="267004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376672" y="26517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담당자에게 서면(이메일) 보고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5010912" y="3054096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10912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76672" y="30358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일자·내용·수신자 업무일지 기록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5010912" y="3438144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10912" y="34381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376672" y="3419856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처리 완료 회신 후 재확인·검사 재개</a:t>
            </a:r>
            <a:endParaRPr lang="en-US" sz="960" dirty="0"/>
          </a:p>
        </p:txBody>
      </p:sp>
      <p:sp>
        <p:nvSpPr>
          <p:cNvPr id="45" name="Shape 43"/>
          <p:cNvSpPr/>
          <p:nvPr/>
        </p:nvSpPr>
        <p:spPr>
          <a:xfrm>
            <a:off x="5010912" y="3822192"/>
            <a:ext cx="256032" cy="25603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010912" y="382219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376672" y="38039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처리 이력 시스템 기록 (추적 가능)</a:t>
            </a:r>
            <a:endParaRPr lang="en-US" sz="960" dirty="0"/>
          </a:p>
        </p:txBody>
      </p:sp>
      <p:sp>
        <p:nvSpPr>
          <p:cNvPr id="48" name="Shape 46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9" name="Text 47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v4.1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품질 마인드 강화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파견 검사원의 기본 마음가짐 7개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97280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261872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261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078992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나는 인시스의 얼굴이다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078992" y="14447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 업무 태도가 곧 인시스에 대한 평가가 된다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4681728" y="1097280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64608" y="1261872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64608" y="12618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303520" y="118872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기준은 셰플러가 정하고, 나는 지킨다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303520" y="1444752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품질·판정 기준을 임의 해석하지 않는다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457200" y="1865376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20299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078992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나는 최종 방어선이다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1078992" y="22128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내가 통과시킨 부품은 고객 생산라인으로 직행한다</a:t>
            </a:r>
            <a:endParaRPr lang="en-US" sz="880" dirty="0"/>
          </a:p>
        </p:txBody>
      </p:sp>
      <p:sp>
        <p:nvSpPr>
          <p:cNvPr id="24" name="Shape 22"/>
          <p:cNvSpPr/>
          <p:nvPr/>
        </p:nvSpPr>
        <p:spPr>
          <a:xfrm>
            <a:off x="4681728" y="1865376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64608" y="2029968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64608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303520" y="19568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의심스러우면 멈추고 물어본다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303520" y="2212848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애매한 건은 SQM에 판단을 요청한다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457200" y="2633472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2798064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1078992" y="272491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기록하지 않은 것은 하지 않은 것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078992" y="29809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구두 확인·구두 보고는 이력이 남지 않는다</a:t>
            </a:r>
            <a:endParaRPr lang="en-US" sz="880" dirty="0"/>
          </a:p>
        </p:txBody>
      </p:sp>
      <p:sp>
        <p:nvSpPr>
          <p:cNvPr id="34" name="Shape 32"/>
          <p:cNvSpPr/>
          <p:nvPr/>
        </p:nvSpPr>
        <p:spPr>
          <a:xfrm>
            <a:off x="4681728" y="2633472"/>
            <a:ext cx="4005072" cy="658368"/>
          </a:xfrm>
          <a:prstGeom prst="roundRect">
            <a:avLst>
              <a:gd name="adj" fmla="val 5556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64608" y="2798064"/>
            <a:ext cx="329184" cy="329184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64608" y="2798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5303520" y="272491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관행보다 절차를 우선한다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303520" y="29809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"원래 이렇게 해왔다"로 확인을 생략하지 않는다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457200" y="3401568"/>
            <a:ext cx="8229600" cy="658368"/>
          </a:xfrm>
          <a:prstGeom prst="roundRect">
            <a:avLst>
              <a:gd name="adj" fmla="val 5556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7200" y="3401568"/>
            <a:ext cx="50292" cy="658368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1" name="Shape 39"/>
          <p:cNvSpPr/>
          <p:nvPr/>
        </p:nvSpPr>
        <p:spPr>
          <a:xfrm>
            <a:off x="676656" y="3566160"/>
            <a:ext cx="329184" cy="329184"/>
          </a:xfrm>
          <a:prstGeom prst="ellipse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" y="3566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115568" y="34930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 보고가 최선의 대응이다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1115568" y="374904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발견 즉시 보고가 가장 빠른 해결이다</a:t>
            </a:r>
            <a:endParaRPr lang="en-US" sz="960" dirty="0"/>
          </a:p>
        </p:txBody>
      </p:sp>
      <p:sp>
        <p:nvSpPr>
          <p:cNvPr id="45" name="Shape 43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6" name="Text 44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v4.1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일일 실천 사항 및 부품 취급 표준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시간대별 행동 기준 · 취급 준수사항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06424"/>
            <a:ext cx="45720" cy="2194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85216" y="1078992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Action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408176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1444752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512064" y="144475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출근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1335024" y="142646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근태 확인 · 안전보호구 착용 점검</a:t>
            </a:r>
            <a:endParaRPr lang="en-US" sz="930" dirty="0"/>
          </a:p>
        </p:txBody>
      </p:sp>
      <p:sp>
        <p:nvSpPr>
          <p:cNvPr id="15" name="Shape 13"/>
          <p:cNvSpPr/>
          <p:nvPr/>
        </p:nvSpPr>
        <p:spPr>
          <a:xfrm>
            <a:off x="512064" y="1847088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아침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1335024" y="182880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예정 품목 기준서 사전 점검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457200" y="2212848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" y="2249424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20" name="Text 18"/>
          <p:cNvSpPr/>
          <p:nvPr/>
        </p:nvSpPr>
        <p:spPr>
          <a:xfrm>
            <a:off x="512064" y="22494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입고 시</a:t>
            </a:r>
            <a:endParaRPr lang="en-US" sz="880" dirty="0"/>
          </a:p>
        </p:txBody>
      </p:sp>
      <p:sp>
        <p:nvSpPr>
          <p:cNvPr id="21" name="Text 19"/>
          <p:cNvSpPr/>
          <p:nvPr/>
        </p:nvSpPr>
        <p:spPr>
          <a:xfrm>
            <a:off x="1335024" y="22311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성적서 확인 → 내용 검토 → 기록 → 검사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512064" y="2651760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26517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1335024" y="263347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펼쳐놓고 항목별 대조 확인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457200" y="3017520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" y="3054096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12064" y="305409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후</a:t>
            </a:r>
            <a:endParaRPr lang="en-US" sz="880" dirty="0"/>
          </a:p>
        </p:txBody>
      </p:sp>
      <p:sp>
        <p:nvSpPr>
          <p:cNvPr id="28" name="Text 26"/>
          <p:cNvSpPr/>
          <p:nvPr/>
        </p:nvSpPr>
        <p:spPr>
          <a:xfrm>
            <a:off x="1335024" y="30358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입력 + 소요시간·특이사항 기록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12064" y="3456432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" y="345643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시</a:t>
            </a:r>
            <a:endParaRPr lang="en-US" sz="880" dirty="0"/>
          </a:p>
        </p:txBody>
      </p:sp>
      <p:sp>
        <p:nvSpPr>
          <p:cNvPr id="31" name="Text 29"/>
          <p:cNvSpPr/>
          <p:nvPr/>
        </p:nvSpPr>
        <p:spPr>
          <a:xfrm>
            <a:off x="1335024" y="343814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중단 → 격리 → SQM 서면 보고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457200" y="3822192"/>
            <a:ext cx="4059936" cy="365760"/>
          </a:xfrm>
          <a:prstGeom prst="rect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2064" y="3858768"/>
            <a:ext cx="731520" cy="29260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34" name="Text 32"/>
          <p:cNvSpPr/>
          <p:nvPr/>
        </p:nvSpPr>
        <p:spPr>
          <a:xfrm>
            <a:off x="512064" y="385876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퇴근 전</a:t>
            </a:r>
            <a:endParaRPr lang="en-US" sz="880" dirty="0"/>
          </a:p>
        </p:txBody>
      </p:sp>
      <p:sp>
        <p:nvSpPr>
          <p:cNvPr id="35" name="Text 33"/>
          <p:cNvSpPr/>
          <p:nvPr/>
        </p:nvSpPr>
        <p:spPr>
          <a:xfrm>
            <a:off x="1335024" y="3840480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생성 → 보완 → 저장</a:t>
            </a:r>
            <a:endParaRPr lang="en-US" sz="930" dirty="0"/>
          </a:p>
        </p:txBody>
      </p:sp>
      <p:sp>
        <p:nvSpPr>
          <p:cNvPr id="36" name="Shape 34"/>
          <p:cNvSpPr/>
          <p:nvPr/>
        </p:nvSpPr>
        <p:spPr>
          <a:xfrm>
            <a:off x="4809744" y="1078992"/>
            <a:ext cx="3877056" cy="14630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1F6B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09744" y="1078992"/>
            <a:ext cx="45720" cy="1463040"/>
          </a:xfrm>
          <a:prstGeom prst="rect">
            <a:avLst/>
          </a:prstGeom>
          <a:solidFill>
            <a:srgbClr val="1F6B4A"/>
          </a:solidFill>
          <a:ln/>
        </p:spPr>
      </p:sp>
      <p:sp>
        <p:nvSpPr>
          <p:cNvPr id="38" name="Text 36"/>
          <p:cNvSpPr/>
          <p:nvPr/>
        </p:nvSpPr>
        <p:spPr>
          <a:xfrm>
            <a:off x="5029200" y="1188720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반드시 지킬 것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029200" y="146304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 취급 전 지정 장갑 착용 확인</a:t>
            </a:r>
            <a:endParaRPr lang="en-US" sz="920" dirty="0"/>
          </a:p>
        </p:txBody>
      </p:sp>
      <p:sp>
        <p:nvSpPr>
          <p:cNvPr id="40" name="Text 38"/>
          <p:cNvSpPr/>
          <p:nvPr/>
        </p:nvSpPr>
        <p:spPr>
          <a:xfrm>
            <a:off x="5029200" y="170992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지정 트레이·팔레트 위에서만 취급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5029200" y="195681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낙하 시 즉시 별도 격리 후 재검사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5029200" y="220370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검사 완료품은 지정 위치에 정렬 적재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4809744" y="2651760"/>
            <a:ext cx="3877056" cy="1591056"/>
          </a:xfrm>
          <a:prstGeom prst="roundRect">
            <a:avLst>
              <a:gd name="adj" fmla="val 2299"/>
            </a:avLst>
          </a:prstGeom>
          <a:solidFill>
            <a:srgbClr val="FFFFFF"/>
          </a:solidFill>
          <a:ln w="12700">
            <a:solidFill>
              <a:srgbClr val="A8323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9744" y="2651760"/>
            <a:ext cx="45720" cy="1591056"/>
          </a:xfrm>
          <a:prstGeom prst="rect">
            <a:avLst/>
          </a:prstGeom>
          <a:solidFill>
            <a:srgbClr val="A83232"/>
          </a:solidFill>
          <a:ln/>
        </p:spPr>
      </p:sp>
      <p:sp>
        <p:nvSpPr>
          <p:cNvPr id="45" name="Text 43"/>
          <p:cNvSpPr/>
          <p:nvPr/>
        </p:nvSpPr>
        <p:spPr>
          <a:xfrm>
            <a:off x="5029200" y="2761488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주의 사항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029200" y="3035808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부품을 맨손으로 만지지 않는다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5029200" y="3273552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부품을 발로 차거나 밀치지 않는다</a:t>
            </a:r>
            <a:endParaRPr lang="en-US" sz="920" dirty="0"/>
          </a:p>
        </p:txBody>
      </p:sp>
      <p:sp>
        <p:nvSpPr>
          <p:cNvPr id="48" name="Text 46"/>
          <p:cNvSpPr/>
          <p:nvPr/>
        </p:nvSpPr>
        <p:spPr>
          <a:xfrm>
            <a:off x="5029200" y="3511296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박스를 바닥에 던지거나 끌지 않는다</a:t>
            </a:r>
            <a:endParaRPr lang="en-US" sz="920" dirty="0"/>
          </a:p>
        </p:txBody>
      </p:sp>
      <p:sp>
        <p:nvSpPr>
          <p:cNvPr id="49" name="Text 47"/>
          <p:cNvSpPr/>
          <p:nvPr/>
        </p:nvSpPr>
        <p:spPr>
          <a:xfrm>
            <a:off x="5029200" y="3749040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검사 완료품·미검사품을 섞지 않는다</a:t>
            </a:r>
            <a:endParaRPr lang="en-US" sz="920" dirty="0"/>
          </a:p>
        </p:txBody>
      </p:sp>
      <p:sp>
        <p:nvSpPr>
          <p:cNvPr id="50" name="Text 48"/>
          <p:cNvSpPr/>
          <p:nvPr/>
        </p:nvSpPr>
        <p:spPr>
          <a:xfrm>
            <a:off x="5029200" y="3986784"/>
            <a:ext cx="3438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부적합품을 일반 자재와 함께 두지 않는다</a:t>
            </a:r>
            <a:endParaRPr lang="en-US" sz="920" dirty="0"/>
          </a:p>
        </p:txBody>
      </p:sp>
      <p:sp>
        <p:nvSpPr>
          <p:cNvPr id="51" name="Shape 49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52" name="Text 50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v4.1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업무일지 운영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 내역 자동 취합 · 이력 추적 체계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06424"/>
            <a:ext cx="45720" cy="2194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585216" y="1078992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입력 (검사원)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1463040"/>
            <a:ext cx="3200400" cy="512064"/>
          </a:xfrm>
          <a:prstGeom prst="roundRect">
            <a:avLst>
              <a:gd name="adj" fmla="val 714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1463040"/>
            <a:ext cx="45720" cy="5120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/>
          <p:nvPr/>
        </p:nvSpPr>
        <p:spPr>
          <a:xfrm>
            <a:off x="676656" y="151790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76656" y="171907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품목·소요시간·성적서 검토·판정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" y="2066544"/>
            <a:ext cx="3200400" cy="512064"/>
          </a:xfrm>
          <a:prstGeom prst="roundRect">
            <a:avLst>
              <a:gd name="adj" fmla="val 714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066544"/>
            <a:ext cx="45720" cy="5120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" y="2121408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측정의뢰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76656" y="23225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의뢰 내용·소요시간·결과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2670048"/>
            <a:ext cx="3200400" cy="512064"/>
          </a:xfrm>
          <a:prstGeom prst="roundRect">
            <a:avLst>
              <a:gd name="adj" fmla="val 7143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" y="2670048"/>
            <a:ext cx="45720" cy="51206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/>
          <p:nvPr/>
        </p:nvSpPr>
        <p:spPr>
          <a:xfrm>
            <a:off x="676656" y="2724912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6656" y="292608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유형·수량·처리 방법·상태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749040" y="210312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4297680" y="1463040"/>
            <a:ext cx="4389120" cy="2011680"/>
          </a:xfrm>
          <a:prstGeom prst="roundRect">
            <a:avLst>
              <a:gd name="adj" fmla="val 1818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297680" y="1463040"/>
            <a:ext cx="4389120" cy="384048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6" name="Text 24"/>
          <p:cNvSpPr/>
          <p:nvPr/>
        </p:nvSpPr>
        <p:spPr>
          <a:xfrm>
            <a:off x="4517136" y="14630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일일 업무 보고 자동 생성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17136" y="1975104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45152" y="202996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 일자 선택</a:t>
            </a:r>
            <a:endParaRPr lang="en-US" sz="1030" dirty="0"/>
          </a:p>
        </p:txBody>
      </p:sp>
      <p:sp>
        <p:nvSpPr>
          <p:cNvPr id="29" name="Text 27"/>
          <p:cNvSpPr/>
          <p:nvPr/>
        </p:nvSpPr>
        <p:spPr>
          <a:xfrm>
            <a:off x="4645152" y="22677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당일 자동 · 변경 가능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6565392" y="1975104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93408" y="2029968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통계 요약</a:t>
            </a:r>
            <a:endParaRPr lang="en-US" sz="1030" dirty="0"/>
          </a:p>
        </p:txBody>
      </p:sp>
      <p:sp>
        <p:nvSpPr>
          <p:cNvPr id="32" name="Text 30"/>
          <p:cNvSpPr/>
          <p:nvPr/>
        </p:nvSpPr>
        <p:spPr>
          <a:xfrm>
            <a:off x="6693408" y="2267712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건수·소요시간·합격률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4517136" y="2651760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5152" y="270662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상세 내역</a:t>
            </a:r>
            <a:endParaRPr lang="en-US" sz="1030" dirty="0"/>
          </a:p>
        </p:txBody>
      </p:sp>
      <p:sp>
        <p:nvSpPr>
          <p:cNvPr id="35" name="Text 33"/>
          <p:cNvSpPr/>
          <p:nvPr/>
        </p:nvSpPr>
        <p:spPr>
          <a:xfrm>
            <a:off x="4645152" y="29443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항목별 테이블 자동 구성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6565392" y="2651760"/>
            <a:ext cx="1883664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693408" y="2706624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특기사항</a:t>
            </a:r>
            <a:endParaRPr lang="en-US" sz="1030" dirty="0"/>
          </a:p>
        </p:txBody>
      </p:sp>
      <p:sp>
        <p:nvSpPr>
          <p:cNvPr id="38" name="Text 36"/>
          <p:cNvSpPr/>
          <p:nvPr/>
        </p:nvSpPr>
        <p:spPr>
          <a:xfrm>
            <a:off x="6693408" y="2944368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유일하게 직접 입력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457200" y="3602736"/>
            <a:ext cx="8229600" cy="640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58368" y="3721608"/>
            <a:ext cx="45720" cy="219456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41" name="Text 39"/>
          <p:cNvSpPr/>
          <p:nvPr/>
        </p:nvSpPr>
        <p:spPr>
          <a:xfrm>
            <a:off x="786384" y="3694176"/>
            <a:ext cx="2615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 및 보고 기준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58368" y="3950208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 시점: 매일 퇴근 전  |  작성자: 당일 근무 검사원  |  일일: 시스템 조회 · 주간: 금요일 이메일 · 월간: 방문 면담 시 대면  |  보관: 클라우드 영구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v4.1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ERP 기반 모니터링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 업무관리 시스템 — 7개 메뉴 구성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품목 관리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일괄 등록 · 확인 주기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256032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6032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측정의뢰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74320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의뢰·완료일 · 소요시간</a:t>
            </a:r>
            <a:endParaRPr lang="en-US" sz="830" dirty="0"/>
          </a:p>
        </p:txBody>
      </p:sp>
      <p:sp>
        <p:nvSpPr>
          <p:cNvPr id="17" name="Shape 15"/>
          <p:cNvSpPr/>
          <p:nvPr/>
        </p:nvSpPr>
        <p:spPr>
          <a:xfrm>
            <a:off x="466344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6344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수입검사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1~3 순차 진행</a:t>
            </a:r>
            <a:endParaRPr lang="en-US" sz="830" dirty="0"/>
          </a:p>
        </p:txBody>
      </p:sp>
      <p:sp>
        <p:nvSpPr>
          <p:cNvPr id="21" name="Shape 19"/>
          <p:cNvSpPr/>
          <p:nvPr/>
        </p:nvSpPr>
        <p:spPr>
          <a:xfrm>
            <a:off x="6766560" y="1078992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0" y="1078992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0" y="1170432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부적합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949440" y="1426464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 · SQM 통보 · 추적</a:t>
            </a:r>
            <a:endParaRPr lang="en-US" sz="830" dirty="0"/>
          </a:p>
        </p:txBody>
      </p:sp>
      <p:sp>
        <p:nvSpPr>
          <p:cNvPr id="25" name="Shape 23"/>
          <p:cNvSpPr/>
          <p:nvPr/>
        </p:nvSpPr>
        <p:spPr>
          <a:xfrm>
            <a:off x="457200" y="1865376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1865376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195681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221284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취합 · 인쇄 출력</a:t>
            </a:r>
            <a:endParaRPr lang="en-US" sz="830" dirty="0"/>
          </a:p>
        </p:txBody>
      </p:sp>
      <p:sp>
        <p:nvSpPr>
          <p:cNvPr id="29" name="Shape 27"/>
          <p:cNvSpPr/>
          <p:nvPr/>
        </p:nvSpPr>
        <p:spPr>
          <a:xfrm>
            <a:off x="2560320" y="1865376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560320" y="1865376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1" name="Text 29"/>
          <p:cNvSpPr/>
          <p:nvPr/>
        </p:nvSpPr>
        <p:spPr>
          <a:xfrm>
            <a:off x="2743200" y="195681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· 면담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743200" y="221284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교육·방문면담·역량평가</a:t>
            </a:r>
            <a:endParaRPr lang="en-US" sz="830" dirty="0"/>
          </a:p>
        </p:txBody>
      </p:sp>
      <p:sp>
        <p:nvSpPr>
          <p:cNvPr id="33" name="Shape 31"/>
          <p:cNvSpPr/>
          <p:nvPr/>
        </p:nvSpPr>
        <p:spPr>
          <a:xfrm>
            <a:off x="4663440" y="1865376"/>
            <a:ext cx="1920240" cy="676656"/>
          </a:xfrm>
          <a:prstGeom prst="roundRect">
            <a:avLst>
              <a:gd name="adj" fmla="val 5405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63440" y="1865376"/>
            <a:ext cx="45720" cy="676656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4846320" y="1956816"/>
            <a:ext cx="16824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업무지원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46320" y="2212848"/>
            <a:ext cx="16824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소모품 · 안전용품 신청</a:t>
            </a:r>
            <a:endParaRPr lang="en-US" sz="830" dirty="0"/>
          </a:p>
        </p:txBody>
      </p:sp>
      <p:sp>
        <p:nvSpPr>
          <p:cNvPr id="37" name="Shape 35"/>
          <p:cNvSpPr/>
          <p:nvPr/>
        </p:nvSpPr>
        <p:spPr>
          <a:xfrm>
            <a:off x="457200" y="2770632"/>
            <a:ext cx="45720" cy="219456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8" name="Text 36"/>
          <p:cNvSpPr/>
          <p:nvPr/>
        </p:nvSpPr>
        <p:spPr>
          <a:xfrm>
            <a:off x="585216" y="2743200"/>
            <a:ext cx="3895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모니터링 지표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457200" y="3072384"/>
            <a:ext cx="8229600" cy="310896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40" name="Text 38"/>
          <p:cNvSpPr/>
          <p:nvPr/>
        </p:nvSpPr>
        <p:spPr>
          <a:xfrm>
            <a:off x="457200" y="3072384"/>
            <a:ext cx="155448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구분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2011680" y="3072384"/>
            <a:ext cx="3383280" cy="310896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모니터링 항목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394960" y="307238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주기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949440" y="3072384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확인 주체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457200" y="3383280"/>
            <a:ext cx="8229600" cy="36576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3383280"/>
            <a:ext cx="1554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실적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2011680" y="3383280"/>
            <a:ext cx="33832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당일 검사 건수 · 평균 소요시간 · 합격률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94960" y="338328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949440" y="338328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검사원 · 관리자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457200" y="3749040"/>
            <a:ext cx="1554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SQM 대기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2011680" y="3749040"/>
            <a:ext cx="33832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이상 회신 대기 · 부적합 승인 대기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394960" y="37490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694944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관리자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54" name="Text 52"/>
          <p:cNvSpPr/>
          <p:nvPr/>
        </p:nvSpPr>
        <p:spPr>
          <a:xfrm>
            <a:off x="457200" y="4114800"/>
            <a:ext cx="15544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운영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2011680" y="4114800"/>
            <a:ext cx="3383280" cy="365760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확인 주기 도래 · 교육 · 면담 · 평가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5394960" y="4114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월간 · 분기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949440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송지원 대표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59" name="Text 57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v4.1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접근 권한 및 공유 체계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 · 승인 · 열람 권한 구분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33856"/>
            <a:ext cx="8229600" cy="621792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298448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298448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작성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481328" y="12252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검사원 (김종선 · 이석봉)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81328" y="1463040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검사·측정의뢰·부적합·업무일지 입력 및 수정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457200" y="1847088"/>
            <a:ext cx="822960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2011680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0B4F6C"/>
          </a:solidFill>
          <a:ln/>
        </p:spPr>
      </p:sp>
      <p:sp>
        <p:nvSpPr>
          <p:cNvPr id="16" name="Text 14"/>
          <p:cNvSpPr/>
          <p:nvPr/>
        </p:nvSpPr>
        <p:spPr>
          <a:xfrm>
            <a:off x="658368" y="2011680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승인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481328" y="193852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이천공장 송지원 대표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481328" y="2176272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업무일지·보고서 확인 및 승인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457200" y="2560320"/>
            <a:ext cx="8229600" cy="621792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" y="2724912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5A6B7C"/>
          </a:solidFill>
          <a:ln/>
        </p:spPr>
      </p:sp>
      <p:sp>
        <p:nvSpPr>
          <p:cNvPr id="21" name="Text 19"/>
          <p:cNvSpPr/>
          <p:nvPr/>
        </p:nvSpPr>
        <p:spPr>
          <a:xfrm>
            <a:off x="658368" y="2724912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열람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481328" y="26517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SQM팀장 · 수입검사 관련자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481328" y="2889504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현황 및 보고서 조회</a:t>
            </a:r>
            <a:endParaRPr lang="en-US" sz="930" dirty="0"/>
          </a:p>
        </p:txBody>
      </p:sp>
      <p:sp>
        <p:nvSpPr>
          <p:cNvPr id="24" name="Shape 22"/>
          <p:cNvSpPr/>
          <p:nvPr/>
        </p:nvSpPr>
        <p:spPr>
          <a:xfrm>
            <a:off x="457200" y="3273552"/>
            <a:ext cx="8229600" cy="621792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" y="3438144"/>
            <a:ext cx="658368" cy="292608"/>
          </a:xfrm>
          <a:prstGeom prst="roundRect">
            <a:avLst>
              <a:gd name="adj" fmla="val 15625"/>
            </a:avLst>
          </a:prstGeom>
          <a:solidFill>
            <a:srgbClr val="5A6B7C"/>
          </a:solidFill>
          <a:ln/>
        </p:spPr>
      </p:sp>
      <p:sp>
        <p:nvSpPr>
          <p:cNvPr id="26" name="Text 24"/>
          <p:cNvSpPr/>
          <p:nvPr/>
        </p:nvSpPr>
        <p:spPr>
          <a:xfrm>
            <a:off x="658368" y="3438144"/>
            <a:ext cx="658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열람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481328" y="336499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본사 관련 인원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481328" y="3602736"/>
            <a:ext cx="6949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인력 운영 현황 조회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457200" y="4041648"/>
            <a:ext cx="8229600" cy="512064"/>
          </a:xfrm>
          <a:prstGeom prst="roundRect">
            <a:avLst>
              <a:gd name="adj" fmla="val 7143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8368" y="411480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현황 공유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8368" y="4315968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주간: 매주 금요일 이메일 보고   |   월간: 월말 방문 면담 시 대면 보고   |   수시: 시스템 실시간 조회</a:t>
            </a:r>
            <a:endParaRPr lang="en-US" sz="930" dirty="0"/>
          </a:p>
        </p:txBody>
      </p:sp>
      <p:sp>
        <p:nvSpPr>
          <p:cNvPr id="32" name="Shape 30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v4.1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896112"/>
          </a:xfrm>
          <a:prstGeom prst="rect">
            <a:avLst/>
          </a:prstGeom>
          <a:solidFill>
            <a:srgbClr val="EEF3F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896112"/>
            <a:ext cx="9144000" cy="20117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219456"/>
            <a:ext cx="457200" cy="457200"/>
          </a:xfrm>
          <a:prstGeom prst="ellipse">
            <a:avLst/>
          </a:prstGeom>
          <a:solidFill>
            <a:srgbClr val="0B4F6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42416" y="182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시스템 환경 구축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2416" y="54864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인트라넷과 분리된 독립 네트워크 구성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1133856"/>
            <a:ext cx="2468880" cy="2103120"/>
          </a:xfrm>
          <a:prstGeom prst="roundRect">
            <a:avLst>
              <a:gd name="adj" fmla="val 1739"/>
            </a:avLst>
          </a:prstGeom>
          <a:solidFill>
            <a:srgbClr val="FAFBFC"/>
          </a:solidFill>
          <a:ln w="12700">
            <a:solidFill>
              <a:srgbClr val="5A6B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133856"/>
            <a:ext cx="2468880" cy="365760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1133856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인트라넷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" y="153619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통제 구역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40080" y="1828800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8288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단말</a:t>
            </a:r>
            <a:endParaRPr lang="en-US" sz="920" dirty="0"/>
          </a:p>
        </p:txBody>
      </p:sp>
      <p:sp>
        <p:nvSpPr>
          <p:cNvPr id="15" name="Shape 13"/>
          <p:cNvSpPr/>
          <p:nvPr/>
        </p:nvSpPr>
        <p:spPr>
          <a:xfrm>
            <a:off x="640080" y="2157984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15798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시스템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40080" y="2487168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48716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인터넷 차단</a:t>
            </a:r>
            <a:endParaRPr lang="en-US" sz="920" dirty="0"/>
          </a:p>
        </p:txBody>
      </p:sp>
      <p:sp>
        <p:nvSpPr>
          <p:cNvPr id="19" name="Shape 17"/>
          <p:cNvSpPr/>
          <p:nvPr/>
        </p:nvSpPr>
        <p:spPr>
          <a:xfrm>
            <a:off x="640080" y="2816352"/>
            <a:ext cx="210312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81635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2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저장매체 통제</a:t>
            </a:r>
            <a:endParaRPr lang="en-US" sz="920" dirty="0"/>
          </a:p>
        </p:txBody>
      </p:sp>
      <p:sp>
        <p:nvSpPr>
          <p:cNvPr id="21" name="Shape 19"/>
          <p:cNvSpPr/>
          <p:nvPr/>
        </p:nvSpPr>
        <p:spPr>
          <a:xfrm>
            <a:off x="3127248" y="1993392"/>
            <a:ext cx="457200" cy="4572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A832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2724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871216" y="2523744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32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물리적 분리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041648" y="1133856"/>
            <a:ext cx="4645152" cy="2103120"/>
          </a:xfrm>
          <a:prstGeom prst="roundRect">
            <a:avLst>
              <a:gd name="adj" fmla="val 1739"/>
            </a:avLst>
          </a:prstGeom>
          <a:solidFill>
            <a:srgbClr val="FAFBFC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41648" y="1133856"/>
            <a:ext cx="4645152" cy="365760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26" name="Text 24"/>
          <p:cNvSpPr/>
          <p:nvPr/>
        </p:nvSpPr>
        <p:spPr>
          <a:xfrm>
            <a:off x="4041648" y="1133856"/>
            <a:ext cx="4645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인시스 독립 네트워크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041648" y="1536192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 기반 · 무선 통신망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24528" y="1847088"/>
            <a:ext cx="1316736" cy="768096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79392" y="197510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279392" y="2249424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LTE / 5G</a:t>
            </a:r>
            <a:endParaRPr lang="en-US" sz="820" dirty="0"/>
          </a:p>
        </p:txBody>
      </p:sp>
      <p:sp>
        <p:nvSpPr>
          <p:cNvPr id="31" name="Shape 29"/>
          <p:cNvSpPr/>
          <p:nvPr/>
        </p:nvSpPr>
        <p:spPr>
          <a:xfrm>
            <a:off x="5577840" y="2221992"/>
            <a:ext cx="91440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2" name="Shape 30"/>
          <p:cNvSpPr/>
          <p:nvPr/>
        </p:nvSpPr>
        <p:spPr>
          <a:xfrm>
            <a:off x="5705856" y="1847088"/>
            <a:ext cx="1316736" cy="768096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60720" y="197510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전용 노트북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760720" y="2249424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전용</a:t>
            </a:r>
            <a:endParaRPr lang="en-US" sz="820" dirty="0"/>
          </a:p>
        </p:txBody>
      </p:sp>
      <p:sp>
        <p:nvSpPr>
          <p:cNvPr id="35" name="Shape 33"/>
          <p:cNvSpPr/>
          <p:nvPr/>
        </p:nvSpPr>
        <p:spPr>
          <a:xfrm>
            <a:off x="7059168" y="2221992"/>
            <a:ext cx="91440" cy="20117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6" name="Shape 34"/>
          <p:cNvSpPr/>
          <p:nvPr/>
        </p:nvSpPr>
        <p:spPr>
          <a:xfrm>
            <a:off x="7187184" y="1847088"/>
            <a:ext cx="1316736" cy="768096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4D2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42048" y="1975104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242048" y="2249424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DB</a:t>
            </a:r>
            <a:endParaRPr lang="en-US" sz="820" dirty="0"/>
          </a:p>
        </p:txBody>
      </p:sp>
      <p:sp>
        <p:nvSpPr>
          <p:cNvPr id="39" name="Text 37"/>
          <p:cNvSpPr/>
          <p:nvPr/>
        </p:nvSpPr>
        <p:spPr>
          <a:xfrm>
            <a:off x="4041648" y="2743200"/>
            <a:ext cx="4645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검사 결과는 육안 확인 후 수기 입력 — 셰플러 자료 직접 연동 없음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457200" y="3383280"/>
            <a:ext cx="8229600" cy="877824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7200" y="3383280"/>
            <a:ext cx="45720" cy="87782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42" name="Text 40"/>
          <p:cNvSpPr/>
          <p:nvPr/>
        </p:nvSpPr>
        <p:spPr>
          <a:xfrm>
            <a:off x="676656" y="349300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원칙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76656" y="37307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전용 노트북은 업무 전용으로만 사용  ·  셰플러망 PC와 저장매체 공유 금지  ·  화면 잠금·비밀번호 설정  ·  퇴근 시 지정 장소 시건 보관</a:t>
            </a:r>
            <a:endParaRPr lang="en-US" sz="90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유선 LAN·사내 Wi-Fi 연결 금지  ·  도면·기준서 원본 파일 저장 금지  ·  검사 결과는 수치·판정만 입력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45" name="Text 43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v4.1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29184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실행 일정 및 담당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74980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항목별 담당자 및 완료 목표 일정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457200" y="1042416"/>
            <a:ext cx="8229600" cy="16459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170432"/>
            <a:ext cx="8229600" cy="329184"/>
          </a:xfrm>
          <a:prstGeom prst="rect">
            <a:avLst/>
          </a:prstGeom>
          <a:solidFill>
            <a:srgbClr val="DCE6E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70432"/>
            <a:ext cx="4754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No.</a:t>
            </a:r>
            <a:endParaRPr lang="en-US" sz="980" dirty="0"/>
          </a:p>
        </p:txBody>
      </p:sp>
      <p:sp>
        <p:nvSpPr>
          <p:cNvPr id="8" name="Text 6"/>
          <p:cNvSpPr/>
          <p:nvPr/>
        </p:nvSpPr>
        <p:spPr>
          <a:xfrm>
            <a:off x="987552" y="1170432"/>
            <a:ext cx="2523744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실행 항목</a:t>
            </a:r>
            <a:endParaRPr lang="en-US" sz="980" dirty="0"/>
          </a:p>
        </p:txBody>
      </p:sp>
      <p:sp>
        <p:nvSpPr>
          <p:cNvPr id="9" name="Text 7"/>
          <p:cNvSpPr/>
          <p:nvPr/>
        </p:nvSpPr>
        <p:spPr>
          <a:xfrm>
            <a:off x="3566160" y="1170432"/>
            <a:ext cx="2011680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주요 산출물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5632704" y="1170432"/>
            <a:ext cx="1207008" cy="32918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담당</a:t>
            </a:r>
            <a:endParaRPr lang="en-US" sz="980" dirty="0"/>
          </a:p>
        </p:txBody>
      </p:sp>
      <p:sp>
        <p:nvSpPr>
          <p:cNvPr id="11" name="Text 9"/>
          <p:cNvSpPr/>
          <p:nvPr/>
        </p:nvSpPr>
        <p:spPr>
          <a:xfrm>
            <a:off x="6876288" y="1170432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목표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662672" y="1170432"/>
            <a:ext cx="1024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980" dirty="0"/>
          </a:p>
        </p:txBody>
      </p:sp>
      <p:sp>
        <p:nvSpPr>
          <p:cNvPr id="13" name="Shape 11"/>
          <p:cNvSpPr/>
          <p:nvPr/>
        </p:nvSpPr>
        <p:spPr>
          <a:xfrm>
            <a:off x="457200" y="1499616"/>
            <a:ext cx="8229600" cy="39319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1499616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987552" y="1499616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Scope · R&amp;R 명확화</a:t>
            </a:r>
            <a:endParaRPr lang="en-US" sz="1030" dirty="0"/>
          </a:p>
        </p:txBody>
      </p:sp>
      <p:sp>
        <p:nvSpPr>
          <p:cNvPr id="16" name="Text 14"/>
          <p:cNvSpPr/>
          <p:nvPr/>
        </p:nvSpPr>
        <p:spPr>
          <a:xfrm>
            <a:off x="3566160" y="1499616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R&amp;R 정의서 · RACI · 전자서명</a:t>
            </a:r>
            <a:endParaRPr lang="en-US" sz="880" dirty="0"/>
          </a:p>
        </p:txBody>
      </p:sp>
      <p:sp>
        <p:nvSpPr>
          <p:cNvPr id="17" name="Text 15"/>
          <p:cNvSpPr/>
          <p:nvPr/>
        </p:nvSpPr>
        <p:spPr>
          <a:xfrm>
            <a:off x="5632704" y="1499616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6876288" y="1499616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7735824" y="156819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35824" y="1568196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457200" y="1892808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987552" y="1892808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 프로세스 표준화</a:t>
            </a:r>
            <a:endParaRPr lang="en-US" sz="1030" dirty="0"/>
          </a:p>
        </p:txBody>
      </p:sp>
      <p:sp>
        <p:nvSpPr>
          <p:cNvPr id="23" name="Text 21"/>
          <p:cNvSpPr/>
          <p:nvPr/>
        </p:nvSpPr>
        <p:spPr>
          <a:xfrm>
            <a:off x="3566160" y="1892808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Chart · 절차서 · SOP</a:t>
            </a:r>
            <a:endParaRPr lang="en-US" sz="880" dirty="0"/>
          </a:p>
        </p:txBody>
      </p:sp>
      <p:sp>
        <p:nvSpPr>
          <p:cNvPr id="24" name="Text 22"/>
          <p:cNvSpPr/>
          <p:nvPr/>
        </p:nvSpPr>
        <p:spPr>
          <a:xfrm>
            <a:off x="5632704" y="1892808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25" name="Text 23"/>
          <p:cNvSpPr/>
          <p:nvPr/>
        </p:nvSpPr>
        <p:spPr>
          <a:xfrm>
            <a:off x="6876288" y="1892808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35824" y="196138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6138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28" name="Shape 26"/>
          <p:cNvSpPr/>
          <p:nvPr/>
        </p:nvSpPr>
        <p:spPr>
          <a:xfrm>
            <a:off x="457200" y="2286000"/>
            <a:ext cx="8229600" cy="39319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2286000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987552" y="2286000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품질 마인드 강화</a:t>
            </a:r>
            <a:endParaRPr lang="en-US" sz="1030" dirty="0"/>
          </a:p>
        </p:txBody>
      </p:sp>
      <p:sp>
        <p:nvSpPr>
          <p:cNvPr id="31" name="Text 29"/>
          <p:cNvSpPr/>
          <p:nvPr/>
        </p:nvSpPr>
        <p:spPr>
          <a:xfrm>
            <a:off x="3566160" y="2286000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행동 지침서 · 교육 이력</a:t>
            </a:r>
            <a:endParaRPr lang="en-US" sz="880" dirty="0"/>
          </a:p>
        </p:txBody>
      </p:sp>
      <p:sp>
        <p:nvSpPr>
          <p:cNvPr id="32" name="Text 30"/>
          <p:cNvSpPr/>
          <p:nvPr/>
        </p:nvSpPr>
        <p:spPr>
          <a:xfrm>
            <a:off x="5632704" y="2286000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김종선 대리</a:t>
            </a:r>
            <a:endParaRPr lang="en-US" sz="930" dirty="0"/>
          </a:p>
        </p:txBody>
      </p:sp>
      <p:sp>
        <p:nvSpPr>
          <p:cNvPr id="33" name="Text 31"/>
          <p:cNvSpPr/>
          <p:nvPr/>
        </p:nvSpPr>
        <p:spPr>
          <a:xfrm>
            <a:off x="6876288" y="2286000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7735824" y="2354580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35824" y="2354580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36" name="Text 34"/>
          <p:cNvSpPr/>
          <p:nvPr/>
        </p:nvSpPr>
        <p:spPr>
          <a:xfrm>
            <a:off x="457200" y="2679192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980" dirty="0"/>
          </a:p>
        </p:txBody>
      </p:sp>
      <p:sp>
        <p:nvSpPr>
          <p:cNvPr id="37" name="Text 35"/>
          <p:cNvSpPr/>
          <p:nvPr/>
        </p:nvSpPr>
        <p:spPr>
          <a:xfrm>
            <a:off x="987552" y="2679192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업무일지 운영</a:t>
            </a:r>
            <a:endParaRPr lang="en-US" sz="1030" dirty="0"/>
          </a:p>
        </p:txBody>
      </p:sp>
      <p:sp>
        <p:nvSpPr>
          <p:cNvPr id="38" name="Text 36"/>
          <p:cNvSpPr/>
          <p:nvPr/>
        </p:nvSpPr>
        <p:spPr>
          <a:xfrm>
            <a:off x="3566160" y="2679192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일일 업무보고 자동 생성</a:t>
            </a:r>
            <a:endParaRPr lang="en-US" sz="880" dirty="0"/>
          </a:p>
        </p:txBody>
      </p:sp>
      <p:sp>
        <p:nvSpPr>
          <p:cNvPr id="39" name="Text 37"/>
          <p:cNvSpPr/>
          <p:nvPr/>
        </p:nvSpPr>
        <p:spPr>
          <a:xfrm>
            <a:off x="5632704" y="2679192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김종선 대리</a:t>
            </a:r>
            <a:endParaRPr lang="en-US" sz="930" dirty="0"/>
          </a:p>
        </p:txBody>
      </p:sp>
      <p:sp>
        <p:nvSpPr>
          <p:cNvPr id="40" name="Text 38"/>
          <p:cNvSpPr/>
          <p:nvPr/>
        </p:nvSpPr>
        <p:spPr>
          <a:xfrm>
            <a:off x="6876288" y="2679192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41" name="Shape 39"/>
          <p:cNvSpPr/>
          <p:nvPr/>
        </p:nvSpPr>
        <p:spPr>
          <a:xfrm>
            <a:off x="7735824" y="2747772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735824" y="2747772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457200" y="3072384"/>
            <a:ext cx="8229600" cy="39319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44" name="Text 42"/>
          <p:cNvSpPr/>
          <p:nvPr/>
        </p:nvSpPr>
        <p:spPr>
          <a:xfrm>
            <a:off x="457200" y="3072384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987552" y="3072384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기반 모니터링</a:t>
            </a:r>
            <a:endParaRPr lang="en-US" sz="1030" dirty="0"/>
          </a:p>
        </p:txBody>
      </p:sp>
      <p:sp>
        <p:nvSpPr>
          <p:cNvPr id="46" name="Text 44"/>
          <p:cNvSpPr/>
          <p:nvPr/>
        </p:nvSpPr>
        <p:spPr>
          <a:xfrm>
            <a:off x="3566160" y="3072384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업무관리 시스템 · 실시간 현황</a:t>
            </a:r>
            <a:endParaRPr lang="en-US" sz="880" dirty="0"/>
          </a:p>
        </p:txBody>
      </p:sp>
      <p:sp>
        <p:nvSpPr>
          <p:cNvPr id="47" name="Text 45"/>
          <p:cNvSpPr/>
          <p:nvPr/>
        </p:nvSpPr>
        <p:spPr>
          <a:xfrm>
            <a:off x="5632704" y="3072384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48" name="Text 46"/>
          <p:cNvSpPr/>
          <p:nvPr/>
        </p:nvSpPr>
        <p:spPr>
          <a:xfrm>
            <a:off x="6876288" y="3072384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49" name="Shape 47"/>
          <p:cNvSpPr/>
          <p:nvPr/>
        </p:nvSpPr>
        <p:spPr>
          <a:xfrm>
            <a:off x="7735824" y="3140964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735824" y="3140964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51" name="Text 49"/>
          <p:cNvSpPr/>
          <p:nvPr/>
        </p:nvSpPr>
        <p:spPr>
          <a:xfrm>
            <a:off x="457200" y="3465576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980" dirty="0"/>
          </a:p>
        </p:txBody>
      </p:sp>
      <p:sp>
        <p:nvSpPr>
          <p:cNvPr id="52" name="Text 50"/>
          <p:cNvSpPr/>
          <p:nvPr/>
        </p:nvSpPr>
        <p:spPr>
          <a:xfrm>
            <a:off x="987552" y="3465576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환경 구축</a:t>
            </a:r>
            <a:endParaRPr lang="en-US" sz="1030" dirty="0"/>
          </a:p>
        </p:txBody>
      </p:sp>
      <p:sp>
        <p:nvSpPr>
          <p:cNvPr id="53" name="Text 51"/>
          <p:cNvSpPr/>
          <p:nvPr/>
        </p:nvSpPr>
        <p:spPr>
          <a:xfrm>
            <a:off x="3566160" y="3465576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USIM 라우터 · 전용 노트북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5632704" y="3465576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55" name="Text 53"/>
          <p:cNvSpPr/>
          <p:nvPr/>
        </p:nvSpPr>
        <p:spPr>
          <a:xfrm>
            <a:off x="6876288" y="3465576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56" name="Shape 54"/>
          <p:cNvSpPr/>
          <p:nvPr/>
        </p:nvSpPr>
        <p:spPr>
          <a:xfrm>
            <a:off x="7735824" y="3534156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35824" y="3534156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58" name="Shape 56"/>
          <p:cNvSpPr/>
          <p:nvPr/>
        </p:nvSpPr>
        <p:spPr>
          <a:xfrm>
            <a:off x="457200" y="3858768"/>
            <a:ext cx="8229600" cy="393192"/>
          </a:xfrm>
          <a:prstGeom prst="rect">
            <a:avLst/>
          </a:prstGeom>
          <a:solidFill>
            <a:srgbClr val="FAFBFC"/>
          </a:solidFill>
          <a:ln/>
        </p:spPr>
      </p:sp>
      <p:sp>
        <p:nvSpPr>
          <p:cNvPr id="59" name="Text 57"/>
          <p:cNvSpPr/>
          <p:nvPr/>
        </p:nvSpPr>
        <p:spPr>
          <a:xfrm>
            <a:off x="457200" y="3858768"/>
            <a:ext cx="4754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980" dirty="0"/>
          </a:p>
        </p:txBody>
      </p:sp>
      <p:sp>
        <p:nvSpPr>
          <p:cNvPr id="60" name="Text 58"/>
          <p:cNvSpPr/>
          <p:nvPr/>
        </p:nvSpPr>
        <p:spPr>
          <a:xfrm>
            <a:off x="987552" y="3858768"/>
            <a:ext cx="2523744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103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교육 · 면담 체계 운영</a:t>
            </a:r>
            <a:endParaRPr lang="en-US" sz="1030" dirty="0"/>
          </a:p>
        </p:txBody>
      </p:sp>
      <p:sp>
        <p:nvSpPr>
          <p:cNvPr id="61" name="Text 59"/>
          <p:cNvSpPr/>
          <p:nvPr/>
        </p:nvSpPr>
        <p:spPr>
          <a:xfrm>
            <a:off x="3566160" y="3858768"/>
            <a:ext cx="2011680" cy="39319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월 1회 방문 면담 · 역량평가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5632704" y="3858768"/>
            <a:ext cx="12070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김양섭 이사</a:t>
            </a:r>
            <a:endParaRPr lang="en-US" sz="930" dirty="0"/>
          </a:p>
        </p:txBody>
      </p:sp>
      <p:sp>
        <p:nvSpPr>
          <p:cNvPr id="63" name="Text 61"/>
          <p:cNvSpPr/>
          <p:nvPr/>
        </p:nvSpPr>
        <p:spPr>
          <a:xfrm>
            <a:off x="6876288" y="3858768"/>
            <a:ext cx="74980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3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08.31</a:t>
            </a:r>
            <a:endParaRPr lang="en-US" sz="930" dirty="0"/>
          </a:p>
        </p:txBody>
      </p:sp>
      <p:sp>
        <p:nvSpPr>
          <p:cNvPr id="64" name="Shape 62"/>
          <p:cNvSpPr/>
          <p:nvPr/>
        </p:nvSpPr>
        <p:spPr>
          <a:xfrm>
            <a:off x="7735824" y="3927348"/>
            <a:ext cx="859536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735824" y="3927348"/>
            <a:ext cx="8595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중</a:t>
            </a:r>
            <a:endParaRPr lang="en-US" sz="830" dirty="0"/>
          </a:p>
        </p:txBody>
      </p:sp>
      <p:sp>
        <p:nvSpPr>
          <p:cNvPr id="66" name="Shape 64"/>
          <p:cNvSpPr/>
          <p:nvPr/>
        </p:nvSpPr>
        <p:spPr>
          <a:xfrm>
            <a:off x="457200" y="4279392"/>
            <a:ext cx="8229600" cy="365760"/>
          </a:xfrm>
          <a:prstGeom prst="roundRect">
            <a:avLst>
              <a:gd name="adj" fmla="val 10000"/>
            </a:avLst>
          </a:prstGeom>
          <a:solidFill>
            <a:srgbClr val="DCE6EE"/>
          </a:solidFill>
          <a:ln w="12700">
            <a:solidFill>
              <a:srgbClr val="0B4F6C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58368" y="427939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진행 현황 공유  —  주간: 매주 금요일 이메일 보고   |   월간: 월말 방문 면담 시 대면 보고   |   수시: 시스템 실시간 조회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457200" y="4718304"/>
            <a:ext cx="8229600" cy="10973"/>
          </a:xfrm>
          <a:prstGeom prst="rect">
            <a:avLst/>
          </a:prstGeom>
          <a:solidFill>
            <a:srgbClr val="C4D2DD"/>
          </a:solidFill>
          <a:ln/>
        </p:spPr>
      </p:sp>
      <p:sp>
        <p:nvSpPr>
          <p:cNvPr id="69" name="Text 67"/>
          <p:cNvSpPr/>
          <p:nvPr/>
        </p:nvSpPr>
        <p:spPr>
          <a:xfrm>
            <a:off x="457200" y="4773168"/>
            <a:ext cx="5943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·  셰플러 이천공장 수입검사 실행계획서 v4.1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8275320" y="4773168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4" name="Shape 2"/>
          <p:cNvSpPr/>
          <p:nvPr/>
        </p:nvSpPr>
        <p:spPr>
          <a:xfrm>
            <a:off x="7132320" y="3108960"/>
            <a:ext cx="2560320" cy="2560320"/>
          </a:xfrm>
          <a:prstGeom prst="ellipse">
            <a:avLst/>
          </a:prstGeom>
          <a:solidFill>
            <a:srgbClr val="FAFBF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22529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지속적인 개선을 약속드립니다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114800" y="1883664"/>
            <a:ext cx="914400" cy="27432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7" name="Shape 5"/>
          <p:cNvSpPr/>
          <p:nvPr/>
        </p:nvSpPr>
        <p:spPr>
          <a:xfrm>
            <a:off x="1737360" y="2322576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2011680" y="2231136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기준서 완전성을 입고 여부와 무관하게 설정 주기에 따라 확인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737360" y="2743200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0" name="Text 8"/>
          <p:cNvSpPr/>
          <p:nvPr/>
        </p:nvSpPr>
        <p:spPr>
          <a:xfrm>
            <a:off x="2011680" y="2651760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확인·조치를 서면으로 기록하여 추적 가능한 체계 유지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1737360" y="3163824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2" name="Text 10"/>
          <p:cNvSpPr/>
          <p:nvPr/>
        </p:nvSpPr>
        <p:spPr>
          <a:xfrm>
            <a:off x="2011680" y="3072384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리비전 시 구버전 기준서 동시 점검 절차 준수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737360" y="3584448"/>
            <a:ext cx="128016" cy="128016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2011680" y="3493008"/>
            <a:ext cx="5852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6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셰플러 SQM과의 긴밀한 소통으로 품질 이슈 조기 해소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22960" y="42062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A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㈜인시스   ·   2026. 08. 05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2026-08-06T04:05:03Z</dcterms:created>
  <dcterms:modified xsi:type="dcterms:W3CDTF">2026-08-06T04:05:03Z</dcterms:modified>
</cp:coreProperties>
</file>