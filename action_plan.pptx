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SQM 요청에 따른 수입검사 업무 개선 실행계획서입니다. 6개 항목으로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01~05는 셰플러 SQM이 요청한 항목이고, 06은 인시스가 자체적으로 추가한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R&amp;R은 매핑표 등록 → RACI 매트릭스 작성 → 전자서명 확인의 3단계로 진행합니다. RACI 매트릭스 작성은 웹버전 실행계획서에서 직접 수행합니다.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 모두 셰플러 SQM의 품질 권한을 존중하는 내용으로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표준 프로세스와 3가지 분기 처리 방식을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기준서·판정기준은 셰플러 SQM 소관이므로, 인시스는 확인하고 이상 시 보고하는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시 반복적으로 강조하는 핵심 마음가짐입니다.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부품 취급 표준은 품질 확보를 위한 필수 준수사항으로 교육 시 반복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 데이터 소스를 자동 취합하여 일일 업무보고를 생성합니다.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메뉴로 구성된 업무관리 시스템에서 실시간 현황을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작성·승인·열람 권한을 명확히 구분하여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보안 정책을 준수하기 위해 물리적으로 완전 분리된 독립망을 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항목의 담당자와 완료 목표일입니다. 진행 현황은 주간·월간으로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실행계획서 마무리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action_plan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insys-hq.github.io/Insys-review/ims.htm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" y="0"/>
            <a:ext cx="8997696" cy="12801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48640"/>
            <a:ext cx="2743200" cy="2743200"/>
          </a:xfrm>
          <a:prstGeom prst="ellipse">
            <a:avLst/>
          </a:prstGeom>
          <a:solidFill>
            <a:srgbClr val="EEF3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2926080"/>
            <a:ext cx="1463040" cy="1463040"/>
          </a:xfrm>
          <a:prstGeom prst="ellipse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SCHAEFFLER ICHEON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1389888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수입검사 업무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실행계획서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8368" y="28529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범위 명확화 · 프로세스 표준화 · 지속 모니터링 체계 구축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3383280"/>
            <a:ext cx="128016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05   |   v4.4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6대 실행 항목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요청 5개 항목 + 인시스 자체 추진 1개 항목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업무·권한·책임 정의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매트릭스 · 전자서명 확인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3264408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5" name="Shape 13"/>
          <p:cNvSpPr/>
          <p:nvPr/>
        </p:nvSpPr>
        <p:spPr>
          <a:xfrm>
            <a:off x="3447288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93208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47288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447288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Flow Chart 7단계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문서화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6071616" y="1207008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1616" y="1207008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1353312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1353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00416" y="13898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54496" y="179222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54496" y="2066544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부품 취급 표준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및 공유 이력 관리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57200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779776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2926080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86000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취합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추적·관리 체계 수립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3264408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64408" y="2779776"/>
            <a:ext cx="50292" cy="142646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36" name="Shape 34"/>
          <p:cNvSpPr/>
          <p:nvPr/>
        </p:nvSpPr>
        <p:spPr>
          <a:xfrm>
            <a:off x="3447288" y="2926080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93208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47288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447288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실적·운영 현황 보고 체계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6071616" y="2779776"/>
            <a:ext cx="2624328" cy="1426464"/>
          </a:xfrm>
          <a:prstGeom prst="roundRect">
            <a:avLst>
              <a:gd name="adj" fmla="val 256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71616" y="2779776"/>
            <a:ext cx="50292" cy="1426464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2926080"/>
            <a:ext cx="365760" cy="3657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900416" y="2962656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54496" y="33649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254496" y="36393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 네트워크 · 전용 단말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준수 환경 조성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457200" y="4279392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7200" y="4279392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0" name="Text 48"/>
          <p:cNvSpPr/>
          <p:nvPr/>
        </p:nvSpPr>
        <p:spPr>
          <a:xfrm>
            <a:off x="603504" y="427939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932688" y="42793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</a:t>
            </a:r>
            <a:endParaRPr lang="en-US" sz="1000" dirty="0"/>
          </a:p>
        </p:txBody>
      </p:sp>
      <p:sp>
        <p:nvSpPr>
          <p:cNvPr id="52" name="Text 50">
            <a:hlinkClick r:id="rId1" tooltip=""/>
          </p:cNvPr>
          <p:cNvSpPr/>
          <p:nvPr/>
        </p:nvSpPr>
        <p:spPr>
          <a:xfrm>
            <a:off x="4169664" y="427939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Scope · R&amp;R 명확화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담당 업무·권한·책임을 명확히 정의하고 인지 체계 구축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80160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280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60704" y="12252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 범위 매핑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60704" y="149961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성명·직급·담당 품목군·백업 담당자를 시스템에 등록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2494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2494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60704" y="219456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책임 매트릭스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60704" y="24688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20개 업무 × 5개 역할을 R/A/C/I로 구분하여 권한 경계 확정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" y="3072384"/>
            <a:ext cx="4663440" cy="841248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218688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60704" y="31638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 및 서명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60704" y="34381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준수사항 확인문에 검사원 본인이 전자서명하여 인지 확인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358384" y="1133856"/>
            <a:ext cx="3328416" cy="2157984"/>
          </a:xfrm>
          <a:prstGeom prst="roundRect">
            <a:avLst>
              <a:gd name="adj" fmla="val 1695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58384" y="1133856"/>
            <a:ext cx="3328416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1338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 정의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41264" y="15544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5541264" y="1554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61888" y="15361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1888" y="17190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책임 — 직접 수행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20116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A83232"/>
          </a:solidFill>
          <a:ln/>
        </p:spPr>
      </p:sp>
      <p:sp>
        <p:nvSpPr>
          <p:cNvPr id="32" name="Text 30"/>
          <p:cNvSpPr/>
          <p:nvPr/>
        </p:nvSpPr>
        <p:spPr>
          <a:xfrm>
            <a:off x="5541264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61888" y="19933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61888" y="21762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— 결과 책임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41264" y="24688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9A6B12"/>
          </a:solidFill>
          <a:ln/>
        </p:spPr>
      </p:sp>
      <p:sp>
        <p:nvSpPr>
          <p:cNvPr id="36" name="Text 34"/>
          <p:cNvSpPr/>
          <p:nvPr/>
        </p:nvSpPr>
        <p:spPr>
          <a:xfrm>
            <a:off x="5541264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61888" y="24505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961888" y="26334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— 사전 의견 수렴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41264" y="292608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5A6B7C"/>
          </a:solidFill>
          <a:ln/>
        </p:spPr>
      </p:sp>
      <p:sp>
        <p:nvSpPr>
          <p:cNvPr id="40" name="Text 38"/>
          <p:cNvSpPr/>
          <p:nvPr/>
        </p:nvSpPr>
        <p:spPr>
          <a:xfrm>
            <a:off x="5541264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61888" y="29077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961888" y="309067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공유 — 결과 통보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58384" y="3401568"/>
            <a:ext cx="3328416" cy="310896"/>
          </a:xfrm>
          <a:prstGeom prst="roundRect">
            <a:avLst>
              <a:gd name="adj" fmla="val 11765"/>
            </a:avLst>
          </a:prstGeom>
          <a:solidFill>
            <a:srgbClr val="FFF7E6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58384" y="3401568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RACI 매트릭스는 웹버전에서 처리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" y="411480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57200" y="4114800"/>
            <a:ext cx="45720" cy="32918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Text 45"/>
          <p:cNvSpPr/>
          <p:nvPr/>
        </p:nvSpPr>
        <p:spPr>
          <a:xfrm>
            <a:off x="603504" y="411480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32688" y="4114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실행계획서 웹버전 — RACI 매트릭스 작성</a:t>
            </a:r>
            <a:endParaRPr lang="en-US" sz="1000" dirty="0"/>
          </a:p>
        </p:txBody>
      </p:sp>
      <p:sp>
        <p:nvSpPr>
          <p:cNvPr id="49" name="Text 47">
            <a:hlinkClick r:id="rId1" tooltip=""/>
          </p:cNvPr>
          <p:cNvSpPr/>
          <p:nvPr/>
        </p:nvSpPr>
        <p:spPr>
          <a:xfrm>
            <a:off x="4169664" y="411480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https://insys-hq.github.io/Insys-review/action_plan.html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R&amp;R 확인 — 검사원 준수사항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전자서명으로 인지 확인하는 7개 항목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6984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14300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9264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기준·검사기준서·판정기준은 셰플러 SQM이 정한 바에 따르며, 임의 해석·변경하지 않는다.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64592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9264" y="16002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검사기준서 이상 발견 시 셰플러 SQM에 서면 보고하고, 지시 전까지 검사를 보류한다.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07568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14884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69264" y="21031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판정이 애매한 건은 임의 판단하지 않고 셰플러 SQM에 판단을 요청한다.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9264" y="26060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부적합품의 반품·특채·재작업·폐기는 셰플러 SQM 승인 후에만 처리한다.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8152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SAP와 인시스 업무관리 시스템에 당일 내 각각 기록한다.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65760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9264" y="36118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인시스가 제공하는 교육·훈련에 성실히 참여하고, 습득 내용을 업무에 적용한다.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8736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16052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9264" y="41148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사업장 보안 규정 및 인시스 인력 운영 규정을 준수한다.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프로세스 표준화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표준 Flow Chart — 7단계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접수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납품서·수량 확인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9504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9164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9164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도래 시 실시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02052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1216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18688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18688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98648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선택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98648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등록 품목 드롭다운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09060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4078224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25696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105656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추출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105656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AQL 기준 무작위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16068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5232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32704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32704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12664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12664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대비 확인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323076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9" name="Shape 37"/>
          <p:cNvSpPr/>
          <p:nvPr/>
        </p:nvSpPr>
        <p:spPr>
          <a:xfrm>
            <a:off x="649224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3971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1967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검사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1967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측정기 실측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53008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924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99248" y="1188720"/>
            <a:ext cx="987552" cy="4114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46720" y="1335024"/>
            <a:ext cx="292608" cy="292608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2668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판정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668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합격/불합격/보류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2798064"/>
            <a:ext cx="45720" cy="914400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없음 / 기준서 이상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40080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셰플러 SQM 서면 보고 → 지시 대기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64408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64408" y="2798064"/>
            <a:ext cx="45720" cy="91440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57" name="Text 55"/>
          <p:cNvSpPr/>
          <p:nvPr/>
        </p:nvSpPr>
        <p:spPr>
          <a:xfrm>
            <a:off x="3447288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447288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승인 → SAP 결과 입력 → 지정 위치 이송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71616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71616" y="2798064"/>
            <a:ext cx="45720" cy="9144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1" name="Text 59"/>
          <p:cNvSpPr/>
          <p:nvPr/>
        </p:nvSpPr>
        <p:spPr>
          <a:xfrm>
            <a:off x="6254496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불합격 / 보류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54496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 격리 → SQM 통보 → 승인 후 처리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절차 문서화 및 보고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· 이상 발견 시 보고 절차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114800" cy="3145536"/>
          </a:xfrm>
          <a:prstGeom prst="roundRect">
            <a:avLst>
              <a:gd name="adj" fmla="val 116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71016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124358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 기준서 확인 절차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4944" y="170078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1645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SAP에서 품목번호로 성적서 존재 여부 조회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94944" y="20574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002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Rev.와 기준서 Rev. 대조 (최신 여부)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94944" y="2414016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2359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검사항목·참조 사진 누락 여부 확인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94944" y="2770632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규격값 전 항목 기재 여부 확인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94944" y="312724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0723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품목번호와 실물 일치 여부 확인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694944" y="348386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429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이전 구버전 품목 해당 여부 확인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94944" y="3840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37856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결과를 SAP 특기사항란·시스템에 기록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4809744" y="1097280"/>
            <a:ext cx="3877056" cy="3145536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9744" y="1097280"/>
            <a:ext cx="3877056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0972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 발견 시 보고 절차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10912" y="153619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→ 셰플러 SQM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0912" y="190195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1883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내용 구체 기록 (품목·항목·Rev.)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5010912" y="2286000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10912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76672" y="2267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시스템에 "이상 있음" 저장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5010912" y="2670048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2670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376672" y="2651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담당자에게 서면(이메일) 보고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010912" y="3054096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10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76672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일자·내용·수신자 업무일지 기록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5010912" y="3438144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10912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376672" y="34198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처리 완료 회신 후 재확인·검사 재개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5010912" y="382219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10912" y="3822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76672" y="3803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이력 시스템 기록 (추적 가능)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마인드 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파견 검사원의 기본 마음가짐 7개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인시스의 얼굴이다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78992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업무 태도가 곧 인시스에 대한 평가가 된다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681728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64608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기준은 셰플러가 정하고, 나는 지킨다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0352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품질·판정 기준을 임의 해석하지 않는다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최종 방어선이다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8992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통과시킨 부품은 고객 생산라인으로 직행한다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681728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의심스러우면 멈추고 물어본다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0352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애매한 건은 SQM에 판단을 요청한다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8992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기록하지 않은 것은 하지 않은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78992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구두 확인·구두 보고는 이력이 남지 않는다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681728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4608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관행보다 절차를 우선한다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03520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"원래 이렇게 해왔다"로 확인을 생략하지 않는다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5556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401568"/>
            <a:ext cx="50292" cy="65836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1" name="Shape 39"/>
          <p:cNvSpPr/>
          <p:nvPr/>
        </p:nvSpPr>
        <p:spPr>
          <a:xfrm>
            <a:off x="676656" y="3566160"/>
            <a:ext cx="329184" cy="329184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115568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보고가 최선의 대응이다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15568" y="37490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즉시 보고가 가장 빠른 해결이다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실천 사항 및 부품 취급 표준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시간대별 행동 기준 · 취급 준수사항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144475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출근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335024" y="14264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 확인 · 안전보호구 착용 점검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184708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아침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335024" y="1828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예정 품목 기준서 사전 점검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" y="2212848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2249424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" y="22494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335024" y="22311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 → 내용 검토 → 기록 → 검사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12064" y="2651760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26517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335024" y="26334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펼쳐놓고 항목별 대조 확인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3054096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30540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후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335024" y="3035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+ 소요시간·특이사항 기록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12064" y="345643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34564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시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1335024" y="34381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격리 → SQM 서면 보고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3822192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" y="385876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" y="38587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 전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335024" y="38404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생성 → 보완 → 저장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4809744" y="1078992"/>
            <a:ext cx="3877056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9744" y="1078992"/>
            <a:ext cx="45720" cy="146304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11887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지킬 것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0" y="1463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 취급 전 지정 장갑 착용 확인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5029200" y="170992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지정 트레이·팔레트 위에서만 취급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029200" y="19568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낙하 시 즉시 별도 격리 후 재검사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29200" y="22037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완료품은 지정 위치에 정렬 적재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4809744" y="2651760"/>
            <a:ext cx="3877056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651760"/>
            <a:ext cx="45720" cy="1591056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0" y="27614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사항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303580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맨손으로 만지지 않는다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5029200" y="327355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발로 차거나 밀치지 않는다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5029200" y="35112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박스를 바닥에 던지거나 끌지 않는다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5029200" y="3749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완료품·미검사품을 섞지 않는다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29200" y="398678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부적합품을 일반 자재와 함께 두지 않는다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업무일지 운영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 · 이력 추적 체계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(검사원)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63040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6656" y="1719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· 외관 · 치수 · 판정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066544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66544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21214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" y="2322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내용 (결과는 검사 시 입력)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670048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70048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" y="2926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유형·수량·처리 방법·상태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490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297680" y="1463040"/>
            <a:ext cx="4389120" cy="2011680"/>
          </a:xfrm>
          <a:prstGeom prst="roundRect">
            <a:avLst>
              <a:gd name="adj" fmla="val 1818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1463040"/>
            <a:ext cx="4389120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517136" y="14630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업무 보고 자동 생성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17136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 선택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4645152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자동 · 변경 가능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565392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 요약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6693408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건수 · 합격률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4517136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내역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4645152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테이블 자동 구성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565392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93408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특기사항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6693408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유일하게 직접 입력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457200" y="3529584"/>
            <a:ext cx="8229600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" y="3630168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3602736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및 보고 기준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8368" y="384048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시점: 매일 퇴근 전  |  작성자: 당일 근무 검사원  |  일일: 시스템 조회 · 주간: 금요일 이메일 · 월간: 방문 면담 시 대면  |  보관: 클라우드 영구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133088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57200" y="4133088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Text 43"/>
          <p:cNvSpPr/>
          <p:nvPr/>
        </p:nvSpPr>
        <p:spPr>
          <a:xfrm>
            <a:off x="603504" y="4133088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32688" y="41330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— 일일 업무보고</a:t>
            </a:r>
            <a:endParaRPr lang="en-US" sz="1000" dirty="0"/>
          </a:p>
        </p:txBody>
      </p:sp>
      <p:sp>
        <p:nvSpPr>
          <p:cNvPr id="47" name="Text 45">
            <a:hlinkClick r:id="rId1" tooltip=""/>
          </p:cNvPr>
          <p:cNvSpPr/>
          <p:nvPr/>
        </p:nvSpPr>
        <p:spPr>
          <a:xfrm>
            <a:off x="4169664" y="413308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기반 모니터링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 — 7개 메뉴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관리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등록 · 확인 주기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56032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등록 · 결과 연동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6344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선택 · 외관/치수/판정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6656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 · SQM 통보 · 추적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720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취합 · 인쇄 출력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256032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교육·방문면담·역량평가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66344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업무지원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소모품 · 안전용품 신청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457200" y="2770632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585216" y="274320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지표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57200" y="3072384"/>
            <a:ext cx="8229600" cy="31089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011680" y="3072384"/>
            <a:ext cx="33832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항목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9496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49440" y="3072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주체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3346704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346704"/>
            <a:ext cx="15544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실적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011680" y="3346704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검사 건수 · 합격률 · 판정 현황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94960" y="33467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49440" y="334670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 · 관리자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3694176"/>
            <a:ext cx="15544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대기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011680" y="3694176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이상 회신 대기 · 부적합 승인 대기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369417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49440" y="369417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관리자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041648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041648"/>
            <a:ext cx="15544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2011680" y="4041648"/>
            <a:ext cx="33832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주기 도래 · 교육 · 면담 · 평가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394960" y="40416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· 분기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949440" y="40416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송지원 대표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4279392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57200" y="4279392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0" name="Text 58"/>
          <p:cNvSpPr/>
          <p:nvPr/>
        </p:nvSpPr>
        <p:spPr>
          <a:xfrm>
            <a:off x="603504" y="4279392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932688" y="42793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— 실시간 현황 조회</a:t>
            </a:r>
            <a:endParaRPr lang="en-US" sz="1000" dirty="0"/>
          </a:p>
        </p:txBody>
      </p:sp>
      <p:sp>
        <p:nvSpPr>
          <p:cNvPr id="62" name="Text 60">
            <a:hlinkClick r:id="rId1" tooltip=""/>
          </p:cNvPr>
          <p:cNvSpPr/>
          <p:nvPr/>
        </p:nvSpPr>
        <p:spPr>
          <a:xfrm>
            <a:off x="4169664" y="427939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계정 · 접근 권한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소속별 권한 구분 — ㈜인시스 전체 권한 / 셰플러 부분 권한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2529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22529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81328" y="11704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계정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81328" y="139903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메뉴 등록·수정·삭제 (품목·측정의뢰·수입검사·부적합·보고서 등)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173736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186537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0B4F6C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186537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81328" y="18105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이천공장 송지원 대표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203911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확인 및 승인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57200" y="237744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50545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50545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81328" y="24505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계정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81328" y="267919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품목관리·측정의뢰 전체 권한 / 그 외 메뉴 열람만 가능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457200" y="3017520"/>
            <a:ext cx="822960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145536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B8860B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145536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81328" y="3090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 계정 등록 요청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81328" y="331927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임시 비밀번호 메일 발송 → 로그인 후 소속 선택 및 비밀번호 변경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3712464"/>
            <a:ext cx="8229600" cy="475488"/>
          </a:xfrm>
          <a:prstGeom prst="roundRect">
            <a:avLst>
              <a:gd name="adj" fmla="val 7692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375818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3959352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주간: 매주 금요일 이메일 보고   |   월간: 월말 방문 면담 시 대면 보고   |   수시: 시스템 실시간 조회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429768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" y="4297680"/>
            <a:ext cx="45720" cy="32918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603504" y="429768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32688" y="42976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접속</a:t>
            </a:r>
            <a:endParaRPr lang="en-US" sz="1000" dirty="0"/>
          </a:p>
        </p:txBody>
      </p:sp>
      <p:sp>
        <p:nvSpPr>
          <p:cNvPr id="36" name="Text 34">
            <a:hlinkClick r:id="rId1" tooltip=""/>
          </p:cNvPr>
          <p:cNvSpPr/>
          <p:nvPr/>
        </p:nvSpPr>
        <p:spPr>
          <a:xfrm>
            <a:off x="4169664" y="4297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환경 구축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인트라넷과 분리된 독립 네트워크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2468880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5A6B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통제 구역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단말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40080" y="215798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157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시스템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487168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인터넷 차단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0080" y="281635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16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저장매체 통제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127248" y="1993392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32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27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71216" y="252374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분리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41648" y="1133856"/>
            <a:ext cx="4645152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독립 네트워크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041648" y="153619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기반 · 무선 통신망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24528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9392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79392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/ 5G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577840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2" name="Shape 30"/>
          <p:cNvSpPr/>
          <p:nvPr/>
        </p:nvSpPr>
        <p:spPr>
          <a:xfrm>
            <a:off x="5705856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60720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전용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7059168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Shape 34"/>
          <p:cNvSpPr/>
          <p:nvPr/>
        </p:nvSpPr>
        <p:spPr>
          <a:xfrm>
            <a:off x="7187184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42048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42048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DB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4041648" y="2743200"/>
            <a:ext cx="4645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육안 확인 후 수기 입력 — 셰플러 자료 직접 연동 없음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3383280"/>
            <a:ext cx="8229600" cy="87782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383280"/>
            <a:ext cx="45720" cy="8778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2" name="Text 40"/>
          <p:cNvSpPr/>
          <p:nvPr/>
        </p:nvSpPr>
        <p:spPr>
          <a:xfrm>
            <a:off x="676656" y="34930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원칙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76656" y="3730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노트북은 업무 전용으로만 사용  ·  셰플러망 PC와 저장매체 공유 금지  ·  화면 잠금·비밀번호 설정  ·  퇴근 시 지정 장소 시건 보관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유선 LAN·사내 Wi-Fi 연결 금지  ·  도면·기준서 원본 파일 저장 금지  ·  검사 결과는 수치·판정만 입력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일정 및 담당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담당자 및 완료 목표 일정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8229600" cy="329184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043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987552" y="1170432"/>
            <a:ext cx="252374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항목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3566160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산출물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632704" y="1170432"/>
            <a:ext cx="1207008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876288" y="11704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662672" y="1170432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57200" y="1481328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8132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987552" y="1481328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3566160" y="1481328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정의서 · RACI · 전자서명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632704" y="148132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6876288" y="148132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35824" y="152704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35824" y="152704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457200" y="182880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87552" y="1828800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566160" y="1828800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절차서 · SOP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5632704" y="182880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876288" y="1828800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35824" y="187452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87452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57200" y="2176272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176272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987552" y="2176272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3566160" y="2176272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교육 이력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632704" y="2176272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6876288" y="2176272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735824" y="222199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35824" y="2221992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457200" y="252374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87552" y="2523744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3566160" y="2523744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생성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632704" y="2523744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6876288" y="2523744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7735824" y="256946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35824" y="2569464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57200" y="2871216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287121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987552" y="2871216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030" dirty="0"/>
          </a:p>
        </p:txBody>
      </p:sp>
      <p:sp>
        <p:nvSpPr>
          <p:cNvPr id="46" name="Text 44"/>
          <p:cNvSpPr/>
          <p:nvPr/>
        </p:nvSpPr>
        <p:spPr>
          <a:xfrm>
            <a:off x="3566160" y="2871216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· 실시간 현황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5632704" y="2871216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6876288" y="2871216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7735824" y="291693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5824" y="291693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1" name="Text 49"/>
          <p:cNvSpPr/>
          <p:nvPr/>
        </p:nvSpPr>
        <p:spPr>
          <a:xfrm>
            <a:off x="457200" y="32186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987552" y="3218688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030" dirty="0"/>
          </a:p>
        </p:txBody>
      </p:sp>
      <p:sp>
        <p:nvSpPr>
          <p:cNvPr id="53" name="Text 51"/>
          <p:cNvSpPr/>
          <p:nvPr/>
        </p:nvSpPr>
        <p:spPr>
          <a:xfrm>
            <a:off x="3566160" y="3218688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· 전용 노트북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632704" y="3218688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55" name="Text 53"/>
          <p:cNvSpPr/>
          <p:nvPr/>
        </p:nvSpPr>
        <p:spPr>
          <a:xfrm>
            <a:off x="6876288" y="3218688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7735824" y="326440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35824" y="326440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457200" y="3566160"/>
            <a:ext cx="8229600" cy="34747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3566160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987552" y="3566160"/>
            <a:ext cx="2523744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 체계 운영</a:t>
            </a:r>
            <a:endParaRPr lang="en-US" sz="1030" dirty="0"/>
          </a:p>
        </p:txBody>
      </p:sp>
      <p:sp>
        <p:nvSpPr>
          <p:cNvPr id="61" name="Text 59"/>
          <p:cNvSpPr/>
          <p:nvPr/>
        </p:nvSpPr>
        <p:spPr>
          <a:xfrm>
            <a:off x="3566160" y="3566160"/>
            <a:ext cx="2011680" cy="34747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1회 방문 면담 · 역량평가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5632704" y="3566160"/>
            <a:ext cx="1207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63" name="Text 61"/>
          <p:cNvSpPr/>
          <p:nvPr/>
        </p:nvSpPr>
        <p:spPr>
          <a:xfrm>
            <a:off x="6876288" y="3566160"/>
            <a:ext cx="749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64" name="Shape 62"/>
          <p:cNvSpPr/>
          <p:nvPr/>
        </p:nvSpPr>
        <p:spPr>
          <a:xfrm>
            <a:off x="7735824" y="361188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35824" y="361188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457200" y="3968496"/>
            <a:ext cx="8229600" cy="329184"/>
          </a:xfrm>
          <a:prstGeom prst="roundRect">
            <a:avLst>
              <a:gd name="adj" fmla="val 11111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" y="39684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  —  주간: 금요일 이메일   |   월간: 방문 면담 시 대면   |   수시: 시스템 실시간 조회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297680"/>
            <a:ext cx="8229600" cy="329184"/>
          </a:xfrm>
          <a:prstGeom prst="roundRect">
            <a:avLst>
              <a:gd name="adj" fmla="val 1388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57200" y="4297680"/>
            <a:ext cx="45720" cy="329184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70" name="Text 68"/>
          <p:cNvSpPr/>
          <p:nvPr/>
        </p:nvSpPr>
        <p:spPr>
          <a:xfrm>
            <a:off x="603504" y="4297680"/>
            <a:ext cx="310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932688" y="42976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1000" dirty="0"/>
          </a:p>
        </p:txBody>
      </p:sp>
      <p:sp>
        <p:nvSpPr>
          <p:cNvPr id="72" name="Text 70">
            <a:hlinkClick r:id="rId1" tooltip=""/>
          </p:cNvPr>
          <p:cNvSpPr/>
          <p:nvPr/>
        </p:nvSpPr>
        <p:spPr>
          <a:xfrm>
            <a:off x="4169664" y="4297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https://insys-hq.github.io/Insys-review/ims.html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74" name="Text 7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v4.4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108960"/>
            <a:ext cx="2560320" cy="2560320"/>
          </a:xfrm>
          <a:prstGeom prst="ellipse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25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지속적인 개선을 약속드립니다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9144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322576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23113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완전성을 입고 여부와 무관하게 설정 주기에 따라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2743200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517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확인·조치를 서면으로 기록하여 추적 가능한 체계 유지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737360" y="3163824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307238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시 구버전 기준서 동시 점검 절차 준수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584448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34930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SQM과의 긴밀한 소통으로 품질 이슈 조기 해소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 ·   2026. 08. 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2026-08-06T23:20:59Z</dcterms:created>
  <dcterms:modified xsi:type="dcterms:W3CDTF">2026-08-06T23:20:59Z</dcterms:modified>
</cp:coreProperties>
</file>