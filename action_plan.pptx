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셰플러 SQM 요청에 따른 수입검사 업무 개선 실행계획서입니다. 6개 항목으로 구성되어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01~05는 셰플러 SQM이 요청한 항목이고, 06은 인시스가 자체적으로 추가한 항목입니다.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R&amp;R은 매핑표 등록 → RACI 매트릭스 작성 → 전자서명 확인의 3단계로 진행합니다. RACI 매트릭스 작성은 웹버전 실행계획서에서 직접 수행합니다.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7개 항목 모두 셰플러 SQM의 품질 권한을 존중하는 내용으로 구성되어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7단계 표준 프로세스와 3가지 분기 처리 방식을 정의했습니다.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기준서·판정기준은 셰플러 SQM 소관이므로, 인시스는 확인하고 이상 시 보고하는 역할입니다.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교육 시 반복적으로 강조하는 핵심 마음가짐입니다.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부품 취급 표준은 품질 확보를 위한 필수 준수사항으로 교육 시 반복 강조합니다.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3개 데이터 소스를 자동 취합하여 일일 업무보고를 생성합니다.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7개 메뉴로 구성된 업무관리 시스템에서 실시간 현황을 확인할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작성·승인·열람 권한을 명확히 구분하여 운영합니다.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셰플러 보안 정책을 준수하기 위해 물리적으로 완전 분리된 독립망을 구성합니다.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7개 항목의 담당자와 완료 목표일입니다. 진행 현황은 주간·월간으로 공유합니다.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실행계획서 마무리 슬라이드입니다.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hyperlink" Target="https://insys-hq.github.io/Insys-review/ims.html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hyperlink" Target="https://insys-hq.github.io/Insys-review/action_plan.html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0B4F6C"/>
          </a:solidFill>
          <a:ln/>
        </p:spPr>
      </p:sp>
      <p:sp>
        <p:nvSpPr>
          <p:cNvPr id="4" name="Shape 2"/>
          <p:cNvSpPr/>
          <p:nvPr/>
        </p:nvSpPr>
        <p:spPr>
          <a:xfrm>
            <a:off x="146304" y="0"/>
            <a:ext cx="8997696" cy="128016"/>
          </a:xfrm>
          <a:prstGeom prst="rect">
            <a:avLst/>
          </a:prstGeom>
          <a:solidFill>
            <a:srgbClr val="DCE6EE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0" y="548640"/>
            <a:ext cx="2743200" cy="2743200"/>
          </a:xfrm>
          <a:prstGeom prst="ellipse">
            <a:avLst/>
          </a:prstGeom>
          <a:solidFill>
            <a:srgbClr val="EEF3F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0" y="2926080"/>
            <a:ext cx="1463040" cy="1463040"/>
          </a:xfrm>
          <a:prstGeom prst="ellipse">
            <a:avLst/>
          </a:prstGeom>
          <a:solidFill>
            <a:srgbClr val="DCE6E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0515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SCHAEFFLER ICHEON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58368" y="1389888"/>
            <a:ext cx="5852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수입검사 업무</a:t>
            </a:r>
            <a:endParaRPr lang="en-US" sz="38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실행계획서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658368" y="2852928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업무 범위 명확화 · 프로세스 표준화 · 지속 모니터링 체계 구축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58368" y="3383280"/>
            <a:ext cx="1280160" cy="27432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" y="35844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㈜인시스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58368" y="387705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2026. 08. 07   |   v4.6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9184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6대 실행 항목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SQM 요청 5개 항목 + 인시스 자체 추진 1개 항목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57200" y="1042416"/>
            <a:ext cx="8229600" cy="16459"/>
          </a:xfrm>
          <a:prstGeom prst="rect">
            <a:avLst/>
          </a:prstGeom>
          <a:solidFill>
            <a:srgbClr val="0B4F6C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207008"/>
            <a:ext cx="2624328" cy="1426464"/>
          </a:xfrm>
          <a:prstGeom prst="roundRect">
            <a:avLst>
              <a:gd name="adj" fmla="val 2564"/>
            </a:avLst>
          </a:prstGeom>
          <a:solidFill>
            <a:srgbClr val="FAFBFC"/>
          </a:solidFill>
          <a:ln w="12700">
            <a:solidFill>
              <a:srgbClr val="C4D2D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207008"/>
            <a:ext cx="50292" cy="1426464"/>
          </a:xfrm>
          <a:prstGeom prst="rect">
            <a:avLst/>
          </a:prstGeom>
          <a:solidFill>
            <a:srgbClr val="0B4F6C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1353312"/>
            <a:ext cx="365760" cy="365760"/>
          </a:xfrm>
          <a:prstGeom prst="ellipse">
            <a:avLst/>
          </a:prstGeom>
          <a:solidFill>
            <a:srgbClr val="0B4F6C"/>
          </a:solidFill>
          <a:ln w="12700">
            <a:solidFill>
              <a:srgbClr val="0B4F6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3533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286000" y="1389888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SQM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40080" y="179222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업무 Scope · R&amp;R 명확화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40080" y="2066544"/>
            <a:ext cx="22860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3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검사원별 업무·권한·책임 정의</a:t>
            </a:r>
            <a:endParaRPr lang="en-US" sz="93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3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RACI 매트릭스 · 전자서명 확인</a:t>
            </a:r>
            <a:endParaRPr lang="en-US" sz="930" dirty="0"/>
          </a:p>
        </p:txBody>
      </p:sp>
      <p:sp>
        <p:nvSpPr>
          <p:cNvPr id="13" name="Shape 11"/>
          <p:cNvSpPr/>
          <p:nvPr/>
        </p:nvSpPr>
        <p:spPr>
          <a:xfrm>
            <a:off x="3264408" y="1207008"/>
            <a:ext cx="2624328" cy="1426464"/>
          </a:xfrm>
          <a:prstGeom prst="roundRect">
            <a:avLst>
              <a:gd name="adj" fmla="val 2564"/>
            </a:avLst>
          </a:prstGeom>
          <a:solidFill>
            <a:srgbClr val="FAFBFC"/>
          </a:solidFill>
          <a:ln w="12700">
            <a:solidFill>
              <a:srgbClr val="C4D2D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64408" y="1207008"/>
            <a:ext cx="50292" cy="1426464"/>
          </a:xfrm>
          <a:prstGeom prst="rect">
            <a:avLst/>
          </a:prstGeom>
          <a:solidFill>
            <a:srgbClr val="0B4F6C"/>
          </a:solidFill>
          <a:ln/>
        </p:spPr>
      </p:sp>
      <p:sp>
        <p:nvSpPr>
          <p:cNvPr id="15" name="Shape 13"/>
          <p:cNvSpPr/>
          <p:nvPr/>
        </p:nvSpPr>
        <p:spPr>
          <a:xfrm>
            <a:off x="3447288" y="1353312"/>
            <a:ext cx="365760" cy="365760"/>
          </a:xfrm>
          <a:prstGeom prst="ellipse">
            <a:avLst/>
          </a:prstGeom>
          <a:solidFill>
            <a:srgbClr val="0B4F6C"/>
          </a:solidFill>
          <a:ln w="12700">
            <a:solidFill>
              <a:srgbClr val="0B4F6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47288" y="13533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093208" y="1389888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SQM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447288" y="179222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업무 프로세스 표준화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3447288" y="2066544"/>
            <a:ext cx="22860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3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수입검사 Flow Chart 7단계</a:t>
            </a:r>
            <a:endParaRPr lang="en-US" sz="93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3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기준서 확인 절차 문서화</a:t>
            </a:r>
            <a:endParaRPr lang="en-US" sz="930" dirty="0"/>
          </a:p>
        </p:txBody>
      </p:sp>
      <p:sp>
        <p:nvSpPr>
          <p:cNvPr id="20" name="Shape 18"/>
          <p:cNvSpPr/>
          <p:nvPr/>
        </p:nvSpPr>
        <p:spPr>
          <a:xfrm>
            <a:off x="6071616" y="1207008"/>
            <a:ext cx="2624328" cy="1426464"/>
          </a:xfrm>
          <a:prstGeom prst="roundRect">
            <a:avLst>
              <a:gd name="adj" fmla="val 2564"/>
            </a:avLst>
          </a:prstGeom>
          <a:solidFill>
            <a:srgbClr val="FAFBFC"/>
          </a:solidFill>
          <a:ln w="12700">
            <a:solidFill>
              <a:srgbClr val="C4D2D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071616" y="1207008"/>
            <a:ext cx="50292" cy="1426464"/>
          </a:xfrm>
          <a:prstGeom prst="rect">
            <a:avLst/>
          </a:prstGeom>
          <a:solidFill>
            <a:srgbClr val="0B4F6C"/>
          </a:solidFill>
          <a:ln/>
        </p:spPr>
      </p:sp>
      <p:sp>
        <p:nvSpPr>
          <p:cNvPr id="22" name="Shape 20"/>
          <p:cNvSpPr/>
          <p:nvPr/>
        </p:nvSpPr>
        <p:spPr>
          <a:xfrm>
            <a:off x="6254496" y="1353312"/>
            <a:ext cx="365760" cy="365760"/>
          </a:xfrm>
          <a:prstGeom prst="ellipse">
            <a:avLst/>
          </a:prstGeom>
          <a:solidFill>
            <a:srgbClr val="0B4F6C"/>
          </a:solidFill>
          <a:ln w="12700">
            <a:solidFill>
              <a:srgbClr val="0B4F6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54496" y="13533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900416" y="1389888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SQM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254496" y="179222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품질 마인드 강화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254496" y="2066544"/>
            <a:ext cx="22860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3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행동 지침서 · 부품 취급 표준</a:t>
            </a:r>
            <a:endParaRPr lang="en-US" sz="93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3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교육 및 공유 이력 관리</a:t>
            </a:r>
            <a:endParaRPr lang="en-US" sz="930" dirty="0"/>
          </a:p>
        </p:txBody>
      </p:sp>
      <p:sp>
        <p:nvSpPr>
          <p:cNvPr id="27" name="Shape 25"/>
          <p:cNvSpPr/>
          <p:nvPr/>
        </p:nvSpPr>
        <p:spPr>
          <a:xfrm>
            <a:off x="457200" y="2779776"/>
            <a:ext cx="2624328" cy="1426464"/>
          </a:xfrm>
          <a:prstGeom prst="roundRect">
            <a:avLst>
              <a:gd name="adj" fmla="val 2564"/>
            </a:avLst>
          </a:prstGeom>
          <a:solidFill>
            <a:srgbClr val="FAFBFC"/>
          </a:solidFill>
          <a:ln w="12700">
            <a:solidFill>
              <a:srgbClr val="C4D2D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" y="2779776"/>
            <a:ext cx="50292" cy="1426464"/>
          </a:xfrm>
          <a:prstGeom prst="rect">
            <a:avLst/>
          </a:prstGeom>
          <a:solidFill>
            <a:srgbClr val="0B4F6C"/>
          </a:solidFill>
          <a:ln/>
        </p:spPr>
      </p:sp>
      <p:sp>
        <p:nvSpPr>
          <p:cNvPr id="29" name="Shape 27"/>
          <p:cNvSpPr/>
          <p:nvPr/>
        </p:nvSpPr>
        <p:spPr>
          <a:xfrm>
            <a:off x="640080" y="2926080"/>
            <a:ext cx="365760" cy="365760"/>
          </a:xfrm>
          <a:prstGeom prst="ellipse">
            <a:avLst/>
          </a:prstGeom>
          <a:solidFill>
            <a:srgbClr val="0B4F6C"/>
          </a:solidFill>
          <a:ln w="12700">
            <a:solidFill>
              <a:srgbClr val="0B4F6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2926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2286000" y="2962656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SQM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40080" y="336499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업무일지 운영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640080" y="3639312"/>
            <a:ext cx="22860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3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일일 업무보고 자동 취합</a:t>
            </a:r>
            <a:endParaRPr lang="en-US" sz="93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3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이력 추적·관리 체계 수립</a:t>
            </a:r>
            <a:endParaRPr lang="en-US" sz="930" dirty="0"/>
          </a:p>
        </p:txBody>
      </p:sp>
      <p:sp>
        <p:nvSpPr>
          <p:cNvPr id="34" name="Shape 32"/>
          <p:cNvSpPr/>
          <p:nvPr/>
        </p:nvSpPr>
        <p:spPr>
          <a:xfrm>
            <a:off x="3264408" y="2779776"/>
            <a:ext cx="2624328" cy="1426464"/>
          </a:xfrm>
          <a:prstGeom prst="roundRect">
            <a:avLst>
              <a:gd name="adj" fmla="val 2564"/>
            </a:avLst>
          </a:prstGeom>
          <a:solidFill>
            <a:srgbClr val="FAFBFC"/>
          </a:solidFill>
          <a:ln w="12700">
            <a:solidFill>
              <a:srgbClr val="C4D2D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64408" y="2779776"/>
            <a:ext cx="50292" cy="1426464"/>
          </a:xfrm>
          <a:prstGeom prst="rect">
            <a:avLst/>
          </a:prstGeom>
          <a:solidFill>
            <a:srgbClr val="0B4F6C"/>
          </a:solidFill>
          <a:ln/>
        </p:spPr>
      </p:sp>
      <p:sp>
        <p:nvSpPr>
          <p:cNvPr id="36" name="Shape 34"/>
          <p:cNvSpPr/>
          <p:nvPr/>
        </p:nvSpPr>
        <p:spPr>
          <a:xfrm>
            <a:off x="3447288" y="2926080"/>
            <a:ext cx="365760" cy="365760"/>
          </a:xfrm>
          <a:prstGeom prst="ellipse">
            <a:avLst/>
          </a:prstGeom>
          <a:solidFill>
            <a:srgbClr val="0B4F6C"/>
          </a:solidFill>
          <a:ln w="12700">
            <a:solidFill>
              <a:srgbClr val="0B4F6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447288" y="2926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5093208" y="2962656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SQM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3447288" y="336499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기반 모니터링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3447288" y="3639312"/>
            <a:ext cx="22860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3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업무 진행 현황 실시간 관리</a:t>
            </a:r>
            <a:endParaRPr lang="en-US" sz="93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3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실적·운영 현황 보고 체계</a:t>
            </a:r>
            <a:endParaRPr lang="en-US" sz="930" dirty="0"/>
          </a:p>
        </p:txBody>
      </p:sp>
      <p:sp>
        <p:nvSpPr>
          <p:cNvPr id="41" name="Shape 39"/>
          <p:cNvSpPr/>
          <p:nvPr/>
        </p:nvSpPr>
        <p:spPr>
          <a:xfrm>
            <a:off x="6071616" y="2779776"/>
            <a:ext cx="2624328" cy="1426464"/>
          </a:xfrm>
          <a:prstGeom prst="roundRect">
            <a:avLst>
              <a:gd name="adj" fmla="val 2564"/>
            </a:avLst>
          </a:prstGeom>
          <a:solidFill>
            <a:srgbClr val="FAFBFC"/>
          </a:solidFill>
          <a:ln w="12700">
            <a:solidFill>
              <a:srgbClr val="C4D2DD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071616" y="2779776"/>
            <a:ext cx="50292" cy="1426464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43" name="Shape 41"/>
          <p:cNvSpPr/>
          <p:nvPr/>
        </p:nvSpPr>
        <p:spPr>
          <a:xfrm>
            <a:off x="6254496" y="2926080"/>
            <a:ext cx="365760" cy="365760"/>
          </a:xfrm>
          <a:prstGeom prst="ellipse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254496" y="2926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7900416" y="2962656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인시스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6254496" y="336499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시스템 환경 구축</a:t>
            </a:r>
            <a:endParaRPr lang="en-US" sz="1250" dirty="0"/>
          </a:p>
        </p:txBody>
      </p:sp>
      <p:sp>
        <p:nvSpPr>
          <p:cNvPr id="47" name="Text 45"/>
          <p:cNvSpPr/>
          <p:nvPr/>
        </p:nvSpPr>
        <p:spPr>
          <a:xfrm>
            <a:off x="6254496" y="3639312"/>
            <a:ext cx="22860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3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독립 네트워크 · 전용 단말</a:t>
            </a:r>
            <a:endParaRPr lang="en-US" sz="93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3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보안 정책 준수 환경 조성</a:t>
            </a:r>
            <a:endParaRPr lang="en-US" sz="930" dirty="0"/>
          </a:p>
        </p:txBody>
      </p:sp>
      <p:sp>
        <p:nvSpPr>
          <p:cNvPr id="48" name="Shape 46"/>
          <p:cNvSpPr/>
          <p:nvPr/>
        </p:nvSpPr>
        <p:spPr>
          <a:xfrm>
            <a:off x="457200" y="4279392"/>
            <a:ext cx="8229600" cy="329184"/>
          </a:xfrm>
          <a:prstGeom prst="roundRect">
            <a:avLst>
              <a:gd name="adj" fmla="val 13889"/>
            </a:avLst>
          </a:prstGeom>
          <a:solidFill>
            <a:srgbClr val="FAFBFC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57200" y="4279392"/>
            <a:ext cx="45720" cy="32918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0" name="Text 48"/>
          <p:cNvSpPr/>
          <p:nvPr/>
        </p:nvSpPr>
        <p:spPr>
          <a:xfrm>
            <a:off x="603504" y="4279392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932688" y="4279392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수입검사 업무관리 시스템</a:t>
            </a:r>
            <a:endParaRPr lang="en-US" sz="1000" dirty="0"/>
          </a:p>
        </p:txBody>
      </p:sp>
      <p:sp>
        <p:nvSpPr>
          <p:cNvPr id="52" name="Text 50">
            <a:hlinkClick r:id="rId1" tooltip=""/>
          </p:cNvPr>
          <p:cNvSpPr/>
          <p:nvPr/>
        </p:nvSpPr>
        <p:spPr>
          <a:xfrm>
            <a:off x="4169664" y="4279392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u="sng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https://insys-hq.github.io/Insys-review/ims.html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457200" y="4718304"/>
            <a:ext cx="8229600" cy="10973"/>
          </a:xfrm>
          <a:prstGeom prst="rect">
            <a:avLst/>
          </a:prstGeom>
          <a:solidFill>
            <a:srgbClr val="C4D2DD"/>
          </a:solidFill>
          <a:ln/>
        </p:spPr>
      </p:sp>
      <p:sp>
        <p:nvSpPr>
          <p:cNvPr id="54" name="Text 52"/>
          <p:cNvSpPr/>
          <p:nvPr/>
        </p:nvSpPr>
        <p:spPr>
          <a:xfrm>
            <a:off x="457200" y="4773168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㈜인시스  ·  셰플러 이천공장 수입검사 실행계획서 v4.6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8275320" y="4773168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896112"/>
          </a:xfrm>
          <a:prstGeom prst="rect">
            <a:avLst/>
          </a:prstGeom>
          <a:solidFill>
            <a:srgbClr val="EEF3F7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896112"/>
            <a:ext cx="9144000" cy="20117"/>
          </a:xfrm>
          <a:prstGeom prst="rect">
            <a:avLst/>
          </a:prstGeom>
          <a:solidFill>
            <a:srgbClr val="0B4F6C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219456"/>
            <a:ext cx="457200" cy="457200"/>
          </a:xfrm>
          <a:prstGeom prst="ellipse">
            <a:avLst/>
          </a:prstGeom>
          <a:solidFill>
            <a:srgbClr val="0B4F6C"/>
          </a:solidFill>
          <a:ln w="12700">
            <a:solidFill>
              <a:srgbClr val="0B4F6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194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42416" y="18288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업무 Scope · R&amp;R 명확화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42416" y="548640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검사원별 담당 업무·권한·책임을 명확히 정의하고 인지 체계 구축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1133856"/>
            <a:ext cx="4663440" cy="841248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C4D2D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280160"/>
            <a:ext cx="292608" cy="29260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12801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060704" y="1225296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담당 업무 범위 매핑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060704" y="1499616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8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검사원별 성명·직급·담당 품목군·백업 담당자를 시스템에 등록</a:t>
            </a:r>
            <a:endParaRPr lang="en-US" sz="980" dirty="0"/>
          </a:p>
        </p:txBody>
      </p:sp>
      <p:sp>
        <p:nvSpPr>
          <p:cNvPr id="14" name="Shape 12"/>
          <p:cNvSpPr/>
          <p:nvPr/>
        </p:nvSpPr>
        <p:spPr>
          <a:xfrm>
            <a:off x="457200" y="2103120"/>
            <a:ext cx="4663440" cy="841248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C4D2D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58368" y="2249424"/>
            <a:ext cx="292608" cy="29260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" y="22494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060704" y="219456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RACI 책임 매트릭스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060704" y="246888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8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20개 업무 × 5개 역할을 R/A/C/I로 구분하여 권한 경계 확정</a:t>
            </a:r>
            <a:endParaRPr lang="en-US" sz="980" dirty="0"/>
          </a:p>
        </p:txBody>
      </p:sp>
      <p:sp>
        <p:nvSpPr>
          <p:cNvPr id="19" name="Shape 17"/>
          <p:cNvSpPr/>
          <p:nvPr/>
        </p:nvSpPr>
        <p:spPr>
          <a:xfrm>
            <a:off x="457200" y="3072384"/>
            <a:ext cx="4663440" cy="841248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C4D2D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8368" y="3218688"/>
            <a:ext cx="292608" cy="29260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" y="32186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060704" y="3163824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공유 및 서명 확인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060704" y="3438144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8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7개 준수사항 확인문에 검사원 본인이 전자서명하여 인지 확인</a:t>
            </a:r>
            <a:endParaRPr lang="en-US" sz="980" dirty="0"/>
          </a:p>
        </p:txBody>
      </p:sp>
      <p:sp>
        <p:nvSpPr>
          <p:cNvPr id="24" name="Shape 22"/>
          <p:cNvSpPr/>
          <p:nvPr/>
        </p:nvSpPr>
        <p:spPr>
          <a:xfrm>
            <a:off x="5358384" y="1133856"/>
            <a:ext cx="3328416" cy="2157984"/>
          </a:xfrm>
          <a:prstGeom prst="roundRect">
            <a:avLst>
              <a:gd name="adj" fmla="val 1695"/>
            </a:avLst>
          </a:prstGeom>
          <a:solidFill>
            <a:srgbClr val="FAFBFC"/>
          </a:solidFill>
          <a:ln w="12700">
            <a:solidFill>
              <a:srgbClr val="0B4F6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358384" y="1133856"/>
            <a:ext cx="3328416" cy="365760"/>
          </a:xfrm>
          <a:prstGeom prst="rect">
            <a:avLst/>
          </a:prstGeom>
          <a:solidFill>
            <a:srgbClr val="DCE6EE"/>
          </a:solidFill>
          <a:ln/>
        </p:spPr>
      </p:sp>
      <p:sp>
        <p:nvSpPr>
          <p:cNvPr id="26" name="Text 24"/>
          <p:cNvSpPr/>
          <p:nvPr/>
        </p:nvSpPr>
        <p:spPr>
          <a:xfrm>
            <a:off x="5541264" y="1133856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RACI 정의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541264" y="1554480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1C7293"/>
          </a:solidFill>
          <a:ln/>
        </p:spPr>
      </p:sp>
      <p:sp>
        <p:nvSpPr>
          <p:cNvPr id="28" name="Text 26"/>
          <p:cNvSpPr/>
          <p:nvPr/>
        </p:nvSpPr>
        <p:spPr>
          <a:xfrm>
            <a:off x="5541264" y="15544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961888" y="153619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961888" y="1719072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실행 책임 — 직접 수행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5541264" y="2011680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A83232"/>
          </a:solidFill>
          <a:ln/>
        </p:spPr>
      </p:sp>
      <p:sp>
        <p:nvSpPr>
          <p:cNvPr id="32" name="Text 30"/>
          <p:cNvSpPr/>
          <p:nvPr/>
        </p:nvSpPr>
        <p:spPr>
          <a:xfrm>
            <a:off x="5541264" y="20116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961888" y="199339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Accountable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961888" y="2176272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최종 승인 — 결과 책임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541264" y="2468880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9A6B12"/>
          </a:solidFill>
          <a:ln/>
        </p:spPr>
      </p:sp>
      <p:sp>
        <p:nvSpPr>
          <p:cNvPr id="36" name="Text 34"/>
          <p:cNvSpPr/>
          <p:nvPr/>
        </p:nvSpPr>
        <p:spPr>
          <a:xfrm>
            <a:off x="5541264" y="24688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961888" y="245059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Consulted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5961888" y="2633472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협의 — 사전 의견 수렴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5541264" y="2926080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5A6B7C"/>
          </a:solidFill>
          <a:ln/>
        </p:spPr>
      </p:sp>
      <p:sp>
        <p:nvSpPr>
          <p:cNvPr id="40" name="Text 38"/>
          <p:cNvSpPr/>
          <p:nvPr/>
        </p:nvSpPr>
        <p:spPr>
          <a:xfrm>
            <a:off x="5541264" y="29260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961888" y="290779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Informed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5961888" y="3090672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정보 공유 — 결과 통보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5358384" y="3401568"/>
            <a:ext cx="3328416" cy="310896"/>
          </a:xfrm>
          <a:prstGeom prst="roundRect">
            <a:avLst>
              <a:gd name="adj" fmla="val 11765"/>
            </a:avLst>
          </a:prstGeom>
          <a:solidFill>
            <a:srgbClr val="FFF7E6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358384" y="3401568"/>
            <a:ext cx="3328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 RACI 매트릭스는 웹버전에서 처리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57200" y="4114800"/>
            <a:ext cx="8229600" cy="329184"/>
          </a:xfrm>
          <a:prstGeom prst="roundRect">
            <a:avLst>
              <a:gd name="adj" fmla="val 13889"/>
            </a:avLst>
          </a:prstGeom>
          <a:solidFill>
            <a:srgbClr val="FAFBFC"/>
          </a:solidFill>
          <a:ln w="12700">
            <a:solidFill>
              <a:srgbClr val="0B4F6C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57200" y="4114800"/>
            <a:ext cx="45720" cy="329184"/>
          </a:xfrm>
          <a:prstGeom prst="rect">
            <a:avLst/>
          </a:prstGeom>
          <a:solidFill>
            <a:srgbClr val="0B4F6C"/>
          </a:solidFill>
          <a:ln/>
        </p:spPr>
      </p:sp>
      <p:sp>
        <p:nvSpPr>
          <p:cNvPr id="47" name="Text 45"/>
          <p:cNvSpPr/>
          <p:nvPr/>
        </p:nvSpPr>
        <p:spPr>
          <a:xfrm>
            <a:off x="603504" y="4114800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932688" y="4114800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실행계획서 웹버전 — RACI 매트릭스 작성</a:t>
            </a:r>
            <a:endParaRPr lang="en-US" sz="1000" dirty="0"/>
          </a:p>
        </p:txBody>
      </p:sp>
      <p:sp>
        <p:nvSpPr>
          <p:cNvPr id="49" name="Text 47">
            <a:hlinkClick r:id="rId1" tooltip=""/>
          </p:cNvPr>
          <p:cNvSpPr/>
          <p:nvPr/>
        </p:nvSpPr>
        <p:spPr>
          <a:xfrm>
            <a:off x="4169664" y="4114800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u="sng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https://insys-hq.github.io/Insys-review/action_plan.html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457200" y="4718304"/>
            <a:ext cx="8229600" cy="10973"/>
          </a:xfrm>
          <a:prstGeom prst="rect">
            <a:avLst/>
          </a:prstGeom>
          <a:solidFill>
            <a:srgbClr val="C4D2DD"/>
          </a:solidFill>
          <a:ln/>
        </p:spPr>
      </p:sp>
      <p:sp>
        <p:nvSpPr>
          <p:cNvPr id="51" name="Text 49"/>
          <p:cNvSpPr/>
          <p:nvPr/>
        </p:nvSpPr>
        <p:spPr>
          <a:xfrm>
            <a:off x="457200" y="4773168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㈜인시스  ·  셰플러 이천공장 수입검사 실행계획서 v4.6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8275320" y="4773168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896112"/>
          </a:xfrm>
          <a:prstGeom prst="rect">
            <a:avLst/>
          </a:prstGeom>
          <a:solidFill>
            <a:srgbClr val="EEF3F7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896112"/>
            <a:ext cx="9144000" cy="20117"/>
          </a:xfrm>
          <a:prstGeom prst="rect">
            <a:avLst/>
          </a:prstGeom>
          <a:solidFill>
            <a:srgbClr val="0B4F6C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219456"/>
            <a:ext cx="457200" cy="457200"/>
          </a:xfrm>
          <a:prstGeom prst="ellipse">
            <a:avLst/>
          </a:prstGeom>
          <a:solidFill>
            <a:srgbClr val="0B4F6C"/>
          </a:solidFill>
          <a:ln w="12700">
            <a:solidFill>
              <a:srgbClr val="0B4F6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194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42416" y="18288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R&amp;R 확인 — 검사원 준수사항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42416" y="548640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전자서명으로 인지 확인하는 7개 항목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1069848"/>
            <a:ext cx="8229600" cy="457200"/>
          </a:xfrm>
          <a:prstGeom prst="rect">
            <a:avLst/>
          </a:prstGeom>
          <a:solidFill>
            <a:srgbClr val="FAFBF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66928" y="1143000"/>
            <a:ext cx="274320" cy="274320"/>
          </a:xfrm>
          <a:prstGeom prst="ellipse">
            <a:avLst/>
          </a:prstGeom>
          <a:solidFill>
            <a:srgbClr val="0B4F6C"/>
          </a:solidFill>
          <a:ln w="12700">
            <a:solidFill>
              <a:srgbClr val="0B4F6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11430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969264" y="1097280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A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품질 기준·검사기준서·판정기준은 셰플러 SQM이 정한 바에 따르며, 임의 해석·변경하지 않는다.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66928" y="1645920"/>
            <a:ext cx="274320" cy="274320"/>
          </a:xfrm>
          <a:prstGeom prst="ellipse">
            <a:avLst/>
          </a:prstGeom>
          <a:solidFill>
            <a:srgbClr val="0B4F6C"/>
          </a:solidFill>
          <a:ln w="12700">
            <a:solidFill>
              <a:srgbClr val="0B4F6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16459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969264" y="1600200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A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검사기준서 이상 발견 시 셰플러 SQM에 서면 보고하고, 지시 전까지 검사를 보류한다.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075688"/>
            <a:ext cx="8229600" cy="457200"/>
          </a:xfrm>
          <a:prstGeom prst="rect">
            <a:avLst/>
          </a:prstGeom>
          <a:solidFill>
            <a:srgbClr val="FAFBF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66928" y="2148840"/>
            <a:ext cx="274320" cy="274320"/>
          </a:xfrm>
          <a:prstGeom prst="ellipse">
            <a:avLst/>
          </a:prstGeom>
          <a:solidFill>
            <a:srgbClr val="0B4F6C"/>
          </a:solidFill>
          <a:ln w="12700">
            <a:solidFill>
              <a:srgbClr val="0B4F6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21488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969264" y="2103120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A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판정이 애매한 건은 임의 판단하지 않고 셰플러 SQM에 판단을 요청한다.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66928" y="2651760"/>
            <a:ext cx="274320" cy="274320"/>
          </a:xfrm>
          <a:prstGeom prst="ellipse">
            <a:avLst/>
          </a:prstGeom>
          <a:solidFill>
            <a:srgbClr val="0B4F6C"/>
          </a:solidFill>
          <a:ln w="12700">
            <a:solidFill>
              <a:srgbClr val="0B4F6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26517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969264" y="2606040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A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부적합품의 반품·특채·재작업·폐기는 셰플러 SQM 승인 후에만 처리한다.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3081528"/>
            <a:ext cx="8229600" cy="457200"/>
          </a:xfrm>
          <a:prstGeom prst="rect">
            <a:avLst/>
          </a:prstGeom>
          <a:solidFill>
            <a:srgbClr val="FAFBF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66928" y="3154680"/>
            <a:ext cx="274320" cy="27432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3154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969264" y="3108960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A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검사 결과는 SAP와 인시스 업무관리 시스템에 당일 내 각각 기록한다.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66928" y="3657600"/>
            <a:ext cx="274320" cy="27432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6928" y="3657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969264" y="3611880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A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인시스가 제공하는 교육·훈련에 성실히 참여하고, 습득 내용을 업무에 적용한다.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" y="4087368"/>
            <a:ext cx="8229600" cy="457200"/>
          </a:xfrm>
          <a:prstGeom prst="rect">
            <a:avLst/>
          </a:prstGeom>
          <a:solidFill>
            <a:srgbClr val="FAFBF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66928" y="4160520"/>
            <a:ext cx="274320" cy="27432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66928" y="4160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969264" y="4114800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A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셰플러 사업장 보안 규정 및 인시스 인력 운영 규정을 준수한다.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57200" y="4718304"/>
            <a:ext cx="8229600" cy="10973"/>
          </a:xfrm>
          <a:prstGeom prst="rect">
            <a:avLst/>
          </a:prstGeom>
          <a:solidFill>
            <a:srgbClr val="C4D2DD"/>
          </a:solidFill>
          <a:ln/>
        </p:spPr>
      </p:sp>
      <p:sp>
        <p:nvSpPr>
          <p:cNvPr id="35" name="Text 33"/>
          <p:cNvSpPr/>
          <p:nvPr/>
        </p:nvSpPr>
        <p:spPr>
          <a:xfrm>
            <a:off x="457200" y="4773168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㈜인시스  ·  셰플러 이천공장 수입검사 실행계획서 v4.6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8275320" y="4773168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896112"/>
          </a:xfrm>
          <a:prstGeom prst="rect">
            <a:avLst/>
          </a:prstGeom>
          <a:solidFill>
            <a:srgbClr val="EEF3F7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896112"/>
            <a:ext cx="9144000" cy="20117"/>
          </a:xfrm>
          <a:prstGeom prst="rect">
            <a:avLst/>
          </a:prstGeom>
          <a:solidFill>
            <a:srgbClr val="0B4F6C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219456"/>
            <a:ext cx="457200" cy="457200"/>
          </a:xfrm>
          <a:prstGeom prst="ellipse">
            <a:avLst/>
          </a:prstGeom>
          <a:solidFill>
            <a:srgbClr val="0B4F6C"/>
          </a:solidFill>
          <a:ln w="12700">
            <a:solidFill>
              <a:srgbClr val="0B4F6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194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42416" y="18288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업무 프로세스 표준화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42416" y="548640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수입검사 표준 Flow Chart — 7단계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1188720"/>
            <a:ext cx="987552" cy="1335024"/>
          </a:xfrm>
          <a:prstGeom prst="roundRect">
            <a:avLst>
              <a:gd name="adj" fmla="val 3704"/>
            </a:avLst>
          </a:prstGeom>
          <a:solidFill>
            <a:srgbClr val="FAFBFC"/>
          </a:solidFill>
          <a:ln w="12700">
            <a:solidFill>
              <a:srgbClr val="C4D2D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4672" y="1335024"/>
            <a:ext cx="292608" cy="29260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4672" y="13350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84632" y="1700784"/>
            <a:ext cx="932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입고 접수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84632" y="1993392"/>
            <a:ext cx="932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납품서·수량 확인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1495044" y="1847088"/>
            <a:ext cx="118872" cy="20117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5" name="Shape 13"/>
          <p:cNvSpPr/>
          <p:nvPr/>
        </p:nvSpPr>
        <p:spPr>
          <a:xfrm>
            <a:off x="1664208" y="1188720"/>
            <a:ext cx="987552" cy="1335024"/>
          </a:xfrm>
          <a:prstGeom prst="roundRect">
            <a:avLst>
              <a:gd name="adj" fmla="val 3704"/>
            </a:avLst>
          </a:prstGeom>
          <a:solidFill>
            <a:srgbClr val="FAFBFC"/>
          </a:solidFill>
          <a:ln w="12700">
            <a:solidFill>
              <a:srgbClr val="C4D2D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011680" y="1335024"/>
            <a:ext cx="292608" cy="29260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011680" y="13350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691640" y="1700784"/>
            <a:ext cx="932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기준서 확인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691640" y="1993392"/>
            <a:ext cx="932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주기 도래 시 실시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2702052" y="1847088"/>
            <a:ext cx="118872" cy="20117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1" name="Shape 19"/>
          <p:cNvSpPr/>
          <p:nvPr/>
        </p:nvSpPr>
        <p:spPr>
          <a:xfrm>
            <a:off x="2871216" y="1188720"/>
            <a:ext cx="987552" cy="1335024"/>
          </a:xfrm>
          <a:prstGeom prst="roundRect">
            <a:avLst>
              <a:gd name="adj" fmla="val 3704"/>
            </a:avLst>
          </a:prstGeom>
          <a:solidFill>
            <a:srgbClr val="FAFBFC"/>
          </a:solidFill>
          <a:ln w="12700">
            <a:solidFill>
              <a:srgbClr val="C4D2D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18688" y="1335024"/>
            <a:ext cx="292608" cy="29260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18688" y="13350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2898648" y="1700784"/>
            <a:ext cx="932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품목 선택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2898648" y="1993392"/>
            <a:ext cx="932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등록 품목 드롭다운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3909060" y="1847088"/>
            <a:ext cx="118872" cy="20117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7" name="Shape 25"/>
          <p:cNvSpPr/>
          <p:nvPr/>
        </p:nvSpPr>
        <p:spPr>
          <a:xfrm>
            <a:off x="4078224" y="1188720"/>
            <a:ext cx="987552" cy="1335024"/>
          </a:xfrm>
          <a:prstGeom prst="roundRect">
            <a:avLst>
              <a:gd name="adj" fmla="val 3704"/>
            </a:avLst>
          </a:prstGeom>
          <a:solidFill>
            <a:srgbClr val="FAFBFC"/>
          </a:solidFill>
          <a:ln w="12700">
            <a:solidFill>
              <a:srgbClr val="C4D2D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425696" y="1335024"/>
            <a:ext cx="292608" cy="29260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425696" y="13350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105656" y="1700784"/>
            <a:ext cx="932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샘플 추출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105656" y="1993392"/>
            <a:ext cx="932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AQL 기준 무작위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5116068" y="1847088"/>
            <a:ext cx="118872" cy="20117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3" name="Shape 31"/>
          <p:cNvSpPr/>
          <p:nvPr/>
        </p:nvSpPr>
        <p:spPr>
          <a:xfrm>
            <a:off x="5285232" y="1188720"/>
            <a:ext cx="987552" cy="1335024"/>
          </a:xfrm>
          <a:prstGeom prst="roundRect">
            <a:avLst>
              <a:gd name="adj" fmla="val 3704"/>
            </a:avLst>
          </a:prstGeom>
          <a:solidFill>
            <a:srgbClr val="FAFBFC"/>
          </a:solidFill>
          <a:ln w="12700">
            <a:solidFill>
              <a:srgbClr val="C4D2D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632704" y="1335024"/>
            <a:ext cx="292608" cy="29260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32704" y="13350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5312664" y="1700784"/>
            <a:ext cx="932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외관 검사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5312664" y="1993392"/>
            <a:ext cx="932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기준서 대비 확인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6323076" y="1847088"/>
            <a:ext cx="118872" cy="20117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9" name="Shape 37"/>
          <p:cNvSpPr/>
          <p:nvPr/>
        </p:nvSpPr>
        <p:spPr>
          <a:xfrm>
            <a:off x="6492240" y="1188720"/>
            <a:ext cx="987552" cy="1335024"/>
          </a:xfrm>
          <a:prstGeom prst="roundRect">
            <a:avLst>
              <a:gd name="adj" fmla="val 3704"/>
            </a:avLst>
          </a:prstGeom>
          <a:solidFill>
            <a:srgbClr val="FAFBFC"/>
          </a:solidFill>
          <a:ln w="12700">
            <a:solidFill>
              <a:srgbClr val="C4D2DD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839712" y="1335024"/>
            <a:ext cx="292608" cy="29260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839712" y="13350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6519672" y="1700784"/>
            <a:ext cx="932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치수 검사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6519672" y="1993392"/>
            <a:ext cx="932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측정기 실측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7530084" y="1847088"/>
            <a:ext cx="118872" cy="20117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5" name="Shape 43"/>
          <p:cNvSpPr/>
          <p:nvPr/>
        </p:nvSpPr>
        <p:spPr>
          <a:xfrm>
            <a:off x="7699248" y="1188720"/>
            <a:ext cx="987552" cy="1335024"/>
          </a:xfrm>
          <a:prstGeom prst="roundRect">
            <a:avLst>
              <a:gd name="adj" fmla="val 3704"/>
            </a:avLst>
          </a:prstGeom>
          <a:solidFill>
            <a:srgbClr val="DCE6EE"/>
          </a:solidFill>
          <a:ln w="12700">
            <a:solidFill>
              <a:srgbClr val="0B4F6C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699248" y="1188720"/>
            <a:ext cx="987552" cy="41148"/>
          </a:xfrm>
          <a:prstGeom prst="rect">
            <a:avLst/>
          </a:prstGeom>
          <a:solidFill>
            <a:srgbClr val="0B4F6C"/>
          </a:solidFill>
          <a:ln/>
        </p:spPr>
      </p:sp>
      <p:sp>
        <p:nvSpPr>
          <p:cNvPr id="47" name="Shape 45"/>
          <p:cNvSpPr/>
          <p:nvPr/>
        </p:nvSpPr>
        <p:spPr>
          <a:xfrm>
            <a:off x="8046720" y="1335024"/>
            <a:ext cx="292608" cy="292608"/>
          </a:xfrm>
          <a:prstGeom prst="ellipse">
            <a:avLst/>
          </a:prstGeom>
          <a:solidFill>
            <a:srgbClr val="0B4F6C"/>
          </a:solidFill>
          <a:ln w="12700">
            <a:solidFill>
              <a:srgbClr val="0B4F6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046720" y="13350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7726680" y="1700784"/>
            <a:ext cx="932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최종 판정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7726680" y="1993392"/>
            <a:ext cx="932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합격/불합격/보류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457200" y="2798064"/>
            <a:ext cx="2624328" cy="914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A8323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57200" y="2798064"/>
            <a:ext cx="45720" cy="914400"/>
          </a:xfrm>
          <a:prstGeom prst="rect">
            <a:avLst/>
          </a:prstGeom>
          <a:solidFill>
            <a:srgbClr val="A83232"/>
          </a:solidFill>
          <a:ln/>
        </p:spPr>
      </p:sp>
      <p:sp>
        <p:nvSpPr>
          <p:cNvPr id="53" name="Text 51"/>
          <p:cNvSpPr/>
          <p:nvPr/>
        </p:nvSpPr>
        <p:spPr>
          <a:xfrm>
            <a:off x="640080" y="2907792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8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성적서 없음 / 기준서 이상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640080" y="3200400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검사 중단 → 셰플러 SQM 서면 보고 → 지시 대기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3264408" y="2798064"/>
            <a:ext cx="2624328" cy="914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1F6B4A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3264408" y="2798064"/>
            <a:ext cx="45720" cy="914400"/>
          </a:xfrm>
          <a:prstGeom prst="rect">
            <a:avLst/>
          </a:prstGeom>
          <a:solidFill>
            <a:srgbClr val="1F6B4A"/>
          </a:solidFill>
          <a:ln/>
        </p:spPr>
      </p:sp>
      <p:sp>
        <p:nvSpPr>
          <p:cNvPr id="57" name="Text 55"/>
          <p:cNvSpPr/>
          <p:nvPr/>
        </p:nvSpPr>
        <p:spPr>
          <a:xfrm>
            <a:off x="3447288" y="2907792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합격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3447288" y="3200400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입고 승인 → SAP 결과 입력 → 지정 위치 이송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6071616" y="2798064"/>
            <a:ext cx="2624328" cy="914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071616" y="2798064"/>
            <a:ext cx="45720" cy="9144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61" name="Text 59"/>
          <p:cNvSpPr/>
          <p:nvPr/>
        </p:nvSpPr>
        <p:spPr>
          <a:xfrm>
            <a:off x="6254496" y="2907792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불합격 / 보류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6254496" y="3200400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부적합품 격리 → SQM 통보 → 승인 후 처리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457200" y="4718304"/>
            <a:ext cx="8229600" cy="10973"/>
          </a:xfrm>
          <a:prstGeom prst="rect">
            <a:avLst/>
          </a:prstGeom>
          <a:solidFill>
            <a:srgbClr val="C4D2DD"/>
          </a:solidFill>
          <a:ln/>
        </p:spPr>
      </p:sp>
      <p:sp>
        <p:nvSpPr>
          <p:cNvPr id="64" name="Text 62"/>
          <p:cNvSpPr/>
          <p:nvPr/>
        </p:nvSpPr>
        <p:spPr>
          <a:xfrm>
            <a:off x="457200" y="4773168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㈜인시스  ·  셰플러 이천공장 수입검사 실행계획서 v4.6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8275320" y="4773168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896112"/>
          </a:xfrm>
          <a:prstGeom prst="rect">
            <a:avLst/>
          </a:prstGeom>
          <a:solidFill>
            <a:srgbClr val="EEF3F7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896112"/>
            <a:ext cx="9144000" cy="20117"/>
          </a:xfrm>
          <a:prstGeom prst="rect">
            <a:avLst/>
          </a:prstGeom>
          <a:solidFill>
            <a:srgbClr val="0B4F6C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219456"/>
            <a:ext cx="457200" cy="457200"/>
          </a:xfrm>
          <a:prstGeom prst="ellipse">
            <a:avLst/>
          </a:prstGeom>
          <a:solidFill>
            <a:srgbClr val="0B4F6C"/>
          </a:solidFill>
          <a:ln w="12700">
            <a:solidFill>
              <a:srgbClr val="0B4F6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194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42416" y="18288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절차 문서화 및 보고 체계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42416" y="548640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기준서 확인 절차 · 이상 발견 시 보고 절차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1097280"/>
            <a:ext cx="4114800" cy="3145536"/>
          </a:xfrm>
          <a:prstGeom prst="roundRect">
            <a:avLst>
              <a:gd name="adj" fmla="val 1163"/>
            </a:avLst>
          </a:prstGeom>
          <a:solidFill>
            <a:srgbClr val="FAFBFC"/>
          </a:solidFill>
          <a:ln w="12700">
            <a:solidFill>
              <a:srgbClr val="C4D2D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271016"/>
            <a:ext cx="45720" cy="21945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786384" y="1243584"/>
            <a:ext cx="3621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입고 시 기준서 확인 절차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94944" y="1700784"/>
            <a:ext cx="137160" cy="1371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932688" y="164592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1A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SAP에서 품목번호로 성적서 존재 여부 조회</a:t>
            </a:r>
            <a:endParaRPr lang="en-US" sz="960" dirty="0"/>
          </a:p>
        </p:txBody>
      </p:sp>
      <p:sp>
        <p:nvSpPr>
          <p:cNvPr id="14" name="Shape 12"/>
          <p:cNvSpPr/>
          <p:nvPr/>
        </p:nvSpPr>
        <p:spPr>
          <a:xfrm>
            <a:off x="694944" y="2057400"/>
            <a:ext cx="137160" cy="1371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932688" y="2002536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1A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성적서 Rev.와 기준서 Rev. 대조 (최신 여부)</a:t>
            </a:r>
            <a:endParaRPr lang="en-US" sz="960" dirty="0"/>
          </a:p>
        </p:txBody>
      </p:sp>
      <p:sp>
        <p:nvSpPr>
          <p:cNvPr id="16" name="Shape 14"/>
          <p:cNvSpPr/>
          <p:nvPr/>
        </p:nvSpPr>
        <p:spPr>
          <a:xfrm>
            <a:off x="694944" y="2414016"/>
            <a:ext cx="137160" cy="1371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932688" y="235915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1A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외관 검사항목·참조 사진 누락 여부 확인</a:t>
            </a:r>
            <a:endParaRPr lang="en-US" sz="960" dirty="0"/>
          </a:p>
        </p:txBody>
      </p:sp>
      <p:sp>
        <p:nvSpPr>
          <p:cNvPr id="18" name="Shape 16"/>
          <p:cNvSpPr/>
          <p:nvPr/>
        </p:nvSpPr>
        <p:spPr>
          <a:xfrm>
            <a:off x="694944" y="2770632"/>
            <a:ext cx="137160" cy="1371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9" name="Text 17"/>
          <p:cNvSpPr/>
          <p:nvPr/>
        </p:nvSpPr>
        <p:spPr>
          <a:xfrm>
            <a:off x="932688" y="271576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1A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치수 규격값 전 항목 기재 여부 확인</a:t>
            </a:r>
            <a:endParaRPr lang="en-US" sz="960" dirty="0"/>
          </a:p>
        </p:txBody>
      </p:sp>
      <p:sp>
        <p:nvSpPr>
          <p:cNvPr id="20" name="Shape 18"/>
          <p:cNvSpPr/>
          <p:nvPr/>
        </p:nvSpPr>
        <p:spPr>
          <a:xfrm>
            <a:off x="694944" y="3127248"/>
            <a:ext cx="137160" cy="1371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932688" y="3072384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1A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성적서 품목번호와 실물 일치 여부 확인</a:t>
            </a:r>
            <a:endParaRPr lang="en-US" sz="960" dirty="0"/>
          </a:p>
        </p:txBody>
      </p:sp>
      <p:sp>
        <p:nvSpPr>
          <p:cNvPr id="22" name="Shape 20"/>
          <p:cNvSpPr/>
          <p:nvPr/>
        </p:nvSpPr>
        <p:spPr>
          <a:xfrm>
            <a:off x="694944" y="3483864"/>
            <a:ext cx="137160" cy="1371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3" name="Text 21"/>
          <p:cNvSpPr/>
          <p:nvPr/>
        </p:nvSpPr>
        <p:spPr>
          <a:xfrm>
            <a:off x="932688" y="342900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1A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리비전 이전 구버전 품목 해당 여부 확인</a:t>
            </a:r>
            <a:endParaRPr lang="en-US" sz="960" dirty="0"/>
          </a:p>
        </p:txBody>
      </p:sp>
      <p:sp>
        <p:nvSpPr>
          <p:cNvPr id="24" name="Shape 22"/>
          <p:cNvSpPr/>
          <p:nvPr/>
        </p:nvSpPr>
        <p:spPr>
          <a:xfrm>
            <a:off x="694944" y="3840480"/>
            <a:ext cx="137160" cy="1371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5" name="Text 23"/>
          <p:cNvSpPr/>
          <p:nvPr/>
        </p:nvSpPr>
        <p:spPr>
          <a:xfrm>
            <a:off x="932688" y="3785616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1A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확인 결과를 SAP 특기사항란·시스템에 기록</a:t>
            </a:r>
            <a:endParaRPr lang="en-US" sz="960" dirty="0"/>
          </a:p>
        </p:txBody>
      </p:sp>
      <p:sp>
        <p:nvSpPr>
          <p:cNvPr id="26" name="Shape 24"/>
          <p:cNvSpPr/>
          <p:nvPr/>
        </p:nvSpPr>
        <p:spPr>
          <a:xfrm>
            <a:off x="4809744" y="1097280"/>
            <a:ext cx="3877056" cy="3145536"/>
          </a:xfrm>
          <a:prstGeom prst="roundRect">
            <a:avLst>
              <a:gd name="adj" fmla="val 1163"/>
            </a:avLst>
          </a:prstGeom>
          <a:solidFill>
            <a:srgbClr val="FFFFFF"/>
          </a:solidFill>
          <a:ln w="12700">
            <a:solidFill>
              <a:srgbClr val="0B4F6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809744" y="1097280"/>
            <a:ext cx="3877056" cy="384048"/>
          </a:xfrm>
          <a:prstGeom prst="rect">
            <a:avLst/>
          </a:prstGeom>
          <a:solidFill>
            <a:srgbClr val="DCE6EE"/>
          </a:solidFill>
          <a:ln/>
        </p:spPr>
      </p:sp>
      <p:sp>
        <p:nvSpPr>
          <p:cNvPr id="28" name="Text 26"/>
          <p:cNvSpPr/>
          <p:nvPr/>
        </p:nvSpPr>
        <p:spPr>
          <a:xfrm>
            <a:off x="5010912" y="109728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이상 발견 시 보고 절차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5010912" y="1536192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인시스 → 셰플러 SQM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010912" y="1901952"/>
            <a:ext cx="256032" cy="25603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10912" y="19019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376672" y="1883664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1A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이상 내용 구체 기록 (품목·항목·Rev.)</a:t>
            </a:r>
            <a:endParaRPr lang="en-US" sz="960" dirty="0"/>
          </a:p>
        </p:txBody>
      </p:sp>
      <p:sp>
        <p:nvSpPr>
          <p:cNvPr id="33" name="Shape 31"/>
          <p:cNvSpPr/>
          <p:nvPr/>
        </p:nvSpPr>
        <p:spPr>
          <a:xfrm>
            <a:off x="5010912" y="2286000"/>
            <a:ext cx="256032" cy="25603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10912" y="22860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376672" y="226771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1A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시스템에 "이상 있음" 저장</a:t>
            </a:r>
            <a:endParaRPr lang="en-US" sz="960" dirty="0"/>
          </a:p>
        </p:txBody>
      </p:sp>
      <p:sp>
        <p:nvSpPr>
          <p:cNvPr id="36" name="Shape 34"/>
          <p:cNvSpPr/>
          <p:nvPr/>
        </p:nvSpPr>
        <p:spPr>
          <a:xfrm>
            <a:off x="5010912" y="2670048"/>
            <a:ext cx="256032" cy="25603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10912" y="26700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5376672" y="265176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1A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SQM 담당자에게 서면(이메일) 보고</a:t>
            </a:r>
            <a:endParaRPr lang="en-US" sz="960" dirty="0"/>
          </a:p>
        </p:txBody>
      </p:sp>
      <p:sp>
        <p:nvSpPr>
          <p:cNvPr id="39" name="Shape 37"/>
          <p:cNvSpPr/>
          <p:nvPr/>
        </p:nvSpPr>
        <p:spPr>
          <a:xfrm>
            <a:off x="5010912" y="3054096"/>
            <a:ext cx="256032" cy="25603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10912" y="30540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5376672" y="303580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1A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보고 일자·내용·수신자 업무일지 기록</a:t>
            </a:r>
            <a:endParaRPr lang="en-US" sz="960" dirty="0"/>
          </a:p>
        </p:txBody>
      </p:sp>
      <p:sp>
        <p:nvSpPr>
          <p:cNvPr id="42" name="Shape 40"/>
          <p:cNvSpPr/>
          <p:nvPr/>
        </p:nvSpPr>
        <p:spPr>
          <a:xfrm>
            <a:off x="5010912" y="3438144"/>
            <a:ext cx="256032" cy="25603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010912" y="343814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5376672" y="3419856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1A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SQM 처리 완료 회신 후 재확인·검사 재개</a:t>
            </a:r>
            <a:endParaRPr lang="en-US" sz="960" dirty="0"/>
          </a:p>
        </p:txBody>
      </p:sp>
      <p:sp>
        <p:nvSpPr>
          <p:cNvPr id="45" name="Shape 43"/>
          <p:cNvSpPr/>
          <p:nvPr/>
        </p:nvSpPr>
        <p:spPr>
          <a:xfrm>
            <a:off x="5010912" y="3822192"/>
            <a:ext cx="256032" cy="25603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010912" y="382219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5376672" y="3803904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1A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처리 이력 시스템 기록 (추적 가능)</a:t>
            </a:r>
            <a:endParaRPr lang="en-US" sz="960" dirty="0"/>
          </a:p>
        </p:txBody>
      </p:sp>
      <p:sp>
        <p:nvSpPr>
          <p:cNvPr id="48" name="Shape 46"/>
          <p:cNvSpPr/>
          <p:nvPr/>
        </p:nvSpPr>
        <p:spPr>
          <a:xfrm>
            <a:off x="457200" y="4718304"/>
            <a:ext cx="8229600" cy="10973"/>
          </a:xfrm>
          <a:prstGeom prst="rect">
            <a:avLst/>
          </a:prstGeom>
          <a:solidFill>
            <a:srgbClr val="C4D2DD"/>
          </a:solidFill>
          <a:ln/>
        </p:spPr>
      </p:sp>
      <p:sp>
        <p:nvSpPr>
          <p:cNvPr id="49" name="Text 47"/>
          <p:cNvSpPr/>
          <p:nvPr/>
        </p:nvSpPr>
        <p:spPr>
          <a:xfrm>
            <a:off x="457200" y="4773168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㈜인시스  ·  셰플러 이천공장 수입검사 실행계획서 v4.6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8275320" y="4773168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896112"/>
          </a:xfrm>
          <a:prstGeom prst="rect">
            <a:avLst/>
          </a:prstGeom>
          <a:solidFill>
            <a:srgbClr val="EEF3F7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896112"/>
            <a:ext cx="9144000" cy="20117"/>
          </a:xfrm>
          <a:prstGeom prst="rect">
            <a:avLst/>
          </a:prstGeom>
          <a:solidFill>
            <a:srgbClr val="0B4F6C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219456"/>
            <a:ext cx="457200" cy="457200"/>
          </a:xfrm>
          <a:prstGeom prst="ellipse">
            <a:avLst/>
          </a:prstGeom>
          <a:solidFill>
            <a:srgbClr val="0B4F6C"/>
          </a:solidFill>
          <a:ln w="12700">
            <a:solidFill>
              <a:srgbClr val="0B4F6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194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42416" y="18288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품질 마인드 강화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42416" y="548640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파견 검사원의 기본 마음가짐 7개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1097280"/>
            <a:ext cx="4005072" cy="658368"/>
          </a:xfrm>
          <a:prstGeom prst="roundRect">
            <a:avLst>
              <a:gd name="adj" fmla="val 5556"/>
            </a:avLst>
          </a:prstGeom>
          <a:solidFill>
            <a:srgbClr val="FAFBFC"/>
          </a:solidFill>
          <a:ln w="12700">
            <a:solidFill>
              <a:srgbClr val="C4D2D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1261872"/>
            <a:ext cx="329184" cy="32918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2618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078992" y="1188720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나는 인시스의 얼굴이다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1078992" y="1444752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 업무 태도가 곧 인시스에 대한 평가가 된다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4681728" y="1097280"/>
            <a:ext cx="4005072" cy="658368"/>
          </a:xfrm>
          <a:prstGeom prst="roundRect">
            <a:avLst>
              <a:gd name="adj" fmla="val 5556"/>
            </a:avLst>
          </a:prstGeom>
          <a:solidFill>
            <a:srgbClr val="FAFBFC"/>
          </a:solidFill>
          <a:ln w="12700">
            <a:solidFill>
              <a:srgbClr val="C4D2D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864608" y="1261872"/>
            <a:ext cx="329184" cy="32918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64608" y="12618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303520" y="1188720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기준은 셰플러가 정하고, 나는 지킨다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303520" y="1444752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품질·판정 기준을 임의 해석하지 않는다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457200" y="1865376"/>
            <a:ext cx="4005072" cy="658368"/>
          </a:xfrm>
          <a:prstGeom prst="roundRect">
            <a:avLst>
              <a:gd name="adj" fmla="val 5556"/>
            </a:avLst>
          </a:prstGeom>
          <a:solidFill>
            <a:srgbClr val="FAFBFC"/>
          </a:solidFill>
          <a:ln w="12700">
            <a:solidFill>
              <a:srgbClr val="C4D2D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" y="2029968"/>
            <a:ext cx="329184" cy="32918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20299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078992" y="195681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나는 최종 방어선이다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1078992" y="2212848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내가 통과시킨 부품은 고객 생산라인으로 직행한다</a:t>
            </a:r>
            <a:endParaRPr lang="en-US" sz="880" dirty="0"/>
          </a:p>
        </p:txBody>
      </p:sp>
      <p:sp>
        <p:nvSpPr>
          <p:cNvPr id="24" name="Shape 22"/>
          <p:cNvSpPr/>
          <p:nvPr/>
        </p:nvSpPr>
        <p:spPr>
          <a:xfrm>
            <a:off x="4681728" y="1865376"/>
            <a:ext cx="4005072" cy="658368"/>
          </a:xfrm>
          <a:prstGeom prst="roundRect">
            <a:avLst>
              <a:gd name="adj" fmla="val 5556"/>
            </a:avLst>
          </a:prstGeom>
          <a:solidFill>
            <a:srgbClr val="FAFBFC"/>
          </a:solidFill>
          <a:ln w="12700">
            <a:solidFill>
              <a:srgbClr val="C4D2D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64608" y="2029968"/>
            <a:ext cx="329184" cy="32918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64608" y="20299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303520" y="195681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의심스러우면 멈추고 물어본다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303520" y="2212848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애매한 건은 SQM에 판단을 요청한다</a:t>
            </a:r>
            <a:endParaRPr lang="en-US" sz="880" dirty="0"/>
          </a:p>
        </p:txBody>
      </p:sp>
      <p:sp>
        <p:nvSpPr>
          <p:cNvPr id="29" name="Shape 27"/>
          <p:cNvSpPr/>
          <p:nvPr/>
        </p:nvSpPr>
        <p:spPr>
          <a:xfrm>
            <a:off x="457200" y="2633472"/>
            <a:ext cx="4005072" cy="658368"/>
          </a:xfrm>
          <a:prstGeom prst="roundRect">
            <a:avLst>
              <a:gd name="adj" fmla="val 5556"/>
            </a:avLst>
          </a:prstGeom>
          <a:solidFill>
            <a:srgbClr val="FAFBFC"/>
          </a:solidFill>
          <a:ln w="12700">
            <a:solidFill>
              <a:srgbClr val="C4D2D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0080" y="2798064"/>
            <a:ext cx="329184" cy="32918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" y="27980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1078992" y="2724912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기록하지 않은 것은 하지 않은 것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1078992" y="2980944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구두 확인·구두 보고는 이력이 남지 않는다</a:t>
            </a:r>
            <a:endParaRPr lang="en-US" sz="880" dirty="0"/>
          </a:p>
        </p:txBody>
      </p:sp>
      <p:sp>
        <p:nvSpPr>
          <p:cNvPr id="34" name="Shape 32"/>
          <p:cNvSpPr/>
          <p:nvPr/>
        </p:nvSpPr>
        <p:spPr>
          <a:xfrm>
            <a:off x="4681728" y="2633472"/>
            <a:ext cx="4005072" cy="658368"/>
          </a:xfrm>
          <a:prstGeom prst="roundRect">
            <a:avLst>
              <a:gd name="adj" fmla="val 5556"/>
            </a:avLst>
          </a:prstGeom>
          <a:solidFill>
            <a:srgbClr val="FAFBFC"/>
          </a:solidFill>
          <a:ln w="12700">
            <a:solidFill>
              <a:srgbClr val="C4D2D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864608" y="2798064"/>
            <a:ext cx="329184" cy="32918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64608" y="27980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5303520" y="2724912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관행보다 절차를 우선한다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5303520" y="2980944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"원래 이렇게 해왔다"로 확인을 생략하지 않는다</a:t>
            </a:r>
            <a:endParaRPr lang="en-US" sz="880" dirty="0"/>
          </a:p>
        </p:txBody>
      </p:sp>
      <p:sp>
        <p:nvSpPr>
          <p:cNvPr id="39" name="Shape 37"/>
          <p:cNvSpPr/>
          <p:nvPr/>
        </p:nvSpPr>
        <p:spPr>
          <a:xfrm>
            <a:off x="457200" y="3401568"/>
            <a:ext cx="8229600" cy="658368"/>
          </a:xfrm>
          <a:prstGeom prst="roundRect">
            <a:avLst>
              <a:gd name="adj" fmla="val 5556"/>
            </a:avLst>
          </a:prstGeom>
          <a:solidFill>
            <a:srgbClr val="DCE6EE"/>
          </a:solidFill>
          <a:ln w="12700">
            <a:solidFill>
              <a:srgbClr val="0B4F6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57200" y="3401568"/>
            <a:ext cx="50292" cy="658368"/>
          </a:xfrm>
          <a:prstGeom prst="rect">
            <a:avLst/>
          </a:prstGeom>
          <a:solidFill>
            <a:srgbClr val="0B4F6C"/>
          </a:solidFill>
          <a:ln/>
        </p:spPr>
      </p:sp>
      <p:sp>
        <p:nvSpPr>
          <p:cNvPr id="41" name="Shape 39"/>
          <p:cNvSpPr/>
          <p:nvPr/>
        </p:nvSpPr>
        <p:spPr>
          <a:xfrm>
            <a:off x="676656" y="3566160"/>
            <a:ext cx="329184" cy="329184"/>
          </a:xfrm>
          <a:prstGeom prst="ellipse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76656" y="35661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1115568" y="349300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즉시 보고가 최선의 대응이다</a:t>
            </a:r>
            <a:endParaRPr lang="en-US" sz="1250" dirty="0"/>
          </a:p>
        </p:txBody>
      </p:sp>
      <p:sp>
        <p:nvSpPr>
          <p:cNvPr id="44" name="Text 42"/>
          <p:cNvSpPr/>
          <p:nvPr/>
        </p:nvSpPr>
        <p:spPr>
          <a:xfrm>
            <a:off x="1115568" y="374904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발견 즉시 보고가 가장 빠른 해결이다</a:t>
            </a:r>
            <a:endParaRPr lang="en-US" sz="960" dirty="0"/>
          </a:p>
        </p:txBody>
      </p:sp>
      <p:sp>
        <p:nvSpPr>
          <p:cNvPr id="45" name="Shape 43"/>
          <p:cNvSpPr/>
          <p:nvPr/>
        </p:nvSpPr>
        <p:spPr>
          <a:xfrm>
            <a:off x="457200" y="4718304"/>
            <a:ext cx="8229600" cy="10973"/>
          </a:xfrm>
          <a:prstGeom prst="rect">
            <a:avLst/>
          </a:prstGeom>
          <a:solidFill>
            <a:srgbClr val="C4D2DD"/>
          </a:solidFill>
          <a:ln/>
        </p:spPr>
      </p:sp>
      <p:sp>
        <p:nvSpPr>
          <p:cNvPr id="46" name="Text 44"/>
          <p:cNvSpPr/>
          <p:nvPr/>
        </p:nvSpPr>
        <p:spPr>
          <a:xfrm>
            <a:off x="457200" y="4773168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㈜인시스  ·  셰플러 이천공장 수입검사 실행계획서 v4.6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8275320" y="4773168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896112"/>
          </a:xfrm>
          <a:prstGeom prst="rect">
            <a:avLst/>
          </a:prstGeom>
          <a:solidFill>
            <a:srgbClr val="EEF3F7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896112"/>
            <a:ext cx="9144000" cy="20117"/>
          </a:xfrm>
          <a:prstGeom prst="rect">
            <a:avLst/>
          </a:prstGeom>
          <a:solidFill>
            <a:srgbClr val="0B4F6C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219456"/>
            <a:ext cx="457200" cy="457200"/>
          </a:xfrm>
          <a:prstGeom prst="ellipse">
            <a:avLst/>
          </a:prstGeom>
          <a:solidFill>
            <a:srgbClr val="0B4F6C"/>
          </a:solidFill>
          <a:ln w="12700">
            <a:solidFill>
              <a:srgbClr val="0B4F6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194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42416" y="18288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일일 실천 사항 및 부품 취급 표준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42416" y="548640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시간대별 행동 기준 · 취급 준수사항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1106424"/>
            <a:ext cx="45720" cy="21945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585216" y="1078992"/>
            <a:ext cx="3895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Action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1408176"/>
            <a:ext cx="4059936" cy="365760"/>
          </a:xfrm>
          <a:prstGeom prst="rect">
            <a:avLst/>
          </a:prstGeom>
          <a:solidFill>
            <a:srgbClr val="FAFBF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12064" y="1444752"/>
            <a:ext cx="731520" cy="292608"/>
          </a:xfrm>
          <a:prstGeom prst="roundRect">
            <a:avLst>
              <a:gd name="adj" fmla="val 12500"/>
            </a:avLst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512064" y="144475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출근</a:t>
            </a:r>
            <a:endParaRPr lang="en-US" sz="880" dirty="0"/>
          </a:p>
        </p:txBody>
      </p:sp>
      <p:sp>
        <p:nvSpPr>
          <p:cNvPr id="14" name="Text 12"/>
          <p:cNvSpPr/>
          <p:nvPr/>
        </p:nvSpPr>
        <p:spPr>
          <a:xfrm>
            <a:off x="1335024" y="1426464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1A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근태 확인 · 안전보호구 착용 점검</a:t>
            </a:r>
            <a:endParaRPr lang="en-US" sz="930" dirty="0"/>
          </a:p>
        </p:txBody>
      </p:sp>
      <p:sp>
        <p:nvSpPr>
          <p:cNvPr id="15" name="Shape 13"/>
          <p:cNvSpPr/>
          <p:nvPr/>
        </p:nvSpPr>
        <p:spPr>
          <a:xfrm>
            <a:off x="512064" y="1847088"/>
            <a:ext cx="731520" cy="292608"/>
          </a:xfrm>
          <a:prstGeom prst="roundRect">
            <a:avLst>
              <a:gd name="adj" fmla="val 12500"/>
            </a:avLst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512064" y="1847088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아침</a:t>
            </a:r>
            <a:endParaRPr lang="en-US" sz="880" dirty="0"/>
          </a:p>
        </p:txBody>
      </p:sp>
      <p:sp>
        <p:nvSpPr>
          <p:cNvPr id="17" name="Text 15"/>
          <p:cNvSpPr/>
          <p:nvPr/>
        </p:nvSpPr>
        <p:spPr>
          <a:xfrm>
            <a:off x="1335024" y="1828800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1A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입고 예정 품목 기준서 사전 점검</a:t>
            </a:r>
            <a:endParaRPr lang="en-US" sz="930" dirty="0"/>
          </a:p>
        </p:txBody>
      </p:sp>
      <p:sp>
        <p:nvSpPr>
          <p:cNvPr id="18" name="Shape 16"/>
          <p:cNvSpPr/>
          <p:nvPr/>
        </p:nvSpPr>
        <p:spPr>
          <a:xfrm>
            <a:off x="457200" y="2212848"/>
            <a:ext cx="4059936" cy="365760"/>
          </a:xfrm>
          <a:prstGeom prst="rect">
            <a:avLst/>
          </a:prstGeom>
          <a:solidFill>
            <a:srgbClr val="FAFBF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12064" y="2249424"/>
            <a:ext cx="731520" cy="292608"/>
          </a:xfrm>
          <a:prstGeom prst="roundRect">
            <a:avLst>
              <a:gd name="adj" fmla="val 12500"/>
            </a:avLst>
          </a:prstGeom>
          <a:solidFill>
            <a:srgbClr val="1C7293"/>
          </a:solidFill>
          <a:ln/>
        </p:spPr>
      </p:sp>
      <p:sp>
        <p:nvSpPr>
          <p:cNvPr id="20" name="Text 18"/>
          <p:cNvSpPr/>
          <p:nvPr/>
        </p:nvSpPr>
        <p:spPr>
          <a:xfrm>
            <a:off x="512064" y="2249424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입고 시</a:t>
            </a:r>
            <a:endParaRPr lang="en-US" sz="880" dirty="0"/>
          </a:p>
        </p:txBody>
      </p:sp>
      <p:sp>
        <p:nvSpPr>
          <p:cNvPr id="21" name="Text 19"/>
          <p:cNvSpPr/>
          <p:nvPr/>
        </p:nvSpPr>
        <p:spPr>
          <a:xfrm>
            <a:off x="1335024" y="2231136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1A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성적서 확인 → 내용 검토 → 기록 → 검사</a:t>
            </a:r>
            <a:endParaRPr lang="en-US" sz="930" dirty="0"/>
          </a:p>
        </p:txBody>
      </p:sp>
      <p:sp>
        <p:nvSpPr>
          <p:cNvPr id="22" name="Shape 20"/>
          <p:cNvSpPr/>
          <p:nvPr/>
        </p:nvSpPr>
        <p:spPr>
          <a:xfrm>
            <a:off x="512064" y="2651760"/>
            <a:ext cx="731520" cy="292608"/>
          </a:xfrm>
          <a:prstGeom prst="roundRect">
            <a:avLst>
              <a:gd name="adj" fmla="val 12500"/>
            </a:avLst>
          </a:prstGeom>
          <a:solidFill>
            <a:srgbClr val="1C7293"/>
          </a:solidFill>
          <a:ln/>
        </p:spPr>
      </p:sp>
      <p:sp>
        <p:nvSpPr>
          <p:cNvPr id="23" name="Text 21"/>
          <p:cNvSpPr/>
          <p:nvPr/>
        </p:nvSpPr>
        <p:spPr>
          <a:xfrm>
            <a:off x="512064" y="265176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검사 중</a:t>
            </a:r>
            <a:endParaRPr lang="en-US" sz="880" dirty="0"/>
          </a:p>
        </p:txBody>
      </p:sp>
      <p:sp>
        <p:nvSpPr>
          <p:cNvPr id="24" name="Text 22"/>
          <p:cNvSpPr/>
          <p:nvPr/>
        </p:nvSpPr>
        <p:spPr>
          <a:xfrm>
            <a:off x="1335024" y="2633472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1A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기준서 펼쳐놓고 항목별 대조 확인</a:t>
            </a:r>
            <a:endParaRPr lang="en-US" sz="930" dirty="0"/>
          </a:p>
        </p:txBody>
      </p:sp>
      <p:sp>
        <p:nvSpPr>
          <p:cNvPr id="25" name="Shape 23"/>
          <p:cNvSpPr/>
          <p:nvPr/>
        </p:nvSpPr>
        <p:spPr>
          <a:xfrm>
            <a:off x="457200" y="3017520"/>
            <a:ext cx="4059936" cy="365760"/>
          </a:xfrm>
          <a:prstGeom prst="rect">
            <a:avLst/>
          </a:prstGeom>
          <a:solidFill>
            <a:srgbClr val="FAFBF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12064" y="3054096"/>
            <a:ext cx="731520" cy="292608"/>
          </a:xfrm>
          <a:prstGeom prst="roundRect">
            <a:avLst>
              <a:gd name="adj" fmla="val 12500"/>
            </a:avLst>
          </a:prstGeom>
          <a:solidFill>
            <a:srgbClr val="1C7293"/>
          </a:solidFill>
          <a:ln/>
        </p:spPr>
      </p:sp>
      <p:sp>
        <p:nvSpPr>
          <p:cNvPr id="27" name="Text 25"/>
          <p:cNvSpPr/>
          <p:nvPr/>
        </p:nvSpPr>
        <p:spPr>
          <a:xfrm>
            <a:off x="512064" y="3054096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검사 후</a:t>
            </a:r>
            <a:endParaRPr lang="en-US" sz="880" dirty="0"/>
          </a:p>
        </p:txBody>
      </p:sp>
      <p:sp>
        <p:nvSpPr>
          <p:cNvPr id="28" name="Text 26"/>
          <p:cNvSpPr/>
          <p:nvPr/>
        </p:nvSpPr>
        <p:spPr>
          <a:xfrm>
            <a:off x="1335024" y="3035808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1A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입력 + 소요시간·특이사항 기록</a:t>
            </a:r>
            <a:endParaRPr lang="en-US" sz="930" dirty="0"/>
          </a:p>
        </p:txBody>
      </p:sp>
      <p:sp>
        <p:nvSpPr>
          <p:cNvPr id="29" name="Shape 27"/>
          <p:cNvSpPr/>
          <p:nvPr/>
        </p:nvSpPr>
        <p:spPr>
          <a:xfrm>
            <a:off x="512064" y="3456432"/>
            <a:ext cx="731520" cy="292608"/>
          </a:xfrm>
          <a:prstGeom prst="roundRect">
            <a:avLst>
              <a:gd name="adj" fmla="val 12500"/>
            </a:avLst>
          </a:prstGeom>
          <a:solidFill>
            <a:srgbClr val="1C7293"/>
          </a:solidFill>
          <a:ln/>
        </p:spPr>
      </p:sp>
      <p:sp>
        <p:nvSpPr>
          <p:cNvPr id="30" name="Text 28"/>
          <p:cNvSpPr/>
          <p:nvPr/>
        </p:nvSpPr>
        <p:spPr>
          <a:xfrm>
            <a:off x="512064" y="345643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이상 시</a:t>
            </a:r>
            <a:endParaRPr lang="en-US" sz="880" dirty="0"/>
          </a:p>
        </p:txBody>
      </p:sp>
      <p:sp>
        <p:nvSpPr>
          <p:cNvPr id="31" name="Text 29"/>
          <p:cNvSpPr/>
          <p:nvPr/>
        </p:nvSpPr>
        <p:spPr>
          <a:xfrm>
            <a:off x="1335024" y="3438144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1A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검사 중단 → 격리 → SQM 서면 보고</a:t>
            </a:r>
            <a:endParaRPr lang="en-US" sz="930" dirty="0"/>
          </a:p>
        </p:txBody>
      </p:sp>
      <p:sp>
        <p:nvSpPr>
          <p:cNvPr id="32" name="Shape 30"/>
          <p:cNvSpPr/>
          <p:nvPr/>
        </p:nvSpPr>
        <p:spPr>
          <a:xfrm>
            <a:off x="457200" y="3822192"/>
            <a:ext cx="4059936" cy="365760"/>
          </a:xfrm>
          <a:prstGeom prst="rect">
            <a:avLst/>
          </a:prstGeom>
          <a:solidFill>
            <a:srgbClr val="FAFBF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12064" y="3858768"/>
            <a:ext cx="731520" cy="292608"/>
          </a:xfrm>
          <a:prstGeom prst="roundRect">
            <a:avLst>
              <a:gd name="adj" fmla="val 12500"/>
            </a:avLst>
          </a:prstGeom>
          <a:solidFill>
            <a:srgbClr val="1C7293"/>
          </a:solidFill>
          <a:ln/>
        </p:spPr>
      </p:sp>
      <p:sp>
        <p:nvSpPr>
          <p:cNvPr id="34" name="Text 32"/>
          <p:cNvSpPr/>
          <p:nvPr/>
        </p:nvSpPr>
        <p:spPr>
          <a:xfrm>
            <a:off x="512064" y="3858768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퇴근 전</a:t>
            </a:r>
            <a:endParaRPr lang="en-US" sz="880" dirty="0"/>
          </a:p>
        </p:txBody>
      </p:sp>
      <p:sp>
        <p:nvSpPr>
          <p:cNvPr id="35" name="Text 33"/>
          <p:cNvSpPr/>
          <p:nvPr/>
        </p:nvSpPr>
        <p:spPr>
          <a:xfrm>
            <a:off x="1335024" y="3840480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1A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일일 업무보고 생성 → 보완 → 저장</a:t>
            </a:r>
            <a:endParaRPr lang="en-US" sz="930" dirty="0"/>
          </a:p>
        </p:txBody>
      </p:sp>
      <p:sp>
        <p:nvSpPr>
          <p:cNvPr id="36" name="Shape 34"/>
          <p:cNvSpPr/>
          <p:nvPr/>
        </p:nvSpPr>
        <p:spPr>
          <a:xfrm>
            <a:off x="4809744" y="1078992"/>
            <a:ext cx="3877056" cy="14630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1F6B4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809744" y="1078992"/>
            <a:ext cx="45720" cy="1463040"/>
          </a:xfrm>
          <a:prstGeom prst="rect">
            <a:avLst/>
          </a:prstGeom>
          <a:solidFill>
            <a:srgbClr val="1F6B4A"/>
          </a:solidFill>
          <a:ln/>
        </p:spPr>
      </p:sp>
      <p:sp>
        <p:nvSpPr>
          <p:cNvPr id="38" name="Text 36"/>
          <p:cNvSpPr/>
          <p:nvPr/>
        </p:nvSpPr>
        <p:spPr>
          <a:xfrm>
            <a:off x="5029200" y="1188720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반드시 지킬 것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5029200" y="1463040"/>
            <a:ext cx="3438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1A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부품 취급 전 지정 장갑 착용 확인</a:t>
            </a:r>
            <a:endParaRPr lang="en-US" sz="920" dirty="0"/>
          </a:p>
        </p:txBody>
      </p:sp>
      <p:sp>
        <p:nvSpPr>
          <p:cNvPr id="40" name="Text 38"/>
          <p:cNvSpPr/>
          <p:nvPr/>
        </p:nvSpPr>
        <p:spPr>
          <a:xfrm>
            <a:off x="5029200" y="1709928"/>
            <a:ext cx="3438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1A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지정 트레이·팔레트 위에서만 취급</a:t>
            </a:r>
            <a:endParaRPr lang="en-US" sz="920" dirty="0"/>
          </a:p>
        </p:txBody>
      </p:sp>
      <p:sp>
        <p:nvSpPr>
          <p:cNvPr id="41" name="Text 39"/>
          <p:cNvSpPr/>
          <p:nvPr/>
        </p:nvSpPr>
        <p:spPr>
          <a:xfrm>
            <a:off x="5029200" y="1956816"/>
            <a:ext cx="3438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1A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낙하 시 즉시 별도 격리 후 재검사</a:t>
            </a:r>
            <a:endParaRPr lang="en-US" sz="920" dirty="0"/>
          </a:p>
        </p:txBody>
      </p:sp>
      <p:sp>
        <p:nvSpPr>
          <p:cNvPr id="42" name="Text 40"/>
          <p:cNvSpPr/>
          <p:nvPr/>
        </p:nvSpPr>
        <p:spPr>
          <a:xfrm>
            <a:off x="5029200" y="2203704"/>
            <a:ext cx="3438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1A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검사 완료품은 지정 위치에 정렬 적재</a:t>
            </a:r>
            <a:endParaRPr lang="en-US" sz="920" dirty="0"/>
          </a:p>
        </p:txBody>
      </p:sp>
      <p:sp>
        <p:nvSpPr>
          <p:cNvPr id="43" name="Shape 41"/>
          <p:cNvSpPr/>
          <p:nvPr/>
        </p:nvSpPr>
        <p:spPr>
          <a:xfrm>
            <a:off x="4809744" y="2651760"/>
            <a:ext cx="3877056" cy="1591056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 w="12700">
            <a:solidFill>
              <a:srgbClr val="A8323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809744" y="2651760"/>
            <a:ext cx="45720" cy="1591056"/>
          </a:xfrm>
          <a:prstGeom prst="rect">
            <a:avLst/>
          </a:prstGeom>
          <a:solidFill>
            <a:srgbClr val="A83232"/>
          </a:solidFill>
          <a:ln/>
        </p:spPr>
      </p:sp>
      <p:sp>
        <p:nvSpPr>
          <p:cNvPr id="45" name="Text 43"/>
          <p:cNvSpPr/>
          <p:nvPr/>
        </p:nvSpPr>
        <p:spPr>
          <a:xfrm>
            <a:off x="5029200" y="2761488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8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주의 사항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5029200" y="3035808"/>
            <a:ext cx="3438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1A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부품을 맨손으로 만지지 않는다</a:t>
            </a:r>
            <a:endParaRPr lang="en-US" sz="920" dirty="0"/>
          </a:p>
        </p:txBody>
      </p:sp>
      <p:sp>
        <p:nvSpPr>
          <p:cNvPr id="47" name="Text 45"/>
          <p:cNvSpPr/>
          <p:nvPr/>
        </p:nvSpPr>
        <p:spPr>
          <a:xfrm>
            <a:off x="5029200" y="3273552"/>
            <a:ext cx="3438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1A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부품을 발로 차거나 밀치지 않는다</a:t>
            </a:r>
            <a:endParaRPr lang="en-US" sz="920" dirty="0"/>
          </a:p>
        </p:txBody>
      </p:sp>
      <p:sp>
        <p:nvSpPr>
          <p:cNvPr id="48" name="Text 46"/>
          <p:cNvSpPr/>
          <p:nvPr/>
        </p:nvSpPr>
        <p:spPr>
          <a:xfrm>
            <a:off x="5029200" y="3511296"/>
            <a:ext cx="3438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1A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박스를 바닥에 던지거나 끌지 않는다</a:t>
            </a:r>
            <a:endParaRPr lang="en-US" sz="920" dirty="0"/>
          </a:p>
        </p:txBody>
      </p:sp>
      <p:sp>
        <p:nvSpPr>
          <p:cNvPr id="49" name="Text 47"/>
          <p:cNvSpPr/>
          <p:nvPr/>
        </p:nvSpPr>
        <p:spPr>
          <a:xfrm>
            <a:off x="5029200" y="3749040"/>
            <a:ext cx="3438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1A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검사 완료품·미검사품을 섞지 않는다</a:t>
            </a:r>
            <a:endParaRPr lang="en-US" sz="920" dirty="0"/>
          </a:p>
        </p:txBody>
      </p:sp>
      <p:sp>
        <p:nvSpPr>
          <p:cNvPr id="50" name="Text 48"/>
          <p:cNvSpPr/>
          <p:nvPr/>
        </p:nvSpPr>
        <p:spPr>
          <a:xfrm>
            <a:off x="5029200" y="3986784"/>
            <a:ext cx="3438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1A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부적합품을 일반 자재와 함께 두지 않는다</a:t>
            </a:r>
            <a:endParaRPr lang="en-US" sz="920" dirty="0"/>
          </a:p>
        </p:txBody>
      </p:sp>
      <p:sp>
        <p:nvSpPr>
          <p:cNvPr id="51" name="Shape 49"/>
          <p:cNvSpPr/>
          <p:nvPr/>
        </p:nvSpPr>
        <p:spPr>
          <a:xfrm>
            <a:off x="457200" y="4718304"/>
            <a:ext cx="8229600" cy="10973"/>
          </a:xfrm>
          <a:prstGeom prst="rect">
            <a:avLst/>
          </a:prstGeom>
          <a:solidFill>
            <a:srgbClr val="C4D2DD"/>
          </a:solidFill>
          <a:ln/>
        </p:spPr>
      </p:sp>
      <p:sp>
        <p:nvSpPr>
          <p:cNvPr id="52" name="Text 50"/>
          <p:cNvSpPr/>
          <p:nvPr/>
        </p:nvSpPr>
        <p:spPr>
          <a:xfrm>
            <a:off x="457200" y="4773168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㈜인시스  ·  셰플러 이천공장 수입검사 실행계획서 v4.6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8275320" y="4773168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896112"/>
          </a:xfrm>
          <a:prstGeom prst="rect">
            <a:avLst/>
          </a:prstGeom>
          <a:solidFill>
            <a:srgbClr val="EEF3F7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896112"/>
            <a:ext cx="9144000" cy="20117"/>
          </a:xfrm>
          <a:prstGeom prst="rect">
            <a:avLst/>
          </a:prstGeom>
          <a:solidFill>
            <a:srgbClr val="0B4F6C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219456"/>
            <a:ext cx="457200" cy="457200"/>
          </a:xfrm>
          <a:prstGeom prst="ellipse">
            <a:avLst/>
          </a:prstGeom>
          <a:solidFill>
            <a:srgbClr val="0B4F6C"/>
          </a:solidFill>
          <a:ln w="12700">
            <a:solidFill>
              <a:srgbClr val="0B4F6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194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42416" y="18288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업무일지 운영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42416" y="548640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일일 업무 내역 자동 취합 · 이력 추적 체계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1106424"/>
            <a:ext cx="45720" cy="21945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585216" y="1078992"/>
            <a:ext cx="3163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입력 (검사원)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1463040"/>
            <a:ext cx="3200400" cy="512064"/>
          </a:xfrm>
          <a:prstGeom prst="roundRect">
            <a:avLst>
              <a:gd name="adj" fmla="val 7143"/>
            </a:avLst>
          </a:prstGeom>
          <a:solidFill>
            <a:srgbClr val="FAFBFC"/>
          </a:solidFill>
          <a:ln w="12700">
            <a:solidFill>
              <a:srgbClr val="C4D2D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1463040"/>
            <a:ext cx="45720" cy="51206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676656" y="1517904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수입검사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76656" y="171907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품목 · 외관 · 치수 · 판정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57200" y="2066544"/>
            <a:ext cx="3200400" cy="512064"/>
          </a:xfrm>
          <a:prstGeom prst="roundRect">
            <a:avLst>
              <a:gd name="adj" fmla="val 7143"/>
            </a:avLst>
          </a:prstGeom>
          <a:solidFill>
            <a:srgbClr val="FAFBFC"/>
          </a:solidFill>
          <a:ln w="12700">
            <a:solidFill>
              <a:srgbClr val="C4D2D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066544"/>
            <a:ext cx="45720" cy="51206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676656" y="212140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측정의뢰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76656" y="232257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의뢰 내용 (결과는 검사 시 입력)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57200" y="2670048"/>
            <a:ext cx="3200400" cy="512064"/>
          </a:xfrm>
          <a:prstGeom prst="roundRect">
            <a:avLst>
              <a:gd name="adj" fmla="val 7143"/>
            </a:avLst>
          </a:prstGeom>
          <a:solidFill>
            <a:srgbClr val="FAFBFC"/>
          </a:solidFill>
          <a:ln w="12700">
            <a:solidFill>
              <a:srgbClr val="C4D2D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2670048"/>
            <a:ext cx="45720" cy="51206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676656" y="272491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부적합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76656" y="29260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유형·수량·처리 방법·상태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749040" y="21031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4297680" y="1463040"/>
            <a:ext cx="4389120" cy="2011680"/>
          </a:xfrm>
          <a:prstGeom prst="roundRect">
            <a:avLst>
              <a:gd name="adj" fmla="val 1818"/>
            </a:avLst>
          </a:prstGeom>
          <a:solidFill>
            <a:srgbClr val="FAFBFC"/>
          </a:solidFill>
          <a:ln w="12700">
            <a:solidFill>
              <a:srgbClr val="0B4F6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297680" y="1463040"/>
            <a:ext cx="4389120" cy="384048"/>
          </a:xfrm>
          <a:prstGeom prst="rect">
            <a:avLst/>
          </a:prstGeom>
          <a:solidFill>
            <a:srgbClr val="DCE6EE"/>
          </a:solidFill>
          <a:ln/>
        </p:spPr>
      </p:sp>
      <p:sp>
        <p:nvSpPr>
          <p:cNvPr id="26" name="Text 24"/>
          <p:cNvSpPr/>
          <p:nvPr/>
        </p:nvSpPr>
        <p:spPr>
          <a:xfrm>
            <a:off x="4517136" y="146304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일일 업무 보고 자동 생성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517136" y="1975104"/>
            <a:ext cx="1883664" cy="566928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C4D2D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45152" y="2029968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보고 일자 선택</a:t>
            </a:r>
            <a:endParaRPr lang="en-US" sz="1030" dirty="0"/>
          </a:p>
        </p:txBody>
      </p:sp>
      <p:sp>
        <p:nvSpPr>
          <p:cNvPr id="29" name="Text 27"/>
          <p:cNvSpPr/>
          <p:nvPr/>
        </p:nvSpPr>
        <p:spPr>
          <a:xfrm>
            <a:off x="4645152" y="226771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당일 자동 · 변경 가능</a:t>
            </a:r>
            <a:endParaRPr lang="en-US" sz="820" dirty="0"/>
          </a:p>
        </p:txBody>
      </p:sp>
      <p:sp>
        <p:nvSpPr>
          <p:cNvPr id="30" name="Shape 28"/>
          <p:cNvSpPr/>
          <p:nvPr/>
        </p:nvSpPr>
        <p:spPr>
          <a:xfrm>
            <a:off x="6565392" y="1975104"/>
            <a:ext cx="1883664" cy="566928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C4D2D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93408" y="2029968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통계 요약</a:t>
            </a:r>
            <a:endParaRPr lang="en-US" sz="1030" dirty="0"/>
          </a:p>
        </p:txBody>
      </p:sp>
      <p:sp>
        <p:nvSpPr>
          <p:cNvPr id="32" name="Text 30"/>
          <p:cNvSpPr/>
          <p:nvPr/>
        </p:nvSpPr>
        <p:spPr>
          <a:xfrm>
            <a:off x="6693408" y="226771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검사 건수 · 합격률</a:t>
            </a:r>
            <a:endParaRPr lang="en-US" sz="820" dirty="0"/>
          </a:p>
        </p:txBody>
      </p:sp>
      <p:sp>
        <p:nvSpPr>
          <p:cNvPr id="33" name="Shape 31"/>
          <p:cNvSpPr/>
          <p:nvPr/>
        </p:nvSpPr>
        <p:spPr>
          <a:xfrm>
            <a:off x="4517136" y="2651760"/>
            <a:ext cx="1883664" cy="566928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C4D2D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45152" y="2706624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상세 내역</a:t>
            </a:r>
            <a:endParaRPr lang="en-US" sz="1030" dirty="0"/>
          </a:p>
        </p:txBody>
      </p:sp>
      <p:sp>
        <p:nvSpPr>
          <p:cNvPr id="35" name="Text 33"/>
          <p:cNvSpPr/>
          <p:nvPr/>
        </p:nvSpPr>
        <p:spPr>
          <a:xfrm>
            <a:off x="4645152" y="294436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항목별 테이블 자동 구성</a:t>
            </a:r>
            <a:endParaRPr lang="en-US" sz="820" dirty="0"/>
          </a:p>
        </p:txBody>
      </p:sp>
      <p:sp>
        <p:nvSpPr>
          <p:cNvPr id="36" name="Shape 34"/>
          <p:cNvSpPr/>
          <p:nvPr/>
        </p:nvSpPr>
        <p:spPr>
          <a:xfrm>
            <a:off x="6565392" y="2651760"/>
            <a:ext cx="1883664" cy="566928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C4D2D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693408" y="2706624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특기사항</a:t>
            </a:r>
            <a:endParaRPr lang="en-US" sz="1030" dirty="0"/>
          </a:p>
        </p:txBody>
      </p:sp>
      <p:sp>
        <p:nvSpPr>
          <p:cNvPr id="38" name="Text 36"/>
          <p:cNvSpPr/>
          <p:nvPr/>
        </p:nvSpPr>
        <p:spPr>
          <a:xfrm>
            <a:off x="6693408" y="294436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유일하게 직접 입력</a:t>
            </a:r>
            <a:endParaRPr lang="en-US" sz="820" dirty="0"/>
          </a:p>
        </p:txBody>
      </p:sp>
      <p:sp>
        <p:nvSpPr>
          <p:cNvPr id="39" name="Shape 37"/>
          <p:cNvSpPr/>
          <p:nvPr/>
        </p:nvSpPr>
        <p:spPr>
          <a:xfrm>
            <a:off x="457200" y="3602736"/>
            <a:ext cx="8229600" cy="64008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C4D2DD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58368" y="3721608"/>
            <a:ext cx="45720" cy="219456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41" name="Text 39"/>
          <p:cNvSpPr/>
          <p:nvPr/>
        </p:nvSpPr>
        <p:spPr>
          <a:xfrm>
            <a:off x="786384" y="3694176"/>
            <a:ext cx="2615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작성 및 보고 기준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658368" y="3950208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작성 시점: 매일 퇴근 전  |  작성자: 당일 근무 검사원  |  일일: 시스템 조회 · 주간: 금요일 이메일 · 월간: 방문 면담 시 대면  |  보관: 클라우드 영구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57200" y="4718304"/>
            <a:ext cx="8229600" cy="10973"/>
          </a:xfrm>
          <a:prstGeom prst="rect">
            <a:avLst/>
          </a:prstGeom>
          <a:solidFill>
            <a:srgbClr val="C4D2DD"/>
          </a:solidFill>
          <a:ln/>
        </p:spPr>
      </p:sp>
      <p:sp>
        <p:nvSpPr>
          <p:cNvPr id="44" name="Text 42"/>
          <p:cNvSpPr/>
          <p:nvPr/>
        </p:nvSpPr>
        <p:spPr>
          <a:xfrm>
            <a:off x="457200" y="4773168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㈜인시스  ·  셰플러 이천공장 수입검사 실행계획서 v4.6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8275320" y="4773168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896112"/>
          </a:xfrm>
          <a:prstGeom prst="rect">
            <a:avLst/>
          </a:prstGeom>
          <a:solidFill>
            <a:srgbClr val="EEF3F7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896112"/>
            <a:ext cx="9144000" cy="20117"/>
          </a:xfrm>
          <a:prstGeom prst="rect">
            <a:avLst/>
          </a:prstGeom>
          <a:solidFill>
            <a:srgbClr val="0B4F6C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219456"/>
            <a:ext cx="457200" cy="457200"/>
          </a:xfrm>
          <a:prstGeom prst="ellipse">
            <a:avLst/>
          </a:prstGeom>
          <a:solidFill>
            <a:srgbClr val="0B4F6C"/>
          </a:solidFill>
          <a:ln w="12700">
            <a:solidFill>
              <a:srgbClr val="0B4F6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194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42416" y="18288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ERP 기반 모니터링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42416" y="548640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수입검사 업무관리 시스템 — 7개 메뉴 구성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1078992"/>
            <a:ext cx="1920240" cy="676656"/>
          </a:xfrm>
          <a:prstGeom prst="roundRect">
            <a:avLst>
              <a:gd name="adj" fmla="val 5405"/>
            </a:avLst>
          </a:prstGeom>
          <a:solidFill>
            <a:srgbClr val="FAFBFC"/>
          </a:solidFill>
          <a:ln w="12700">
            <a:solidFill>
              <a:srgbClr val="C4D2D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078992"/>
            <a:ext cx="45720" cy="67665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170432"/>
            <a:ext cx="16824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품목 관리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1426464"/>
            <a:ext cx="1682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일괄 등록 · 확인 주기</a:t>
            </a:r>
            <a:endParaRPr lang="en-US" sz="830" dirty="0"/>
          </a:p>
        </p:txBody>
      </p:sp>
      <p:sp>
        <p:nvSpPr>
          <p:cNvPr id="13" name="Shape 11"/>
          <p:cNvSpPr/>
          <p:nvPr/>
        </p:nvSpPr>
        <p:spPr>
          <a:xfrm>
            <a:off x="2560320" y="1078992"/>
            <a:ext cx="1920240" cy="676656"/>
          </a:xfrm>
          <a:prstGeom prst="roundRect">
            <a:avLst>
              <a:gd name="adj" fmla="val 5405"/>
            </a:avLst>
          </a:prstGeom>
          <a:solidFill>
            <a:srgbClr val="FAFBFC"/>
          </a:solidFill>
          <a:ln w="12700">
            <a:solidFill>
              <a:srgbClr val="C4D2D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60320" y="1078992"/>
            <a:ext cx="45720" cy="67665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0" y="1170432"/>
            <a:ext cx="16824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측정의뢰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743200" y="1426464"/>
            <a:ext cx="1682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의뢰 등록 · 결과 연동</a:t>
            </a:r>
            <a:endParaRPr lang="en-US" sz="830" dirty="0"/>
          </a:p>
        </p:txBody>
      </p:sp>
      <p:sp>
        <p:nvSpPr>
          <p:cNvPr id="17" name="Shape 15"/>
          <p:cNvSpPr/>
          <p:nvPr/>
        </p:nvSpPr>
        <p:spPr>
          <a:xfrm>
            <a:off x="4663440" y="1078992"/>
            <a:ext cx="1920240" cy="676656"/>
          </a:xfrm>
          <a:prstGeom prst="roundRect">
            <a:avLst>
              <a:gd name="adj" fmla="val 5405"/>
            </a:avLst>
          </a:prstGeom>
          <a:solidFill>
            <a:srgbClr val="FAFBFC"/>
          </a:solidFill>
          <a:ln w="12700">
            <a:solidFill>
              <a:srgbClr val="C4D2D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63440" y="1078992"/>
            <a:ext cx="45720" cy="67665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9" name="Text 17"/>
          <p:cNvSpPr/>
          <p:nvPr/>
        </p:nvSpPr>
        <p:spPr>
          <a:xfrm>
            <a:off x="4846320" y="1170432"/>
            <a:ext cx="16824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수입검사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46320" y="1426464"/>
            <a:ext cx="1682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품목 선택 · 외관/치수/판정</a:t>
            </a:r>
            <a:endParaRPr lang="en-US" sz="830" dirty="0"/>
          </a:p>
        </p:txBody>
      </p:sp>
      <p:sp>
        <p:nvSpPr>
          <p:cNvPr id="21" name="Shape 19"/>
          <p:cNvSpPr/>
          <p:nvPr/>
        </p:nvSpPr>
        <p:spPr>
          <a:xfrm>
            <a:off x="6766560" y="1078992"/>
            <a:ext cx="1920240" cy="676656"/>
          </a:xfrm>
          <a:prstGeom prst="roundRect">
            <a:avLst>
              <a:gd name="adj" fmla="val 5405"/>
            </a:avLst>
          </a:prstGeom>
          <a:solidFill>
            <a:srgbClr val="FAFBFC"/>
          </a:solidFill>
          <a:ln w="12700">
            <a:solidFill>
              <a:srgbClr val="C4D2D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766560" y="1078992"/>
            <a:ext cx="45720" cy="67665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3" name="Text 21"/>
          <p:cNvSpPr/>
          <p:nvPr/>
        </p:nvSpPr>
        <p:spPr>
          <a:xfrm>
            <a:off x="6949440" y="1170432"/>
            <a:ext cx="16824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부적합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949440" y="1426464"/>
            <a:ext cx="1682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격리 · SQM 통보 · 추적</a:t>
            </a:r>
            <a:endParaRPr lang="en-US" sz="830" dirty="0"/>
          </a:p>
        </p:txBody>
      </p:sp>
      <p:sp>
        <p:nvSpPr>
          <p:cNvPr id="25" name="Shape 23"/>
          <p:cNvSpPr/>
          <p:nvPr/>
        </p:nvSpPr>
        <p:spPr>
          <a:xfrm>
            <a:off x="457200" y="1865376"/>
            <a:ext cx="1920240" cy="676656"/>
          </a:xfrm>
          <a:prstGeom prst="roundRect">
            <a:avLst>
              <a:gd name="adj" fmla="val 5405"/>
            </a:avLst>
          </a:prstGeom>
          <a:solidFill>
            <a:srgbClr val="FAFBFC"/>
          </a:solidFill>
          <a:ln w="12700">
            <a:solidFill>
              <a:srgbClr val="C4D2D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1865376"/>
            <a:ext cx="45720" cy="67665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1956816"/>
            <a:ext cx="16824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일일 업무보고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0080" y="2212848"/>
            <a:ext cx="1682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자동 취합 · 인쇄 출력</a:t>
            </a:r>
            <a:endParaRPr lang="en-US" sz="830" dirty="0"/>
          </a:p>
        </p:txBody>
      </p:sp>
      <p:sp>
        <p:nvSpPr>
          <p:cNvPr id="29" name="Shape 27"/>
          <p:cNvSpPr/>
          <p:nvPr/>
        </p:nvSpPr>
        <p:spPr>
          <a:xfrm>
            <a:off x="2560320" y="1865376"/>
            <a:ext cx="1920240" cy="676656"/>
          </a:xfrm>
          <a:prstGeom prst="roundRect">
            <a:avLst>
              <a:gd name="adj" fmla="val 5405"/>
            </a:avLst>
          </a:prstGeom>
          <a:solidFill>
            <a:srgbClr val="FAFBFC"/>
          </a:solidFill>
          <a:ln w="12700">
            <a:solidFill>
              <a:srgbClr val="C4D2D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560320" y="1865376"/>
            <a:ext cx="45720" cy="67665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1" name="Text 29"/>
          <p:cNvSpPr/>
          <p:nvPr/>
        </p:nvSpPr>
        <p:spPr>
          <a:xfrm>
            <a:off x="2743200" y="1956816"/>
            <a:ext cx="16824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교육 · 면담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743200" y="2212848"/>
            <a:ext cx="1682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교육·방문면담·역량평가</a:t>
            </a:r>
            <a:endParaRPr lang="en-US" sz="830" dirty="0"/>
          </a:p>
        </p:txBody>
      </p:sp>
      <p:sp>
        <p:nvSpPr>
          <p:cNvPr id="33" name="Shape 31"/>
          <p:cNvSpPr/>
          <p:nvPr/>
        </p:nvSpPr>
        <p:spPr>
          <a:xfrm>
            <a:off x="4663440" y="1865376"/>
            <a:ext cx="1920240" cy="676656"/>
          </a:xfrm>
          <a:prstGeom prst="roundRect">
            <a:avLst>
              <a:gd name="adj" fmla="val 5405"/>
            </a:avLst>
          </a:prstGeom>
          <a:solidFill>
            <a:srgbClr val="FAFBFC"/>
          </a:solidFill>
          <a:ln w="12700">
            <a:solidFill>
              <a:srgbClr val="C4D2D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663440" y="1865376"/>
            <a:ext cx="45720" cy="67665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5" name="Text 33"/>
          <p:cNvSpPr/>
          <p:nvPr/>
        </p:nvSpPr>
        <p:spPr>
          <a:xfrm>
            <a:off x="4846320" y="1956816"/>
            <a:ext cx="16824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업무지원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846320" y="2212848"/>
            <a:ext cx="1682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소모품 · 안전용품 신청</a:t>
            </a:r>
            <a:endParaRPr lang="en-US" sz="830" dirty="0"/>
          </a:p>
        </p:txBody>
      </p:sp>
      <p:sp>
        <p:nvSpPr>
          <p:cNvPr id="37" name="Shape 35"/>
          <p:cNvSpPr/>
          <p:nvPr/>
        </p:nvSpPr>
        <p:spPr>
          <a:xfrm>
            <a:off x="457200" y="2770632"/>
            <a:ext cx="45720" cy="219456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38" name="Text 36"/>
          <p:cNvSpPr/>
          <p:nvPr/>
        </p:nvSpPr>
        <p:spPr>
          <a:xfrm>
            <a:off x="585216" y="2743200"/>
            <a:ext cx="3895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실시간 모니터링 지표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457200" y="3072384"/>
            <a:ext cx="8229600" cy="310896"/>
          </a:xfrm>
          <a:prstGeom prst="rect">
            <a:avLst/>
          </a:prstGeom>
          <a:solidFill>
            <a:srgbClr val="DCE6EE"/>
          </a:solidFill>
          <a:ln/>
        </p:spPr>
      </p:sp>
      <p:sp>
        <p:nvSpPr>
          <p:cNvPr id="40" name="Text 38"/>
          <p:cNvSpPr/>
          <p:nvPr/>
        </p:nvSpPr>
        <p:spPr>
          <a:xfrm>
            <a:off x="457200" y="3072384"/>
            <a:ext cx="1554480" cy="310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구분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2011680" y="3072384"/>
            <a:ext cx="3383280" cy="310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모니터링 항목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5394960" y="3072384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확인 주기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6949440" y="3072384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확인 주체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57200" y="3383280"/>
            <a:ext cx="8229600" cy="384048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45" name="Text 43"/>
          <p:cNvSpPr/>
          <p:nvPr/>
        </p:nvSpPr>
        <p:spPr>
          <a:xfrm>
            <a:off x="457200" y="3383280"/>
            <a:ext cx="1554480" cy="3840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검사 실적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2011680" y="3383280"/>
            <a:ext cx="3383280" cy="3840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당일 검사 건수 · 합격률 · 판정 현황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5394960" y="338328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실시간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6949440" y="338328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검사원 · 관리자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457200" y="3767328"/>
            <a:ext cx="1554480" cy="3840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SQM 대기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2011680" y="3767328"/>
            <a:ext cx="3383280" cy="3840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기준서 이상 회신 대기 · 부적합 승인 대기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5394960" y="376732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실시간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6949440" y="3767328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인시스 관리자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457200" y="4151376"/>
            <a:ext cx="8229600" cy="384048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54" name="Text 52"/>
          <p:cNvSpPr/>
          <p:nvPr/>
        </p:nvSpPr>
        <p:spPr>
          <a:xfrm>
            <a:off x="457200" y="4151376"/>
            <a:ext cx="1554480" cy="3840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인력 운영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2011680" y="4151376"/>
            <a:ext cx="3383280" cy="3840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기준서 확인 주기 도래 · 교육 · 면담 · 평가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5394960" y="4151376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월간 · 분기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6949440" y="4151376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송지원 대표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457200" y="4718304"/>
            <a:ext cx="8229600" cy="10973"/>
          </a:xfrm>
          <a:prstGeom prst="rect">
            <a:avLst/>
          </a:prstGeom>
          <a:solidFill>
            <a:srgbClr val="C4D2DD"/>
          </a:solidFill>
          <a:ln/>
        </p:spPr>
      </p:sp>
      <p:sp>
        <p:nvSpPr>
          <p:cNvPr id="59" name="Text 57"/>
          <p:cNvSpPr/>
          <p:nvPr/>
        </p:nvSpPr>
        <p:spPr>
          <a:xfrm>
            <a:off x="457200" y="4773168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㈜인시스  ·  셰플러 이천공장 수입검사 실행계획서 v4.6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8275320" y="4773168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896112"/>
          </a:xfrm>
          <a:prstGeom prst="rect">
            <a:avLst/>
          </a:prstGeom>
          <a:solidFill>
            <a:srgbClr val="EEF3F7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896112"/>
            <a:ext cx="9144000" cy="20117"/>
          </a:xfrm>
          <a:prstGeom prst="rect">
            <a:avLst/>
          </a:prstGeom>
          <a:solidFill>
            <a:srgbClr val="0B4F6C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219456"/>
            <a:ext cx="457200" cy="457200"/>
          </a:xfrm>
          <a:prstGeom prst="ellipse">
            <a:avLst/>
          </a:prstGeom>
          <a:solidFill>
            <a:srgbClr val="0B4F6C"/>
          </a:solidFill>
          <a:ln w="12700">
            <a:solidFill>
              <a:srgbClr val="0B4F6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194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42416" y="18288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계정 · 접근 권한 체계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42416" y="548640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소속별 권한 구분 — ㈜인시스 전체 권한 / 셰플러 부분 권한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1133856"/>
            <a:ext cx="8229600" cy="621792"/>
          </a:xfrm>
          <a:prstGeom prst="roundRect">
            <a:avLst>
              <a:gd name="adj" fmla="val 5882"/>
            </a:avLst>
          </a:prstGeom>
          <a:solidFill>
            <a:srgbClr val="FAFBFC"/>
          </a:solidFill>
          <a:ln w="12700">
            <a:solidFill>
              <a:srgbClr val="C4D2D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298448"/>
            <a:ext cx="658368" cy="292608"/>
          </a:xfrm>
          <a:prstGeom prst="roundRect">
            <a:avLst>
              <a:gd name="adj" fmla="val 15625"/>
            </a:avLst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" y="1298448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작성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481328" y="1225296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㈜인시스 계정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481328" y="1463040"/>
            <a:ext cx="6949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 메뉴 등록·수정·삭제 (품목·측정의뢰·수입검사·부적합·보고서 등)</a:t>
            </a:r>
            <a:endParaRPr lang="en-US" sz="930" dirty="0"/>
          </a:p>
        </p:txBody>
      </p:sp>
      <p:sp>
        <p:nvSpPr>
          <p:cNvPr id="14" name="Shape 12"/>
          <p:cNvSpPr/>
          <p:nvPr/>
        </p:nvSpPr>
        <p:spPr>
          <a:xfrm>
            <a:off x="457200" y="1847088"/>
            <a:ext cx="8229600" cy="621792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C4D2D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58368" y="2011680"/>
            <a:ext cx="658368" cy="292608"/>
          </a:xfrm>
          <a:prstGeom prst="roundRect">
            <a:avLst>
              <a:gd name="adj" fmla="val 15625"/>
            </a:avLst>
          </a:prstGeom>
          <a:solidFill>
            <a:srgbClr val="0B4F6C"/>
          </a:solidFill>
          <a:ln/>
        </p:spPr>
      </p:sp>
      <p:sp>
        <p:nvSpPr>
          <p:cNvPr id="16" name="Text 14"/>
          <p:cNvSpPr/>
          <p:nvPr/>
        </p:nvSpPr>
        <p:spPr>
          <a:xfrm>
            <a:off x="658368" y="2011680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승인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481328" y="1938528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이천공장 송지원 대표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481328" y="2176272"/>
            <a:ext cx="6949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일일 업무보고 확인 및 승인</a:t>
            </a:r>
            <a:endParaRPr lang="en-US" sz="930" dirty="0"/>
          </a:p>
        </p:txBody>
      </p:sp>
      <p:sp>
        <p:nvSpPr>
          <p:cNvPr id="19" name="Shape 17"/>
          <p:cNvSpPr/>
          <p:nvPr/>
        </p:nvSpPr>
        <p:spPr>
          <a:xfrm>
            <a:off x="457200" y="2560320"/>
            <a:ext cx="8229600" cy="621792"/>
          </a:xfrm>
          <a:prstGeom prst="roundRect">
            <a:avLst>
              <a:gd name="adj" fmla="val 5882"/>
            </a:avLst>
          </a:prstGeom>
          <a:solidFill>
            <a:srgbClr val="FAFBFC"/>
          </a:solidFill>
          <a:ln w="12700">
            <a:solidFill>
              <a:srgbClr val="C4D2D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8368" y="2724912"/>
            <a:ext cx="658368" cy="292608"/>
          </a:xfrm>
          <a:prstGeom prst="roundRect">
            <a:avLst>
              <a:gd name="adj" fmla="val 15625"/>
            </a:avLst>
          </a:prstGeom>
          <a:solidFill>
            <a:srgbClr val="5A6B7C"/>
          </a:solidFill>
          <a:ln/>
        </p:spPr>
      </p:sp>
      <p:sp>
        <p:nvSpPr>
          <p:cNvPr id="21" name="Text 19"/>
          <p:cNvSpPr/>
          <p:nvPr/>
        </p:nvSpPr>
        <p:spPr>
          <a:xfrm>
            <a:off x="658368" y="2724912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열람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481328" y="2651760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셰플러 계정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481328" y="2889504"/>
            <a:ext cx="6949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품목관리·측정의뢰 전체 권한 / 그 외 메뉴 열람만 가능</a:t>
            </a:r>
            <a:endParaRPr lang="en-US" sz="930" dirty="0"/>
          </a:p>
        </p:txBody>
      </p:sp>
      <p:sp>
        <p:nvSpPr>
          <p:cNvPr id="24" name="Shape 22"/>
          <p:cNvSpPr/>
          <p:nvPr/>
        </p:nvSpPr>
        <p:spPr>
          <a:xfrm>
            <a:off x="457200" y="3273552"/>
            <a:ext cx="8229600" cy="621792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C4D2D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8368" y="3438144"/>
            <a:ext cx="658368" cy="292608"/>
          </a:xfrm>
          <a:prstGeom prst="roundRect">
            <a:avLst>
              <a:gd name="adj" fmla="val 15625"/>
            </a:avLst>
          </a:prstGeom>
          <a:solidFill>
            <a:srgbClr val="B8860B"/>
          </a:solidFill>
          <a:ln/>
        </p:spPr>
      </p:sp>
      <p:sp>
        <p:nvSpPr>
          <p:cNvPr id="26" name="Text 24"/>
          <p:cNvSpPr/>
          <p:nvPr/>
        </p:nvSpPr>
        <p:spPr>
          <a:xfrm>
            <a:off x="658368" y="3438144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가입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481328" y="3364992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이메일 계정 등록 요청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481328" y="3602736"/>
            <a:ext cx="6949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임시 비밀번호 메일 발송 → 로그인 후 소속 선택 및 비밀번호 변경</a:t>
            </a:r>
            <a:endParaRPr lang="en-US" sz="930" dirty="0"/>
          </a:p>
        </p:txBody>
      </p:sp>
      <p:sp>
        <p:nvSpPr>
          <p:cNvPr id="29" name="Shape 27"/>
          <p:cNvSpPr/>
          <p:nvPr/>
        </p:nvSpPr>
        <p:spPr>
          <a:xfrm>
            <a:off x="457200" y="4041648"/>
            <a:ext cx="8229600" cy="512064"/>
          </a:xfrm>
          <a:prstGeom prst="roundRect">
            <a:avLst>
              <a:gd name="adj" fmla="val 7143"/>
            </a:avLst>
          </a:prstGeom>
          <a:solidFill>
            <a:srgbClr val="DCE6EE"/>
          </a:solidFill>
          <a:ln w="12700">
            <a:solidFill>
              <a:srgbClr val="0B4F6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8368" y="4114800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진행 현황 공유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58368" y="4315968"/>
            <a:ext cx="7863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1A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주간: 매주 금요일 이메일 보고   |   월간: 월말 방문 면담 시 대면 보고   |   수시: 시스템 실시간 조회</a:t>
            </a:r>
            <a:endParaRPr lang="en-US" sz="930" dirty="0"/>
          </a:p>
        </p:txBody>
      </p:sp>
      <p:sp>
        <p:nvSpPr>
          <p:cNvPr id="32" name="Shape 30"/>
          <p:cNvSpPr/>
          <p:nvPr/>
        </p:nvSpPr>
        <p:spPr>
          <a:xfrm>
            <a:off x="457200" y="4718304"/>
            <a:ext cx="8229600" cy="10973"/>
          </a:xfrm>
          <a:prstGeom prst="rect">
            <a:avLst/>
          </a:prstGeom>
          <a:solidFill>
            <a:srgbClr val="C4D2DD"/>
          </a:solidFill>
          <a:ln/>
        </p:spPr>
      </p:sp>
      <p:sp>
        <p:nvSpPr>
          <p:cNvPr id="33" name="Text 31"/>
          <p:cNvSpPr/>
          <p:nvPr/>
        </p:nvSpPr>
        <p:spPr>
          <a:xfrm>
            <a:off x="457200" y="4773168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㈜인시스  ·  셰플러 이천공장 수입검사 실행계획서 v4.6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8275320" y="4773168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896112"/>
          </a:xfrm>
          <a:prstGeom prst="rect">
            <a:avLst/>
          </a:prstGeom>
          <a:solidFill>
            <a:srgbClr val="EEF3F7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896112"/>
            <a:ext cx="9144000" cy="20117"/>
          </a:xfrm>
          <a:prstGeom prst="rect">
            <a:avLst/>
          </a:prstGeom>
          <a:solidFill>
            <a:srgbClr val="0B4F6C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219456"/>
            <a:ext cx="457200" cy="457200"/>
          </a:xfrm>
          <a:prstGeom prst="ellipse">
            <a:avLst/>
          </a:prstGeom>
          <a:solidFill>
            <a:srgbClr val="0B4F6C"/>
          </a:solidFill>
          <a:ln w="12700">
            <a:solidFill>
              <a:srgbClr val="0B4F6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194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42416" y="18288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시스템 환경 구축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42416" y="548640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셰플러 인트라넷과 분리된 독립 네트워크 구성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1133856"/>
            <a:ext cx="2468880" cy="2103120"/>
          </a:xfrm>
          <a:prstGeom prst="roundRect">
            <a:avLst>
              <a:gd name="adj" fmla="val 1739"/>
            </a:avLst>
          </a:prstGeom>
          <a:solidFill>
            <a:srgbClr val="FAFBFC"/>
          </a:solidFill>
          <a:ln w="12700">
            <a:solidFill>
              <a:srgbClr val="5A6B7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133856"/>
            <a:ext cx="2468880" cy="365760"/>
          </a:xfrm>
          <a:prstGeom prst="rect">
            <a:avLst/>
          </a:prstGeom>
          <a:solidFill>
            <a:srgbClr val="DCE6EE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133856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셰플러 인트라넷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57200" y="153619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보안 통제 구역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40080" y="1828800"/>
            <a:ext cx="2103120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4D2D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18288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dirty="0">
                <a:solidFill>
                  <a:srgbClr val="1A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단말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640080" y="2157984"/>
            <a:ext cx="2103120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4D2D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215798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dirty="0">
                <a:solidFill>
                  <a:srgbClr val="1A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기준서 시스템</a:t>
            </a:r>
            <a:endParaRPr lang="en-US" sz="920" dirty="0"/>
          </a:p>
        </p:txBody>
      </p:sp>
      <p:sp>
        <p:nvSpPr>
          <p:cNvPr id="17" name="Shape 15"/>
          <p:cNvSpPr/>
          <p:nvPr/>
        </p:nvSpPr>
        <p:spPr>
          <a:xfrm>
            <a:off x="640080" y="2487168"/>
            <a:ext cx="2103120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4D2D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248716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dirty="0">
                <a:solidFill>
                  <a:srgbClr val="1A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외부 인터넷 차단</a:t>
            </a:r>
            <a:endParaRPr lang="en-US" sz="920" dirty="0"/>
          </a:p>
        </p:txBody>
      </p:sp>
      <p:sp>
        <p:nvSpPr>
          <p:cNvPr id="19" name="Shape 17"/>
          <p:cNvSpPr/>
          <p:nvPr/>
        </p:nvSpPr>
        <p:spPr>
          <a:xfrm>
            <a:off x="640080" y="2816352"/>
            <a:ext cx="2103120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4D2D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281635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dirty="0">
                <a:solidFill>
                  <a:srgbClr val="1A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저장매체 통제</a:t>
            </a:r>
            <a:endParaRPr lang="en-US" sz="920" dirty="0"/>
          </a:p>
        </p:txBody>
      </p:sp>
      <p:sp>
        <p:nvSpPr>
          <p:cNvPr id="21" name="Shape 19"/>
          <p:cNvSpPr/>
          <p:nvPr/>
        </p:nvSpPr>
        <p:spPr>
          <a:xfrm>
            <a:off x="3127248" y="1993392"/>
            <a:ext cx="457200" cy="4572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A8323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127248" y="1993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A8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2871216" y="2523744"/>
            <a:ext cx="9692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A8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물리적 분리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041648" y="1133856"/>
            <a:ext cx="4645152" cy="2103120"/>
          </a:xfrm>
          <a:prstGeom prst="roundRect">
            <a:avLst>
              <a:gd name="adj" fmla="val 1739"/>
            </a:avLst>
          </a:prstGeom>
          <a:solidFill>
            <a:srgbClr val="FAFBFC"/>
          </a:solidFill>
          <a:ln w="12700">
            <a:solidFill>
              <a:srgbClr val="0B4F6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041648" y="1133856"/>
            <a:ext cx="4645152" cy="365760"/>
          </a:xfrm>
          <a:prstGeom prst="rect">
            <a:avLst/>
          </a:prstGeom>
          <a:solidFill>
            <a:srgbClr val="DCE6EE"/>
          </a:solidFill>
          <a:ln/>
        </p:spPr>
      </p:sp>
      <p:sp>
        <p:nvSpPr>
          <p:cNvPr id="26" name="Text 24"/>
          <p:cNvSpPr/>
          <p:nvPr/>
        </p:nvSpPr>
        <p:spPr>
          <a:xfrm>
            <a:off x="4041648" y="1133856"/>
            <a:ext cx="4645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인시스 독립 네트워크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041648" y="1536192"/>
            <a:ext cx="4645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USIM 라우터 기반 · 무선 통신망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224528" y="1847088"/>
            <a:ext cx="1316736" cy="768096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C4D2D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279392" y="1975104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USIM 라우터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279392" y="2249424"/>
            <a:ext cx="1207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LTE / 5G</a:t>
            </a:r>
            <a:endParaRPr lang="en-US" sz="820" dirty="0"/>
          </a:p>
        </p:txBody>
      </p:sp>
      <p:sp>
        <p:nvSpPr>
          <p:cNvPr id="31" name="Shape 29"/>
          <p:cNvSpPr/>
          <p:nvPr/>
        </p:nvSpPr>
        <p:spPr>
          <a:xfrm>
            <a:off x="5577840" y="2221992"/>
            <a:ext cx="91440" cy="20117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2" name="Shape 30"/>
          <p:cNvSpPr/>
          <p:nvPr/>
        </p:nvSpPr>
        <p:spPr>
          <a:xfrm>
            <a:off x="5705856" y="1847088"/>
            <a:ext cx="1316736" cy="768096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C4D2D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760720" y="1975104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전용 노트북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760720" y="2249424"/>
            <a:ext cx="1207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업무 전용</a:t>
            </a:r>
            <a:endParaRPr lang="en-US" sz="820" dirty="0"/>
          </a:p>
        </p:txBody>
      </p:sp>
      <p:sp>
        <p:nvSpPr>
          <p:cNvPr id="35" name="Shape 33"/>
          <p:cNvSpPr/>
          <p:nvPr/>
        </p:nvSpPr>
        <p:spPr>
          <a:xfrm>
            <a:off x="7059168" y="2221992"/>
            <a:ext cx="91440" cy="20117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6" name="Shape 34"/>
          <p:cNvSpPr/>
          <p:nvPr/>
        </p:nvSpPr>
        <p:spPr>
          <a:xfrm>
            <a:off x="7187184" y="1847088"/>
            <a:ext cx="1316736" cy="768096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C4D2D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242048" y="1975104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업무관리 시스템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7242048" y="2249424"/>
            <a:ext cx="1207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클라우드 DB</a:t>
            </a:r>
            <a:endParaRPr lang="en-US" sz="820" dirty="0"/>
          </a:p>
        </p:txBody>
      </p:sp>
      <p:sp>
        <p:nvSpPr>
          <p:cNvPr id="39" name="Text 37"/>
          <p:cNvSpPr/>
          <p:nvPr/>
        </p:nvSpPr>
        <p:spPr>
          <a:xfrm>
            <a:off x="4041648" y="2743200"/>
            <a:ext cx="4645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검사 결과는 육안 확인 후 수기 입력 — 셰플러 자료 직접 연동 없음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57200" y="3383280"/>
            <a:ext cx="8229600" cy="877824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57200" y="3383280"/>
            <a:ext cx="45720" cy="87782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2" name="Text 40"/>
          <p:cNvSpPr/>
          <p:nvPr/>
        </p:nvSpPr>
        <p:spPr>
          <a:xfrm>
            <a:off x="676656" y="3493008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보안 원칙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676656" y="3730752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A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전용 노트북은 업무 전용으로만 사용  ·  셰플러망 PC와 저장매체 공유 금지  ·  화면 잠금·비밀번호 설정  ·  퇴근 시 지정 장소 시건 보관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1A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셰플러 유선 LAN·사내 Wi-Fi 연결 금지  ·  도면·기준서 원본 파일 저장 금지  ·  검사 결과는 수치·판정만 입력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57200" y="4718304"/>
            <a:ext cx="8229600" cy="10973"/>
          </a:xfrm>
          <a:prstGeom prst="rect">
            <a:avLst/>
          </a:prstGeom>
          <a:solidFill>
            <a:srgbClr val="C4D2DD"/>
          </a:solidFill>
          <a:ln/>
        </p:spPr>
      </p:sp>
      <p:sp>
        <p:nvSpPr>
          <p:cNvPr id="45" name="Text 43"/>
          <p:cNvSpPr/>
          <p:nvPr/>
        </p:nvSpPr>
        <p:spPr>
          <a:xfrm>
            <a:off x="457200" y="4773168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㈜인시스  ·  셰플러 이천공장 수입검사 실행계획서 v4.6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8275320" y="4773168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9184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실행 일정 및 담당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항목별 담당자 및 완료 목표 일정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57200" y="1042416"/>
            <a:ext cx="8229600" cy="16459"/>
          </a:xfrm>
          <a:prstGeom prst="rect">
            <a:avLst/>
          </a:prstGeom>
          <a:solidFill>
            <a:srgbClr val="0B4F6C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170432"/>
            <a:ext cx="8229600" cy="329184"/>
          </a:xfrm>
          <a:prstGeom prst="rect">
            <a:avLst/>
          </a:prstGeom>
          <a:solidFill>
            <a:srgbClr val="DCE6EE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170432"/>
            <a:ext cx="475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No.</a:t>
            </a:r>
            <a:endParaRPr lang="en-US" sz="980" dirty="0"/>
          </a:p>
        </p:txBody>
      </p:sp>
      <p:sp>
        <p:nvSpPr>
          <p:cNvPr id="8" name="Text 6"/>
          <p:cNvSpPr/>
          <p:nvPr/>
        </p:nvSpPr>
        <p:spPr>
          <a:xfrm>
            <a:off x="987552" y="1170432"/>
            <a:ext cx="2523744" cy="3291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실행 항목</a:t>
            </a:r>
            <a:endParaRPr lang="en-US" sz="980" dirty="0"/>
          </a:p>
        </p:txBody>
      </p:sp>
      <p:sp>
        <p:nvSpPr>
          <p:cNvPr id="9" name="Text 7"/>
          <p:cNvSpPr/>
          <p:nvPr/>
        </p:nvSpPr>
        <p:spPr>
          <a:xfrm>
            <a:off x="3566160" y="1170432"/>
            <a:ext cx="2011680" cy="3291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주요 산출물</a:t>
            </a:r>
            <a:endParaRPr lang="en-US" sz="980" dirty="0"/>
          </a:p>
        </p:txBody>
      </p:sp>
      <p:sp>
        <p:nvSpPr>
          <p:cNvPr id="10" name="Text 8"/>
          <p:cNvSpPr/>
          <p:nvPr/>
        </p:nvSpPr>
        <p:spPr>
          <a:xfrm>
            <a:off x="5632704" y="1170432"/>
            <a:ext cx="1207008" cy="3291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담당</a:t>
            </a:r>
            <a:endParaRPr lang="en-US" sz="980" dirty="0"/>
          </a:p>
        </p:txBody>
      </p:sp>
      <p:sp>
        <p:nvSpPr>
          <p:cNvPr id="11" name="Text 9"/>
          <p:cNvSpPr/>
          <p:nvPr/>
        </p:nvSpPr>
        <p:spPr>
          <a:xfrm>
            <a:off x="6876288" y="1170432"/>
            <a:ext cx="749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목표</a:t>
            </a:r>
            <a:endParaRPr lang="en-US" sz="980" dirty="0"/>
          </a:p>
        </p:txBody>
      </p:sp>
      <p:sp>
        <p:nvSpPr>
          <p:cNvPr id="12" name="Text 10"/>
          <p:cNvSpPr/>
          <p:nvPr/>
        </p:nvSpPr>
        <p:spPr>
          <a:xfrm>
            <a:off x="7662672" y="1170432"/>
            <a:ext cx="1024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상태</a:t>
            </a:r>
            <a:endParaRPr lang="en-US" sz="980" dirty="0"/>
          </a:p>
        </p:txBody>
      </p:sp>
      <p:sp>
        <p:nvSpPr>
          <p:cNvPr id="13" name="Shape 11"/>
          <p:cNvSpPr/>
          <p:nvPr/>
        </p:nvSpPr>
        <p:spPr>
          <a:xfrm>
            <a:off x="457200" y="1499616"/>
            <a:ext cx="8229600" cy="393192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1499616"/>
            <a:ext cx="47548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980" dirty="0"/>
          </a:p>
        </p:txBody>
      </p:sp>
      <p:sp>
        <p:nvSpPr>
          <p:cNvPr id="15" name="Text 13"/>
          <p:cNvSpPr/>
          <p:nvPr/>
        </p:nvSpPr>
        <p:spPr>
          <a:xfrm>
            <a:off x="987552" y="1499616"/>
            <a:ext cx="2523744" cy="3931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03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업무 Scope · R&amp;R 명확화</a:t>
            </a:r>
            <a:endParaRPr lang="en-US" sz="1030" dirty="0"/>
          </a:p>
        </p:txBody>
      </p:sp>
      <p:sp>
        <p:nvSpPr>
          <p:cNvPr id="16" name="Text 14"/>
          <p:cNvSpPr/>
          <p:nvPr/>
        </p:nvSpPr>
        <p:spPr>
          <a:xfrm>
            <a:off x="3566160" y="1499616"/>
            <a:ext cx="2011680" cy="3931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R&amp;R 정의서 · RACI · 전자서명</a:t>
            </a:r>
            <a:endParaRPr lang="en-US" sz="880" dirty="0"/>
          </a:p>
        </p:txBody>
      </p:sp>
      <p:sp>
        <p:nvSpPr>
          <p:cNvPr id="17" name="Text 15"/>
          <p:cNvSpPr/>
          <p:nvPr/>
        </p:nvSpPr>
        <p:spPr>
          <a:xfrm>
            <a:off x="5632704" y="1499616"/>
            <a:ext cx="120700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dirty="0">
                <a:solidFill>
                  <a:srgbClr val="1A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김양섭 이사</a:t>
            </a:r>
            <a:endParaRPr lang="en-US" sz="930" dirty="0"/>
          </a:p>
        </p:txBody>
      </p:sp>
      <p:sp>
        <p:nvSpPr>
          <p:cNvPr id="18" name="Text 16"/>
          <p:cNvSpPr/>
          <p:nvPr/>
        </p:nvSpPr>
        <p:spPr>
          <a:xfrm>
            <a:off x="6876288" y="1499616"/>
            <a:ext cx="74980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dirty="0">
                <a:solidFill>
                  <a:srgbClr val="1A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08.31</a:t>
            </a:r>
            <a:endParaRPr lang="en-US" sz="930" dirty="0"/>
          </a:p>
        </p:txBody>
      </p:sp>
      <p:sp>
        <p:nvSpPr>
          <p:cNvPr id="19" name="Shape 17"/>
          <p:cNvSpPr/>
          <p:nvPr/>
        </p:nvSpPr>
        <p:spPr>
          <a:xfrm>
            <a:off x="7735824" y="1568196"/>
            <a:ext cx="859536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35824" y="1568196"/>
            <a:ext cx="859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진행 중</a:t>
            </a:r>
            <a:endParaRPr lang="en-US" sz="830" dirty="0"/>
          </a:p>
        </p:txBody>
      </p:sp>
      <p:sp>
        <p:nvSpPr>
          <p:cNvPr id="21" name="Text 19"/>
          <p:cNvSpPr/>
          <p:nvPr/>
        </p:nvSpPr>
        <p:spPr>
          <a:xfrm>
            <a:off x="457200" y="1892808"/>
            <a:ext cx="47548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980" dirty="0"/>
          </a:p>
        </p:txBody>
      </p:sp>
      <p:sp>
        <p:nvSpPr>
          <p:cNvPr id="22" name="Text 20"/>
          <p:cNvSpPr/>
          <p:nvPr/>
        </p:nvSpPr>
        <p:spPr>
          <a:xfrm>
            <a:off x="987552" y="1892808"/>
            <a:ext cx="2523744" cy="3931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03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업무 프로세스 표준화</a:t>
            </a:r>
            <a:endParaRPr lang="en-US" sz="1030" dirty="0"/>
          </a:p>
        </p:txBody>
      </p:sp>
      <p:sp>
        <p:nvSpPr>
          <p:cNvPr id="23" name="Text 21"/>
          <p:cNvSpPr/>
          <p:nvPr/>
        </p:nvSpPr>
        <p:spPr>
          <a:xfrm>
            <a:off x="3566160" y="1892808"/>
            <a:ext cx="2011680" cy="3931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Chart · 절차서 · SOP</a:t>
            </a:r>
            <a:endParaRPr lang="en-US" sz="880" dirty="0"/>
          </a:p>
        </p:txBody>
      </p:sp>
      <p:sp>
        <p:nvSpPr>
          <p:cNvPr id="24" name="Text 22"/>
          <p:cNvSpPr/>
          <p:nvPr/>
        </p:nvSpPr>
        <p:spPr>
          <a:xfrm>
            <a:off x="5632704" y="1892808"/>
            <a:ext cx="120700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dirty="0">
                <a:solidFill>
                  <a:srgbClr val="1A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김양섭 이사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6876288" y="1892808"/>
            <a:ext cx="74980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dirty="0">
                <a:solidFill>
                  <a:srgbClr val="1A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08.31</a:t>
            </a:r>
            <a:endParaRPr lang="en-US" sz="930" dirty="0"/>
          </a:p>
        </p:txBody>
      </p:sp>
      <p:sp>
        <p:nvSpPr>
          <p:cNvPr id="26" name="Shape 24"/>
          <p:cNvSpPr/>
          <p:nvPr/>
        </p:nvSpPr>
        <p:spPr>
          <a:xfrm>
            <a:off x="7735824" y="1961388"/>
            <a:ext cx="859536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35824" y="1961388"/>
            <a:ext cx="859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진행 중</a:t>
            </a:r>
            <a:endParaRPr lang="en-US" sz="830" dirty="0"/>
          </a:p>
        </p:txBody>
      </p:sp>
      <p:sp>
        <p:nvSpPr>
          <p:cNvPr id="28" name="Shape 26"/>
          <p:cNvSpPr/>
          <p:nvPr/>
        </p:nvSpPr>
        <p:spPr>
          <a:xfrm>
            <a:off x="457200" y="2286000"/>
            <a:ext cx="8229600" cy="393192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2286000"/>
            <a:ext cx="47548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980" dirty="0"/>
          </a:p>
        </p:txBody>
      </p:sp>
      <p:sp>
        <p:nvSpPr>
          <p:cNvPr id="30" name="Text 28"/>
          <p:cNvSpPr/>
          <p:nvPr/>
        </p:nvSpPr>
        <p:spPr>
          <a:xfrm>
            <a:off x="987552" y="2286000"/>
            <a:ext cx="2523744" cy="3931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03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품질 마인드 강화</a:t>
            </a:r>
            <a:endParaRPr lang="en-US" sz="1030" dirty="0"/>
          </a:p>
        </p:txBody>
      </p:sp>
      <p:sp>
        <p:nvSpPr>
          <p:cNvPr id="31" name="Text 29"/>
          <p:cNvSpPr/>
          <p:nvPr/>
        </p:nvSpPr>
        <p:spPr>
          <a:xfrm>
            <a:off x="3566160" y="2286000"/>
            <a:ext cx="2011680" cy="3931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행동 지침서 · 교육 이력</a:t>
            </a:r>
            <a:endParaRPr lang="en-US" sz="880" dirty="0"/>
          </a:p>
        </p:txBody>
      </p:sp>
      <p:sp>
        <p:nvSpPr>
          <p:cNvPr id="32" name="Text 30"/>
          <p:cNvSpPr/>
          <p:nvPr/>
        </p:nvSpPr>
        <p:spPr>
          <a:xfrm>
            <a:off x="5632704" y="2286000"/>
            <a:ext cx="120700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dirty="0">
                <a:solidFill>
                  <a:srgbClr val="1A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김종선 대리</a:t>
            </a:r>
            <a:endParaRPr lang="en-US" sz="930" dirty="0"/>
          </a:p>
        </p:txBody>
      </p:sp>
      <p:sp>
        <p:nvSpPr>
          <p:cNvPr id="33" name="Text 31"/>
          <p:cNvSpPr/>
          <p:nvPr/>
        </p:nvSpPr>
        <p:spPr>
          <a:xfrm>
            <a:off x="6876288" y="2286000"/>
            <a:ext cx="74980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dirty="0">
                <a:solidFill>
                  <a:srgbClr val="1A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08.31</a:t>
            </a:r>
            <a:endParaRPr lang="en-US" sz="930" dirty="0"/>
          </a:p>
        </p:txBody>
      </p:sp>
      <p:sp>
        <p:nvSpPr>
          <p:cNvPr id="34" name="Shape 32"/>
          <p:cNvSpPr/>
          <p:nvPr/>
        </p:nvSpPr>
        <p:spPr>
          <a:xfrm>
            <a:off x="7735824" y="2354580"/>
            <a:ext cx="859536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735824" y="2354580"/>
            <a:ext cx="859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진행 중</a:t>
            </a:r>
            <a:endParaRPr lang="en-US" sz="830" dirty="0"/>
          </a:p>
        </p:txBody>
      </p:sp>
      <p:sp>
        <p:nvSpPr>
          <p:cNvPr id="36" name="Text 34"/>
          <p:cNvSpPr/>
          <p:nvPr/>
        </p:nvSpPr>
        <p:spPr>
          <a:xfrm>
            <a:off x="457200" y="2679192"/>
            <a:ext cx="47548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980" dirty="0"/>
          </a:p>
        </p:txBody>
      </p:sp>
      <p:sp>
        <p:nvSpPr>
          <p:cNvPr id="37" name="Text 35"/>
          <p:cNvSpPr/>
          <p:nvPr/>
        </p:nvSpPr>
        <p:spPr>
          <a:xfrm>
            <a:off x="987552" y="2679192"/>
            <a:ext cx="2523744" cy="3931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03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업무일지 운영</a:t>
            </a:r>
            <a:endParaRPr lang="en-US" sz="1030" dirty="0"/>
          </a:p>
        </p:txBody>
      </p:sp>
      <p:sp>
        <p:nvSpPr>
          <p:cNvPr id="38" name="Text 36"/>
          <p:cNvSpPr/>
          <p:nvPr/>
        </p:nvSpPr>
        <p:spPr>
          <a:xfrm>
            <a:off x="3566160" y="2679192"/>
            <a:ext cx="2011680" cy="3931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일일 업무보고 자동 생성</a:t>
            </a:r>
            <a:endParaRPr lang="en-US" sz="880" dirty="0"/>
          </a:p>
        </p:txBody>
      </p:sp>
      <p:sp>
        <p:nvSpPr>
          <p:cNvPr id="39" name="Text 37"/>
          <p:cNvSpPr/>
          <p:nvPr/>
        </p:nvSpPr>
        <p:spPr>
          <a:xfrm>
            <a:off x="5632704" y="2679192"/>
            <a:ext cx="120700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dirty="0">
                <a:solidFill>
                  <a:srgbClr val="1A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김종선 대리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6876288" y="2679192"/>
            <a:ext cx="74980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dirty="0">
                <a:solidFill>
                  <a:srgbClr val="1A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08.31</a:t>
            </a:r>
            <a:endParaRPr lang="en-US" sz="930" dirty="0"/>
          </a:p>
        </p:txBody>
      </p:sp>
      <p:sp>
        <p:nvSpPr>
          <p:cNvPr id="41" name="Shape 39"/>
          <p:cNvSpPr/>
          <p:nvPr/>
        </p:nvSpPr>
        <p:spPr>
          <a:xfrm>
            <a:off x="7735824" y="2747772"/>
            <a:ext cx="859536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735824" y="2747772"/>
            <a:ext cx="859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진행 중</a:t>
            </a:r>
            <a:endParaRPr lang="en-US" sz="830" dirty="0"/>
          </a:p>
        </p:txBody>
      </p:sp>
      <p:sp>
        <p:nvSpPr>
          <p:cNvPr id="43" name="Shape 41"/>
          <p:cNvSpPr/>
          <p:nvPr/>
        </p:nvSpPr>
        <p:spPr>
          <a:xfrm>
            <a:off x="457200" y="3072384"/>
            <a:ext cx="8229600" cy="393192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44" name="Text 42"/>
          <p:cNvSpPr/>
          <p:nvPr/>
        </p:nvSpPr>
        <p:spPr>
          <a:xfrm>
            <a:off x="457200" y="3072384"/>
            <a:ext cx="47548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980" dirty="0"/>
          </a:p>
        </p:txBody>
      </p:sp>
      <p:sp>
        <p:nvSpPr>
          <p:cNvPr id="45" name="Text 43"/>
          <p:cNvSpPr/>
          <p:nvPr/>
        </p:nvSpPr>
        <p:spPr>
          <a:xfrm>
            <a:off x="987552" y="3072384"/>
            <a:ext cx="2523744" cy="3931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03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기반 모니터링</a:t>
            </a:r>
            <a:endParaRPr lang="en-US" sz="1030" dirty="0"/>
          </a:p>
        </p:txBody>
      </p:sp>
      <p:sp>
        <p:nvSpPr>
          <p:cNvPr id="46" name="Text 44"/>
          <p:cNvSpPr/>
          <p:nvPr/>
        </p:nvSpPr>
        <p:spPr>
          <a:xfrm>
            <a:off x="3566160" y="3072384"/>
            <a:ext cx="2011680" cy="3931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업무관리 시스템 · 실시간 현황</a:t>
            </a:r>
            <a:endParaRPr lang="en-US" sz="880" dirty="0"/>
          </a:p>
        </p:txBody>
      </p:sp>
      <p:sp>
        <p:nvSpPr>
          <p:cNvPr id="47" name="Text 45"/>
          <p:cNvSpPr/>
          <p:nvPr/>
        </p:nvSpPr>
        <p:spPr>
          <a:xfrm>
            <a:off x="5632704" y="3072384"/>
            <a:ext cx="120700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dirty="0">
                <a:solidFill>
                  <a:srgbClr val="1A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김양섭 이사</a:t>
            </a:r>
            <a:endParaRPr lang="en-US" sz="930" dirty="0"/>
          </a:p>
        </p:txBody>
      </p:sp>
      <p:sp>
        <p:nvSpPr>
          <p:cNvPr id="48" name="Text 46"/>
          <p:cNvSpPr/>
          <p:nvPr/>
        </p:nvSpPr>
        <p:spPr>
          <a:xfrm>
            <a:off x="6876288" y="3072384"/>
            <a:ext cx="74980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dirty="0">
                <a:solidFill>
                  <a:srgbClr val="1A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08.31</a:t>
            </a:r>
            <a:endParaRPr lang="en-US" sz="930" dirty="0"/>
          </a:p>
        </p:txBody>
      </p:sp>
      <p:sp>
        <p:nvSpPr>
          <p:cNvPr id="49" name="Shape 47"/>
          <p:cNvSpPr/>
          <p:nvPr/>
        </p:nvSpPr>
        <p:spPr>
          <a:xfrm>
            <a:off x="7735824" y="3140964"/>
            <a:ext cx="859536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735824" y="3140964"/>
            <a:ext cx="859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진행 중</a:t>
            </a:r>
            <a:endParaRPr lang="en-US" sz="830" dirty="0"/>
          </a:p>
        </p:txBody>
      </p:sp>
      <p:sp>
        <p:nvSpPr>
          <p:cNvPr id="51" name="Text 49"/>
          <p:cNvSpPr/>
          <p:nvPr/>
        </p:nvSpPr>
        <p:spPr>
          <a:xfrm>
            <a:off x="457200" y="3465576"/>
            <a:ext cx="47548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980" dirty="0"/>
          </a:p>
        </p:txBody>
      </p:sp>
      <p:sp>
        <p:nvSpPr>
          <p:cNvPr id="52" name="Text 50"/>
          <p:cNvSpPr/>
          <p:nvPr/>
        </p:nvSpPr>
        <p:spPr>
          <a:xfrm>
            <a:off x="987552" y="3465576"/>
            <a:ext cx="2523744" cy="3931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03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시스템 환경 구축</a:t>
            </a:r>
            <a:endParaRPr lang="en-US" sz="1030" dirty="0"/>
          </a:p>
        </p:txBody>
      </p:sp>
      <p:sp>
        <p:nvSpPr>
          <p:cNvPr id="53" name="Text 51"/>
          <p:cNvSpPr/>
          <p:nvPr/>
        </p:nvSpPr>
        <p:spPr>
          <a:xfrm>
            <a:off x="3566160" y="3465576"/>
            <a:ext cx="2011680" cy="3931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USIM 라우터 · 전용 노트북</a:t>
            </a:r>
            <a:endParaRPr lang="en-US" sz="880" dirty="0"/>
          </a:p>
        </p:txBody>
      </p:sp>
      <p:sp>
        <p:nvSpPr>
          <p:cNvPr id="54" name="Text 52"/>
          <p:cNvSpPr/>
          <p:nvPr/>
        </p:nvSpPr>
        <p:spPr>
          <a:xfrm>
            <a:off x="5632704" y="3465576"/>
            <a:ext cx="120700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dirty="0">
                <a:solidFill>
                  <a:srgbClr val="1A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김양섭 이사</a:t>
            </a:r>
            <a:endParaRPr lang="en-US" sz="930" dirty="0"/>
          </a:p>
        </p:txBody>
      </p:sp>
      <p:sp>
        <p:nvSpPr>
          <p:cNvPr id="55" name="Text 53"/>
          <p:cNvSpPr/>
          <p:nvPr/>
        </p:nvSpPr>
        <p:spPr>
          <a:xfrm>
            <a:off x="6876288" y="3465576"/>
            <a:ext cx="74980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dirty="0">
                <a:solidFill>
                  <a:srgbClr val="1A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08.31</a:t>
            </a:r>
            <a:endParaRPr lang="en-US" sz="930" dirty="0"/>
          </a:p>
        </p:txBody>
      </p:sp>
      <p:sp>
        <p:nvSpPr>
          <p:cNvPr id="56" name="Shape 54"/>
          <p:cNvSpPr/>
          <p:nvPr/>
        </p:nvSpPr>
        <p:spPr>
          <a:xfrm>
            <a:off x="7735824" y="3534156"/>
            <a:ext cx="859536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735824" y="3534156"/>
            <a:ext cx="859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진행 중</a:t>
            </a:r>
            <a:endParaRPr lang="en-US" sz="830" dirty="0"/>
          </a:p>
        </p:txBody>
      </p:sp>
      <p:sp>
        <p:nvSpPr>
          <p:cNvPr id="58" name="Shape 56"/>
          <p:cNvSpPr/>
          <p:nvPr/>
        </p:nvSpPr>
        <p:spPr>
          <a:xfrm>
            <a:off x="457200" y="3858768"/>
            <a:ext cx="8229600" cy="393192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59" name="Text 57"/>
          <p:cNvSpPr/>
          <p:nvPr/>
        </p:nvSpPr>
        <p:spPr>
          <a:xfrm>
            <a:off x="457200" y="3858768"/>
            <a:ext cx="47548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980" dirty="0"/>
          </a:p>
        </p:txBody>
      </p:sp>
      <p:sp>
        <p:nvSpPr>
          <p:cNvPr id="60" name="Text 58"/>
          <p:cNvSpPr/>
          <p:nvPr/>
        </p:nvSpPr>
        <p:spPr>
          <a:xfrm>
            <a:off x="987552" y="3858768"/>
            <a:ext cx="2523744" cy="3931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03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교육 · 면담 체계 운영</a:t>
            </a:r>
            <a:endParaRPr lang="en-US" sz="1030" dirty="0"/>
          </a:p>
        </p:txBody>
      </p:sp>
      <p:sp>
        <p:nvSpPr>
          <p:cNvPr id="61" name="Text 59"/>
          <p:cNvSpPr/>
          <p:nvPr/>
        </p:nvSpPr>
        <p:spPr>
          <a:xfrm>
            <a:off x="3566160" y="3858768"/>
            <a:ext cx="2011680" cy="3931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월 1회 방문 면담 · 역량평가</a:t>
            </a:r>
            <a:endParaRPr lang="en-US" sz="880" dirty="0"/>
          </a:p>
        </p:txBody>
      </p:sp>
      <p:sp>
        <p:nvSpPr>
          <p:cNvPr id="62" name="Text 60"/>
          <p:cNvSpPr/>
          <p:nvPr/>
        </p:nvSpPr>
        <p:spPr>
          <a:xfrm>
            <a:off x="5632704" y="3858768"/>
            <a:ext cx="120700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dirty="0">
                <a:solidFill>
                  <a:srgbClr val="1A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김양섭 이사</a:t>
            </a:r>
            <a:endParaRPr lang="en-US" sz="930" dirty="0"/>
          </a:p>
        </p:txBody>
      </p:sp>
      <p:sp>
        <p:nvSpPr>
          <p:cNvPr id="63" name="Text 61"/>
          <p:cNvSpPr/>
          <p:nvPr/>
        </p:nvSpPr>
        <p:spPr>
          <a:xfrm>
            <a:off x="6876288" y="3858768"/>
            <a:ext cx="74980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dirty="0">
                <a:solidFill>
                  <a:srgbClr val="1A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08.31</a:t>
            </a:r>
            <a:endParaRPr lang="en-US" sz="930" dirty="0"/>
          </a:p>
        </p:txBody>
      </p:sp>
      <p:sp>
        <p:nvSpPr>
          <p:cNvPr id="64" name="Shape 62"/>
          <p:cNvSpPr/>
          <p:nvPr/>
        </p:nvSpPr>
        <p:spPr>
          <a:xfrm>
            <a:off x="7735824" y="3927348"/>
            <a:ext cx="859536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735824" y="3927348"/>
            <a:ext cx="859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진행 중</a:t>
            </a:r>
            <a:endParaRPr lang="en-US" sz="830" dirty="0"/>
          </a:p>
        </p:txBody>
      </p:sp>
      <p:sp>
        <p:nvSpPr>
          <p:cNvPr id="66" name="Shape 64"/>
          <p:cNvSpPr/>
          <p:nvPr/>
        </p:nvSpPr>
        <p:spPr>
          <a:xfrm>
            <a:off x="457200" y="4315968"/>
            <a:ext cx="8229600" cy="365760"/>
          </a:xfrm>
          <a:prstGeom prst="roundRect">
            <a:avLst>
              <a:gd name="adj" fmla="val 10000"/>
            </a:avLst>
          </a:prstGeom>
          <a:solidFill>
            <a:srgbClr val="DCE6EE"/>
          </a:solidFill>
          <a:ln w="12700">
            <a:solidFill>
              <a:srgbClr val="0B4F6C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58368" y="4315968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진행 현황 공유  —  주간: 매주 금요일 이메일 보고   |   월간: 월말 방문 면담 시 대면 보고   |   수시: 시스템 실시간 조회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457200" y="4718304"/>
            <a:ext cx="8229600" cy="10973"/>
          </a:xfrm>
          <a:prstGeom prst="rect">
            <a:avLst/>
          </a:prstGeom>
          <a:solidFill>
            <a:srgbClr val="C4D2DD"/>
          </a:solidFill>
          <a:ln/>
        </p:spPr>
      </p:sp>
      <p:sp>
        <p:nvSpPr>
          <p:cNvPr id="69" name="Text 67"/>
          <p:cNvSpPr/>
          <p:nvPr/>
        </p:nvSpPr>
        <p:spPr>
          <a:xfrm>
            <a:off x="457200" y="4773168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㈜인시스  ·  셰플러 이천공장 수입검사 실행계획서 v4.6</a:t>
            </a:r>
            <a:endParaRPr lang="en-US" sz="800" dirty="0"/>
          </a:p>
        </p:txBody>
      </p:sp>
      <p:sp>
        <p:nvSpPr>
          <p:cNvPr id="70" name="Text 68"/>
          <p:cNvSpPr/>
          <p:nvPr/>
        </p:nvSpPr>
        <p:spPr>
          <a:xfrm>
            <a:off x="8275320" y="4773168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0B4F6C"/>
          </a:solidFill>
          <a:ln/>
        </p:spPr>
      </p:sp>
      <p:sp>
        <p:nvSpPr>
          <p:cNvPr id="4" name="Shape 2"/>
          <p:cNvSpPr/>
          <p:nvPr/>
        </p:nvSpPr>
        <p:spPr>
          <a:xfrm>
            <a:off x="7132320" y="3108960"/>
            <a:ext cx="2560320" cy="2560320"/>
          </a:xfrm>
          <a:prstGeom prst="ellipse">
            <a:avLst/>
          </a:prstGeom>
          <a:solidFill>
            <a:srgbClr val="FAFBF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225296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지속적인 개선을 약속드립니다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114800" y="1883664"/>
            <a:ext cx="914400" cy="27432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7" name="Shape 5"/>
          <p:cNvSpPr/>
          <p:nvPr/>
        </p:nvSpPr>
        <p:spPr>
          <a:xfrm>
            <a:off x="1737360" y="2322576"/>
            <a:ext cx="128016" cy="128016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8" name="Text 6"/>
          <p:cNvSpPr/>
          <p:nvPr/>
        </p:nvSpPr>
        <p:spPr>
          <a:xfrm>
            <a:off x="2011680" y="2231136"/>
            <a:ext cx="5852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기준서 완전성을 입고 여부와 무관하게 설정 주기에 따라 확인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1737360" y="2743200"/>
            <a:ext cx="128016" cy="128016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10" name="Text 8"/>
          <p:cNvSpPr/>
          <p:nvPr/>
        </p:nvSpPr>
        <p:spPr>
          <a:xfrm>
            <a:off x="2011680" y="2651760"/>
            <a:ext cx="5852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모든 확인·조치를 서면으로 기록하여 추적 가능한 체계 유지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1737360" y="3163824"/>
            <a:ext cx="128016" cy="128016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12" name="Text 10"/>
          <p:cNvSpPr/>
          <p:nvPr/>
        </p:nvSpPr>
        <p:spPr>
          <a:xfrm>
            <a:off x="2011680" y="3072384"/>
            <a:ext cx="5852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리비전 시 구버전 기준서 동시 점검 절차 준수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1737360" y="3584448"/>
            <a:ext cx="128016" cy="128016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14" name="Text 12"/>
          <p:cNvSpPr/>
          <p:nvPr/>
        </p:nvSpPr>
        <p:spPr>
          <a:xfrm>
            <a:off x="2011680" y="3493008"/>
            <a:ext cx="5852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셰플러 SQM과의 긴밀한 소통으로 품질 이슈 조기 해소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22960" y="420624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㈜인시스   ·   2026. 08. 07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2026-08-06T23:32:48Z</dcterms:created>
  <dcterms:modified xsi:type="dcterms:W3CDTF">2026-08-06T23:32:48Z</dcterms:modified>
</cp:coreProperties>
</file>