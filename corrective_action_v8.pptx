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7562088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0"/>
            <a:ext cx="10506456" cy="54864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9016" y="16459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9957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검사기준서 누락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65760" y="2121408"/>
            <a:ext cx="9957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원인분석 및 재발방지 대책서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65760" y="2834640"/>
            <a:ext cx="3291840" cy="54864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3072384"/>
            <a:ext cx="10067544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3273552"/>
            <a:ext cx="10067544" cy="1828800"/>
          </a:xfrm>
          <a:prstGeom prst="rect">
            <a:avLst/>
          </a:prstGeom>
          <a:solidFill>
            <a:srgbClr val="E0F5FA"/>
          </a:solidFill>
          <a:ln w="19050">
            <a:solidFill>
              <a:srgbClr val="0096B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3273552"/>
            <a:ext cx="91440" cy="1828800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3649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 지적 품목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363931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A3C0056420000  Connector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66928" y="4206240"/>
            <a:ext cx="9683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셰플러(Schaeffler) 내부 심사  ·  2026년 7월 9일  ·  외관 검사항목 누락 지적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5340096"/>
            <a:ext cx="10067544" cy="78638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5340096"/>
            <a:ext cx="73152" cy="786384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546811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763256" y="546811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92608" y="7232904"/>
            <a:ext cx="101041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1" name="Text 19"/>
          <p:cNvSpPr/>
          <p:nvPr/>
        </p:nvSpPr>
        <p:spPr>
          <a:xfrm>
            <a:off x="292608" y="72511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검사기준서 누락 원인분석 및 재발방지 대책서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677656" y="7251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0158984" y="1188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58984" y="118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7562088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0"/>
            <a:ext cx="10634472" cy="36576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" y="36576"/>
            <a:ext cx="10634472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37744" y="91440"/>
            <a:ext cx="9774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  차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37744" y="457200"/>
            <a:ext cx="9774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 of Contents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6032" y="841248"/>
            <a:ext cx="5088636" cy="31135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841248"/>
            <a:ext cx="658368" cy="3113532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" y="841248"/>
            <a:ext cx="658368" cy="3113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42416" y="969264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이슈 개요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42416" y="1353312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지적 사항 요약 및 품목 정보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99532" y="841248"/>
            <a:ext cx="5088636" cy="31135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99532" y="841248"/>
            <a:ext cx="658368" cy="3113532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15" name="Text 13"/>
          <p:cNvSpPr/>
          <p:nvPr/>
        </p:nvSpPr>
        <p:spPr>
          <a:xfrm>
            <a:off x="5399532" y="841248"/>
            <a:ext cx="658368" cy="3113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85916" y="969264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발생 경위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85916" y="1353312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리비전 이후 누락까지의 타임라인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6032" y="4027932"/>
            <a:ext cx="5088636" cy="31135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" y="4027932"/>
            <a:ext cx="658368" cy="3113532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20" name="Text 18"/>
          <p:cNvSpPr/>
          <p:nvPr/>
        </p:nvSpPr>
        <p:spPr>
          <a:xfrm>
            <a:off x="256032" y="4027932"/>
            <a:ext cx="658368" cy="3113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42416" y="4155948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분석 ①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42416" y="4539996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원인 — 기준서 누락 미확인·절차 미준수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99532" y="4027932"/>
            <a:ext cx="5088636" cy="31135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99532" y="4027932"/>
            <a:ext cx="658368" cy="3113532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25" name="Text 23"/>
          <p:cNvSpPr/>
          <p:nvPr/>
        </p:nvSpPr>
        <p:spPr>
          <a:xfrm>
            <a:off x="5399532" y="4027932"/>
            <a:ext cx="658368" cy="3113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85916" y="4155948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분석 ②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85916" y="4539996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근본·시스템 원인 — 관리 체계 한계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56032" y="7214616"/>
            <a:ext cx="5088636" cy="31135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6032" y="7214616"/>
            <a:ext cx="658368" cy="3113532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30" name="Text 28"/>
          <p:cNvSpPr/>
          <p:nvPr/>
        </p:nvSpPr>
        <p:spPr>
          <a:xfrm>
            <a:off x="256032" y="7214616"/>
            <a:ext cx="658368" cy="3113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42416" y="7342632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재발방지 대책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42416" y="7726680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즉시조치·운영개선·관리강화·기록화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399532" y="7214616"/>
            <a:ext cx="5088636" cy="31135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99532" y="7214616"/>
            <a:ext cx="658368" cy="3113532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35" name="Text 33"/>
          <p:cNvSpPr/>
          <p:nvPr/>
        </p:nvSpPr>
        <p:spPr>
          <a:xfrm>
            <a:off x="5399532" y="7214616"/>
            <a:ext cx="658368" cy="3113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185916" y="7342632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프로세스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185916" y="7726680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AS-IS vs TO-BE 업무 흐름 비교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56032" y="10401300"/>
            <a:ext cx="5088636" cy="31135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6032" y="10401300"/>
            <a:ext cx="658368" cy="3113532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0" name="Text 38"/>
          <p:cNvSpPr/>
          <p:nvPr/>
        </p:nvSpPr>
        <p:spPr>
          <a:xfrm>
            <a:off x="256032" y="10401300"/>
            <a:ext cx="658368" cy="3113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42416" y="10529316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계획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042416" y="10913364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 Plan 타임라인 (7~8월)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399532" y="10401300"/>
            <a:ext cx="5088636" cy="31135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99532" y="10401300"/>
            <a:ext cx="658368" cy="3113532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5" name="Text 43"/>
          <p:cNvSpPr/>
          <p:nvPr/>
        </p:nvSpPr>
        <p:spPr>
          <a:xfrm>
            <a:off x="5399532" y="10401300"/>
            <a:ext cx="658368" cy="3113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185916" y="10529316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맺음말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185916" y="10913364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재발 방지 약속 및 담당자 확인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92608" y="7232904"/>
            <a:ext cx="101041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9" name="Text 47"/>
          <p:cNvSpPr/>
          <p:nvPr/>
        </p:nvSpPr>
        <p:spPr>
          <a:xfrm>
            <a:off x="292608" y="72511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검사기준서 누락 원인분석 및 재발방지 대책서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677656" y="7251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0158984" y="1188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158984" y="118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7562088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0"/>
            <a:ext cx="10634472" cy="36576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" y="36576"/>
            <a:ext cx="10634472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37744" y="91440"/>
            <a:ext cx="9774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이슈 개요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37744" y="457200"/>
            <a:ext cx="9774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Issue Summary  ·  A3C0056420000 Connector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6032" y="804672"/>
            <a:ext cx="3474720" cy="6373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8961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품목 정보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" y="1207008"/>
            <a:ext cx="3218688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" name="Shape 9"/>
          <p:cNvSpPr/>
          <p:nvPr/>
        </p:nvSpPr>
        <p:spPr>
          <a:xfrm>
            <a:off x="384048" y="1298448"/>
            <a:ext cx="1188720" cy="329184"/>
          </a:xfrm>
          <a:prstGeom prst="rect">
            <a:avLst/>
          </a:prstGeom>
          <a:solidFill>
            <a:srgbClr val="E0F5FA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12984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품목 번호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664208" y="1298448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A3C0056420000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048" y="1865376"/>
            <a:ext cx="3218688" cy="457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5" name="Shape 13"/>
          <p:cNvSpPr/>
          <p:nvPr/>
        </p:nvSpPr>
        <p:spPr>
          <a:xfrm>
            <a:off x="384048" y="2103120"/>
            <a:ext cx="1188720" cy="329184"/>
          </a:xfrm>
          <a:prstGeom prst="rect">
            <a:avLst/>
          </a:prstGeom>
          <a:solidFill>
            <a:srgbClr val="E0F5FA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21031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품목명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64208" y="210312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Connector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" y="2670048"/>
            <a:ext cx="3218688" cy="457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9" name="Shape 17"/>
          <p:cNvSpPr/>
          <p:nvPr/>
        </p:nvSpPr>
        <p:spPr>
          <a:xfrm>
            <a:off x="384048" y="2907792"/>
            <a:ext cx="1188720" cy="329184"/>
          </a:xfrm>
          <a:prstGeom prst="rect">
            <a:avLst/>
          </a:prstGeom>
          <a:solidFill>
            <a:srgbClr val="E0F5FA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" y="290779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664208" y="2907792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셰플러(Schaeffler)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84048" y="3474720"/>
            <a:ext cx="3218688" cy="457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3" name="Shape 21"/>
          <p:cNvSpPr/>
          <p:nvPr/>
        </p:nvSpPr>
        <p:spPr>
          <a:xfrm>
            <a:off x="384048" y="3712464"/>
            <a:ext cx="1188720" cy="329184"/>
          </a:xfrm>
          <a:prstGeom prst="rect">
            <a:avLst/>
          </a:prstGeom>
          <a:solidFill>
            <a:srgbClr val="E0F5FA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" y="371246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개선품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664208" y="371246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A3C00564201-0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84048" y="4279392"/>
            <a:ext cx="3218688" cy="457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7" name="Shape 25"/>
          <p:cNvSpPr/>
          <p:nvPr/>
        </p:nvSpPr>
        <p:spPr>
          <a:xfrm>
            <a:off x="384048" y="4517136"/>
            <a:ext cx="1188720" cy="329184"/>
          </a:xfrm>
          <a:prstGeom prst="rect">
            <a:avLst/>
          </a:prstGeom>
          <a:solidFill>
            <a:srgbClr val="E0F5FA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" y="451713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 일자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664208" y="4517136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7월 9일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84048" y="5084064"/>
            <a:ext cx="3218688" cy="457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1" name="Shape 29"/>
          <p:cNvSpPr/>
          <p:nvPr/>
        </p:nvSpPr>
        <p:spPr>
          <a:xfrm>
            <a:off x="384048" y="5321808"/>
            <a:ext cx="1188720" cy="329184"/>
          </a:xfrm>
          <a:prstGeom prst="rect">
            <a:avLst/>
          </a:prstGeom>
          <a:solidFill>
            <a:srgbClr val="E0F5FA"/>
          </a:solidFill>
          <a:ln/>
        </p:spPr>
      </p:sp>
      <p:sp>
        <p:nvSpPr>
          <p:cNvPr id="32" name="Text 30"/>
          <p:cNvSpPr/>
          <p:nvPr/>
        </p:nvSpPr>
        <p:spPr>
          <a:xfrm>
            <a:off x="384048" y="532180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 주체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664208" y="5321808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셰플러 내부 심사팀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822192" y="804672"/>
            <a:ext cx="6647688" cy="6373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50208" y="896112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지적 사항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950208" y="1207008"/>
            <a:ext cx="6391656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7" name="Shape 35"/>
          <p:cNvSpPr/>
          <p:nvPr/>
        </p:nvSpPr>
        <p:spPr>
          <a:xfrm>
            <a:off x="3822192" y="1298448"/>
            <a:ext cx="6647688" cy="2875788"/>
          </a:xfrm>
          <a:prstGeom prst="rect">
            <a:avLst/>
          </a:prstGeom>
          <a:solidFill>
            <a:srgbClr val="FDECEA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22192" y="1298448"/>
            <a:ext cx="73152" cy="287578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9" name="Text 37"/>
          <p:cNvSpPr/>
          <p:nvPr/>
        </p:nvSpPr>
        <p:spPr>
          <a:xfrm>
            <a:off x="3986784" y="13898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지적 1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986784" y="1627632"/>
            <a:ext cx="6318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외관 검사항목 누락 미인지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986784" y="1975104"/>
            <a:ext cx="6318504" cy="1961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검사기준서 내 외관 검사항목이 누락되어 있었으나 이를 인지하지 못함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822192" y="4283964"/>
            <a:ext cx="6647688" cy="2875788"/>
          </a:xfrm>
          <a:prstGeom prst="rect">
            <a:avLst/>
          </a:prstGeom>
          <a:solidFill>
            <a:srgbClr val="FEF3C7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22192" y="4283964"/>
            <a:ext cx="73152" cy="287578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4" name="Text 42"/>
          <p:cNvSpPr/>
          <p:nvPr/>
        </p:nvSpPr>
        <p:spPr>
          <a:xfrm>
            <a:off x="3986784" y="437540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지적 2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986784" y="4613148"/>
            <a:ext cx="6318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미확인 상태에서 검사 진행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986784" y="4960620"/>
            <a:ext cx="6318504" cy="1997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내용을 충분히 확인하지 않은 상태에서 검사 절차를 진행하여 누락 항목에 대한 검사 자체가 이루어지지 않음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56032" y="6903720"/>
            <a:ext cx="10177272" cy="274320"/>
          </a:xfrm>
          <a:prstGeom prst="rect">
            <a:avLst/>
          </a:prstGeom>
          <a:solidFill>
            <a:srgbClr val="E0F5FA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4048" y="6903720"/>
            <a:ext cx="10049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요약  :  개선품 리비전으로 구버전 기준서가 미갱신된 상태에서 입고 부재로 인해 점검 기회를 놓쳐 누락됨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92608" y="7232904"/>
            <a:ext cx="101041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0" name="Text 48"/>
          <p:cNvSpPr/>
          <p:nvPr/>
        </p:nvSpPr>
        <p:spPr>
          <a:xfrm>
            <a:off x="292608" y="72511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검사기준서 누락 원인분석 및 재발방지 대책서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677656" y="7251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0158984" y="1188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158984" y="118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7562088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0"/>
            <a:ext cx="10634472" cy="36576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" y="36576"/>
            <a:ext cx="10634472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37744" y="91440"/>
            <a:ext cx="9774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발생 경위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37744" y="457200"/>
            <a:ext cx="9774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Incident Timeline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3973068"/>
            <a:ext cx="9884664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Shape 7"/>
          <p:cNvSpPr/>
          <p:nvPr/>
        </p:nvSpPr>
        <p:spPr>
          <a:xfrm>
            <a:off x="1473327" y="3808476"/>
            <a:ext cx="329184" cy="329184"/>
          </a:xfrm>
          <a:prstGeom prst="ellipse">
            <a:avLst/>
          </a:prstGeom>
          <a:solidFill>
            <a:srgbClr val="A0AEC0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" y="3461004"/>
            <a:ext cx="24711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3776" y="4210812"/>
            <a:ext cx="2288286" cy="26380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" y="4210812"/>
            <a:ext cx="2288286" cy="329184"/>
          </a:xfrm>
          <a:prstGeom prst="rect">
            <a:avLst/>
          </a:prstGeom>
          <a:solidFill>
            <a:srgbClr val="A0AEC0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" y="4210812"/>
            <a:ext cx="22151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등록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4613148"/>
            <a:ext cx="2141982" cy="2125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A3C0056420000 기준서</a:t>
            </a: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SQM팀 등록</a:t>
            </a: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(외관 항목 누락 상태)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3776" y="841248"/>
            <a:ext cx="2288286" cy="27477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914400"/>
            <a:ext cx="2141982" cy="2601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944493" y="3808476"/>
            <a:ext cx="329184" cy="3291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2873502" y="3461004"/>
            <a:ext cx="24711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64942" y="4210812"/>
            <a:ext cx="2288286" cy="26380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64942" y="4210812"/>
            <a:ext cx="2288286" cy="3291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3001518" y="4210812"/>
            <a:ext cx="22151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개선품 리비전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38094" y="4613148"/>
            <a:ext cx="2141982" cy="2125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A3C00564201-0</a:t>
            </a: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출시·신규 기준서 등록</a:t>
            </a: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구버전 입고 중단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964942" y="841248"/>
            <a:ext cx="2288286" cy="27477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38094" y="914400"/>
            <a:ext cx="2141982" cy="2601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15659" y="3808476"/>
            <a:ext cx="329184" cy="329184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26" name="Text 24"/>
          <p:cNvSpPr/>
          <p:nvPr/>
        </p:nvSpPr>
        <p:spPr>
          <a:xfrm>
            <a:off x="5344668" y="3461004"/>
            <a:ext cx="24711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36108" y="4210812"/>
            <a:ext cx="2288286" cy="26380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36108" y="4210812"/>
            <a:ext cx="2288286" cy="329184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9" name="Text 27"/>
          <p:cNvSpPr/>
          <p:nvPr/>
        </p:nvSpPr>
        <p:spPr>
          <a:xfrm>
            <a:off x="5472684" y="4210812"/>
            <a:ext cx="22151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구버전 미입고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09260" y="4613148"/>
            <a:ext cx="2141982" cy="2125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열람 기회 없음</a:t>
            </a: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시 입고 품목 위주</a:t>
            </a: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→ 누락 방치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36108" y="841248"/>
            <a:ext cx="2288286" cy="27477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09260" y="914400"/>
            <a:ext cx="2141982" cy="2601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886825" y="3808476"/>
            <a:ext cx="329184" cy="32918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4" name="Text 32"/>
          <p:cNvSpPr/>
          <p:nvPr/>
        </p:nvSpPr>
        <p:spPr>
          <a:xfrm>
            <a:off x="7815834" y="3461004"/>
            <a:ext cx="24711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2026.7.9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907274" y="4210812"/>
            <a:ext cx="2288286" cy="2638044"/>
          </a:xfrm>
          <a:prstGeom prst="rect">
            <a:avLst/>
          </a:prstGeom>
          <a:solidFill>
            <a:srgbClr val="FDECEA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07274" y="4210812"/>
            <a:ext cx="2288286" cy="32918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7" name="Text 35"/>
          <p:cNvSpPr/>
          <p:nvPr/>
        </p:nvSpPr>
        <p:spPr>
          <a:xfrm>
            <a:off x="7943850" y="4210812"/>
            <a:ext cx="22151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 지적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980426" y="4613148"/>
            <a:ext cx="2141982" cy="2125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셰플러 내부 심사</a:t>
            </a: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외관 항목 누락</a:t>
            </a: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 및 공식 지적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907274" y="841248"/>
            <a:ext cx="2288286" cy="2747772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80426" y="914400"/>
            <a:ext cx="2141982" cy="2601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56032" y="6903720"/>
            <a:ext cx="10177272" cy="27432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4048" y="6903720"/>
            <a:ext cx="10049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입고 중단 품목은 정기 점검 대상에서 누락되어 기준서가 미갱신 상태로 방치된 것이 핵심 경위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92608" y="7232904"/>
            <a:ext cx="101041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4" name="Text 42"/>
          <p:cNvSpPr/>
          <p:nvPr/>
        </p:nvSpPr>
        <p:spPr>
          <a:xfrm>
            <a:off x="292608" y="72511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검사기준서 누락 원인분석 및 재발방지 대책서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677656" y="7251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0158984" y="1188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158984" y="118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7562088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0"/>
            <a:ext cx="10634472" cy="36576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" y="36576"/>
            <a:ext cx="10634472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37744" y="91440"/>
            <a:ext cx="9774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분석 ①  —  직접 원인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37744" y="457200"/>
            <a:ext cx="9774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Direct Cause Analysis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6032" y="804672"/>
            <a:ext cx="10177272" cy="292608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804672"/>
            <a:ext cx="10049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원인  :  검사기준서 외관 항목 누락 상태에서 절차 미준수로 검사 진행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" y="1170432"/>
            <a:ext cx="5061204" cy="5678424"/>
          </a:xfrm>
          <a:prstGeom prst="rect">
            <a:avLst/>
          </a:prstGeom>
          <a:solidFill>
            <a:srgbClr val="FDECEA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1170432"/>
            <a:ext cx="5061204" cy="3840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347472" y="1225296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" y="1225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4944" y="1225296"/>
            <a:ext cx="44942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원인 1  —  외관 항목 누락 미확인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8912" y="1682496"/>
            <a:ext cx="45720" cy="162458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1645920"/>
            <a:ext cx="4604004" cy="1734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셰플러 제공 기준서 내 외관 검사항목이 누락된 상태로 SQM팀에 등록됨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" y="3416808"/>
            <a:ext cx="45720" cy="162458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3380232"/>
            <a:ext cx="4604004" cy="1734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개선품(A3C00564201-0) 등록 시 구버전(A3C0056420000) 기준서 외관 항목이 업데이트되지 않음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8912" y="5151120"/>
            <a:ext cx="45720" cy="162458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5114544"/>
            <a:ext cx="4604004" cy="1734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당사 담당자는 기준서 등록 여부만 확인하고 내용의 완전성은 별도로 검증하지 않음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72100" y="1170432"/>
            <a:ext cx="5061204" cy="5678424"/>
          </a:xfrm>
          <a:prstGeom prst="rect">
            <a:avLst/>
          </a:prstGeom>
          <a:solidFill>
            <a:srgbClr val="FEF3C7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72100" y="1170432"/>
            <a:ext cx="5061204" cy="38404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3" name="Shape 21"/>
          <p:cNvSpPr/>
          <p:nvPr/>
        </p:nvSpPr>
        <p:spPr>
          <a:xfrm>
            <a:off x="5463540" y="1225296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463540" y="1225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11012" y="1225296"/>
            <a:ext cx="44942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원인 2  —  기준서 미확인 상태에서 검사 진행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554980" y="1682496"/>
            <a:ext cx="45720" cy="1624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7" name="Text 25"/>
          <p:cNvSpPr/>
          <p:nvPr/>
        </p:nvSpPr>
        <p:spPr>
          <a:xfrm>
            <a:off x="5682996" y="1645920"/>
            <a:ext cx="4604004" cy="1734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실물 검사 수행 시 기준서를 열어 항목별로 확인하는 절차를 준수하지 않고 진행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554980" y="3416808"/>
            <a:ext cx="45720" cy="1624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9" name="Text 27"/>
          <p:cNvSpPr/>
          <p:nvPr/>
        </p:nvSpPr>
        <p:spPr>
          <a:xfrm>
            <a:off x="5682996" y="3380232"/>
            <a:ext cx="4604004" cy="1734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 빈도가 낮아 이전 검사 방식을 관행적으로 적용하여 기준서 확인 단계를 생략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554980" y="5151120"/>
            <a:ext cx="45720" cy="1624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1" name="Text 29"/>
          <p:cNvSpPr/>
          <p:nvPr/>
        </p:nvSpPr>
        <p:spPr>
          <a:xfrm>
            <a:off x="5682996" y="5114544"/>
            <a:ext cx="4604004" cy="1734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확인 여부를 기록하는 체크리스트가 별도로 운영되지 않아 누락 탐지 불가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56032" y="6903720"/>
            <a:ext cx="1017727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6903720"/>
            <a:ext cx="10049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 직접 원인은 절차적 미준수와 기준서 완전성 검증 부재가 복합적으로 작용한 결과입니다.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92608" y="7232904"/>
            <a:ext cx="101041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5" name="Text 33"/>
          <p:cNvSpPr/>
          <p:nvPr/>
        </p:nvSpPr>
        <p:spPr>
          <a:xfrm>
            <a:off x="292608" y="72511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검사기준서 누락 원인분석 및 재발방지 대책서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677656" y="7251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0158984" y="1188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158984" y="118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7562088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0"/>
            <a:ext cx="10634472" cy="36576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" y="36576"/>
            <a:ext cx="10634472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37744" y="91440"/>
            <a:ext cx="9774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분석 ②  —  근본·시스템 원인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37744" y="457200"/>
            <a:ext cx="9774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Root &amp; System Cause Analysis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6032" y="804672"/>
            <a:ext cx="10177272" cy="292608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804672"/>
            <a:ext cx="10049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근본·시스템 원인  :  입고 빈도 기반 관리 체계의 구조적 한계 및 기록 프로세스 부재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" y="1170432"/>
            <a:ext cx="3355848" cy="5678424"/>
          </a:xfrm>
          <a:prstGeom prst="rect">
            <a:avLst/>
          </a:prstGeom>
          <a:solidFill>
            <a:srgbClr val="E0F2FE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1170432"/>
            <a:ext cx="3355848" cy="5120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225296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근본 원인 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1463040"/>
            <a:ext cx="3191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DF4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 기반 관리 체계 한계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02336" y="1847088"/>
            <a:ext cx="164592" cy="16459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810512"/>
            <a:ext cx="2843784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 없는 자재는 실물 검사 기회가 없어 기준서 점검 주기에서 자동 제외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2336" y="4384548"/>
            <a:ext cx="164592" cy="16459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347972"/>
            <a:ext cx="2843784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시 실제 입고 품목 위주로 확인되어 미입고 품목은 사실상 사각지대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66744" y="1170432"/>
            <a:ext cx="3355848" cy="5678424"/>
          </a:xfrm>
          <a:prstGeom prst="rect">
            <a:avLst/>
          </a:prstGeom>
          <a:solidFill>
            <a:srgbClr val="FEF3C7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66744" y="1170432"/>
            <a:ext cx="3355848" cy="51206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3776472" y="1225296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근본 원인 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76472" y="1463040"/>
            <a:ext cx="3191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DF4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구두 위주 운영·기록 부재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813048" y="1847088"/>
            <a:ext cx="164592" cy="16459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4050792" y="1810512"/>
            <a:ext cx="2843784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누락 확인·요청이 구두로만 진행되어 처리 이력 추적 불가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813048" y="4384548"/>
            <a:ext cx="164592" cy="16459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5" name="Text 23"/>
          <p:cNvSpPr/>
          <p:nvPr/>
        </p:nvSpPr>
        <p:spPr>
          <a:xfrm>
            <a:off x="4050792" y="4347972"/>
            <a:ext cx="2843784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 요청 후 처리 여부를 확인하는 피드백 체계 없어 미처리 건 누적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077456" y="1170432"/>
            <a:ext cx="3355848" cy="5678424"/>
          </a:xfrm>
          <a:prstGeom prst="rect">
            <a:avLst/>
          </a:prstGeom>
          <a:solidFill>
            <a:srgbClr val="E0F5FA"/>
          </a:solidFill>
          <a:ln w="15240">
            <a:solidFill>
              <a:srgbClr val="007A9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77456" y="1170432"/>
            <a:ext cx="3355848" cy="512064"/>
          </a:xfrm>
          <a:prstGeom prst="rect">
            <a:avLst/>
          </a:prstGeom>
          <a:solidFill>
            <a:srgbClr val="007A93"/>
          </a:solidFill>
          <a:ln/>
        </p:spPr>
      </p:sp>
      <p:sp>
        <p:nvSpPr>
          <p:cNvPr id="28" name="Text 26"/>
          <p:cNvSpPr/>
          <p:nvPr/>
        </p:nvSpPr>
        <p:spPr>
          <a:xfrm>
            <a:off x="7187184" y="1225296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원인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187184" y="1463040"/>
            <a:ext cx="3191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DF4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프로세스 부재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223760" y="1847088"/>
            <a:ext cx="164592" cy="164592"/>
          </a:xfrm>
          <a:prstGeom prst="ellipse">
            <a:avLst/>
          </a:prstGeom>
          <a:solidFill>
            <a:srgbClr val="007A93"/>
          </a:solidFill>
          <a:ln/>
        </p:spPr>
      </p:sp>
      <p:sp>
        <p:nvSpPr>
          <p:cNvPr id="31" name="Text 29"/>
          <p:cNvSpPr/>
          <p:nvPr/>
        </p:nvSpPr>
        <p:spPr>
          <a:xfrm>
            <a:off x="7461504" y="1810512"/>
            <a:ext cx="2843784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 여부와 무관한 전체 기준서 최신화 점검 프로세스 미수립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223760" y="4384548"/>
            <a:ext cx="164592" cy="164592"/>
          </a:xfrm>
          <a:prstGeom prst="ellipse">
            <a:avLst/>
          </a:prstGeom>
          <a:solidFill>
            <a:srgbClr val="007A93"/>
          </a:solidFill>
          <a:ln/>
        </p:spPr>
      </p:sp>
      <p:sp>
        <p:nvSpPr>
          <p:cNvPr id="33" name="Text 31"/>
          <p:cNvSpPr/>
          <p:nvPr/>
        </p:nvSpPr>
        <p:spPr>
          <a:xfrm>
            <a:off x="7461504" y="4347972"/>
            <a:ext cx="2843784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리비전 발생 시 구버전 기준서 동시 점검 의무 절차 없어 연쇄 누락 구조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56032" y="6903720"/>
            <a:ext cx="1017727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6903720"/>
            <a:ext cx="10049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 세 가지 원인이 복합 작용하여 누락이 탐지되지 않는 구조적 취약점을 형성하였습니다.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92608" y="7232904"/>
            <a:ext cx="101041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7" name="Text 35"/>
          <p:cNvSpPr/>
          <p:nvPr/>
        </p:nvSpPr>
        <p:spPr>
          <a:xfrm>
            <a:off x="292608" y="72511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검사기준서 누락 원인분석 및 재발방지 대책서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677656" y="7251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0158984" y="1188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158984" y="118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7562088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0"/>
            <a:ext cx="10634472" cy="36576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" y="36576"/>
            <a:ext cx="10634472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37744" y="91440"/>
            <a:ext cx="9774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재발방지 대책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37744" y="457200"/>
            <a:ext cx="9774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Corrective &amp; Preventive Actions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6032" y="804672"/>
            <a:ext cx="1517904" cy="329184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04672"/>
            <a:ext cx="1517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810512" y="804672"/>
            <a:ext cx="4133088" cy="329184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10512" y="804672"/>
            <a:ext cx="4133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대책 내용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80176" y="804672"/>
            <a:ext cx="1463040" cy="329184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0176" y="8046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79792" y="804672"/>
            <a:ext cx="1170432" cy="329184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79792" y="804672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예정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686800" y="804672"/>
            <a:ext cx="1755648" cy="329184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0" y="80467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6032" y="1133856"/>
            <a:ext cx="10177272" cy="139217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1674495"/>
            <a:ext cx="1261872" cy="310896"/>
          </a:xfrm>
          <a:prstGeom prst="roundRect">
            <a:avLst>
              <a:gd name="adj" fmla="val 11765"/>
            </a:avLst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1674495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조치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01952" y="1207008"/>
            <a:ext cx="3968496" cy="124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A3C0056420000 기준서 외관 사진 항목 보완 요청 및 확인 완료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80176" y="1133856"/>
            <a:ext cx="1463040" cy="1392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인시스 담당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79792" y="1133856"/>
            <a:ext cx="1170432" cy="1392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2026.7.10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778240" y="1692783"/>
            <a:ext cx="1572768" cy="274320"/>
          </a:xfrm>
          <a:prstGeom prst="roundRect">
            <a:avLst>
              <a:gd name="adj" fmla="val 13333"/>
            </a:avLst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0" y="1692783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7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" y="2562606"/>
            <a:ext cx="10177272" cy="139217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" y="3103245"/>
            <a:ext cx="1261872" cy="310896"/>
          </a:xfrm>
          <a:prstGeom prst="roundRect">
            <a:avLst>
              <a:gd name="adj" fmla="val 11765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3103245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개선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901952" y="2635758"/>
            <a:ext cx="3968496" cy="124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SQM팀 담당자와 수시 피드백 체계 구축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(누락 감지→서면 요청→처리 확인→완료 보고)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80176" y="2562606"/>
            <a:ext cx="1463040" cy="1392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SQM팀 협업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479792" y="2562606"/>
            <a:ext cx="1170432" cy="1392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2026.7.31~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778240" y="3121533"/>
            <a:ext cx="1572768" cy="274320"/>
          </a:xfrm>
          <a:prstGeom prst="roundRect">
            <a:avLst>
              <a:gd name="adj" fmla="val 13333"/>
            </a:avLst>
          </a:prstGeom>
          <a:solidFill>
            <a:srgbClr val="E0F5FA"/>
          </a:solidFill>
          <a:ln w="12700">
            <a:solidFill>
              <a:srgbClr val="007A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78240" y="3121533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중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56032" y="3991356"/>
            <a:ext cx="10177272" cy="139217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4048" y="4531995"/>
            <a:ext cx="1261872" cy="310896"/>
          </a:xfrm>
          <a:prstGeom prst="roundRect">
            <a:avLst>
              <a:gd name="adj" fmla="val 11765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" y="4531995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강화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901952" y="4064508"/>
            <a:ext cx="3968496" cy="124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기준서 월간 전수 점검 실시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리비전 품목 발생 시 구버전 기준서 동시 점검 의무화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980176" y="3991356"/>
            <a:ext cx="1463040" cy="1392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인시스 담당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479792" y="3991356"/>
            <a:ext cx="1170432" cy="1392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2026.8월~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778240" y="4550283"/>
            <a:ext cx="1572768" cy="274320"/>
          </a:xfrm>
          <a:prstGeom prst="roundRect">
            <a:avLst>
              <a:gd name="adj" fmla="val 13333"/>
            </a:avLst>
          </a:prstGeom>
          <a:solidFill>
            <a:srgbClr val="E0F5FA"/>
          </a:solidFill>
          <a:ln w="12700">
            <a:solidFill>
              <a:srgbClr val="007A9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778240" y="4550283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중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56032" y="5420106"/>
            <a:ext cx="10177272" cy="139217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4048" y="5960745"/>
            <a:ext cx="1261872" cy="310896"/>
          </a:xfrm>
          <a:prstGeom prst="roundRect">
            <a:avLst>
              <a:gd name="adj" fmla="val 11765"/>
            </a:avLst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" y="5960745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A7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기록화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901952" y="5493258"/>
            <a:ext cx="3968496" cy="124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누락 확인·조치 이력 서면 기록·보존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아침 기준서 확인 보고 체계 유지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980176" y="5420106"/>
            <a:ext cx="1463040" cy="1392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인시스 담당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479792" y="5420106"/>
            <a:ext cx="1170432" cy="1392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2026.8월~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778240" y="5979033"/>
            <a:ext cx="1572768" cy="274320"/>
          </a:xfrm>
          <a:prstGeom prst="roundRect">
            <a:avLst>
              <a:gd name="adj" fmla="val 13333"/>
            </a:avLst>
          </a:prstGeom>
          <a:solidFill>
            <a:srgbClr val="E0F5FA"/>
          </a:solidFill>
          <a:ln w="12700">
            <a:solidFill>
              <a:srgbClr val="007A9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778240" y="5979033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중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56032" y="6903720"/>
            <a:ext cx="10177272" cy="274320"/>
          </a:xfrm>
          <a:prstGeom prst="rect">
            <a:avLst/>
          </a:prstGeom>
          <a:solidFill>
            <a:srgbClr val="E0F5FA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4048" y="6903720"/>
            <a:ext cx="10049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 :  기준서 이상 감지  →  담당자 서면 요청  →  기준서 업데이트  →  확인 및 완료 보고  →  이력 기록 보존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92608" y="7232904"/>
            <a:ext cx="101041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3" name="Text 51"/>
          <p:cNvSpPr/>
          <p:nvPr/>
        </p:nvSpPr>
        <p:spPr>
          <a:xfrm>
            <a:off x="292608" y="72511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검사기준서 누락 원인분석 및 재발방지 대책서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677656" y="7251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0158984" y="1188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158984" y="118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7562088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0"/>
            <a:ext cx="10634472" cy="36576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" y="36576"/>
            <a:ext cx="10634472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37744" y="91440"/>
            <a:ext cx="9774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프로세스  —  AS-IS vs TO-BE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37744" y="457200"/>
            <a:ext cx="9774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Process Improvement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6032" y="804672"/>
            <a:ext cx="5042916" cy="32918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804672"/>
            <a:ext cx="48966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AS-IS  —  현행 문제 구조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133856"/>
            <a:ext cx="5042916" cy="97078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1133856"/>
            <a:ext cx="4823460" cy="970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자재 입고 시에만 기준서 확인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56032" y="2104644"/>
            <a:ext cx="5042916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56032" y="2141220"/>
            <a:ext cx="5042916" cy="970788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2141220"/>
            <a:ext cx="4823460" cy="970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미입고 자재 → 기준서 점검 제외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56032" y="3112008"/>
            <a:ext cx="5042916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6032" y="3148584"/>
            <a:ext cx="5042916" cy="970788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3148584"/>
            <a:ext cx="4823460" cy="970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시 입고 품목 위주로만 확인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56032" y="4119372"/>
            <a:ext cx="5042916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56032" y="4155948"/>
            <a:ext cx="5042916" cy="970788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4155948"/>
            <a:ext cx="4823460" cy="970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 발견 → 구두 요청만 진행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56032" y="5126736"/>
            <a:ext cx="5042916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56032" y="5163312"/>
            <a:ext cx="5042916" cy="970788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" y="5163312"/>
            <a:ext cx="4823460" cy="970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여부 미확인 · 기록 없음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56032" y="6134100"/>
            <a:ext cx="5042916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56032" y="6170676"/>
            <a:ext cx="5042916" cy="970788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" y="6170676"/>
            <a:ext cx="4823460" cy="970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누락됨 → 심사 지적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317236" y="2619756"/>
            <a:ext cx="54864" cy="2743200"/>
          </a:xfrm>
          <a:prstGeom prst="rect">
            <a:avLst/>
          </a:prstGeom>
          <a:solidFill>
            <a:srgbClr val="E0F5FA"/>
          </a:solidFill>
          <a:ln/>
        </p:spPr>
      </p:sp>
      <p:sp>
        <p:nvSpPr>
          <p:cNvPr id="28" name="Text 26"/>
          <p:cNvSpPr/>
          <p:nvPr/>
        </p:nvSpPr>
        <p:spPr>
          <a:xfrm>
            <a:off x="5280660" y="3717036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390388" y="804672"/>
            <a:ext cx="5042916" cy="329184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30" name="Text 28"/>
          <p:cNvSpPr/>
          <p:nvPr/>
        </p:nvSpPr>
        <p:spPr>
          <a:xfrm>
            <a:off x="5500116" y="804672"/>
            <a:ext cx="48966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TO-BE  —  개선 후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390388" y="1133856"/>
            <a:ext cx="5042916" cy="970788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36692" y="1133856"/>
            <a:ext cx="4823460" cy="970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7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입고 여부와 무관한 전체 기준서 월간 점검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390388" y="2104644"/>
            <a:ext cx="5042916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390388" y="2141220"/>
            <a:ext cx="5042916" cy="970788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36692" y="2141220"/>
            <a:ext cx="4823460" cy="970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7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리비전 발생 시 구버전 기준서 동시 점검 의무화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390388" y="3112008"/>
            <a:ext cx="5042916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390388" y="3148584"/>
            <a:ext cx="5042916" cy="970788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36692" y="3148584"/>
            <a:ext cx="4823460" cy="970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7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누락 발견 → 서면(기록) 요청 즉시 진행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390388" y="4119372"/>
            <a:ext cx="5042916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390388" y="4155948"/>
            <a:ext cx="5042916" cy="970788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36692" y="4155948"/>
            <a:ext cx="4823460" cy="970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7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SQM팀 피드백 체계로 처리 여부 확인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390388" y="5126736"/>
            <a:ext cx="5042916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390388" y="5163312"/>
            <a:ext cx="5042916" cy="970788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36692" y="5163312"/>
            <a:ext cx="4823460" cy="970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7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완료 보고 후 이력 서면 기록 · 보존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390388" y="6134100"/>
            <a:ext cx="5042916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390388" y="6170676"/>
            <a:ext cx="5042916" cy="970788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36692" y="6170676"/>
            <a:ext cx="4823460" cy="970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7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매일 아침 기준서 확인 보고 체계 운영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292608" y="7232904"/>
            <a:ext cx="101041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9" name="Text 47"/>
          <p:cNvSpPr/>
          <p:nvPr/>
        </p:nvSpPr>
        <p:spPr>
          <a:xfrm>
            <a:off x="292608" y="72511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검사기준서 누락 원인분석 및 재발방지 대책서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677656" y="7251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0158984" y="1188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158984" y="118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7562088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0"/>
            <a:ext cx="10634472" cy="36576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" y="36576"/>
            <a:ext cx="10634472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37744" y="91440"/>
            <a:ext cx="9774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계획  —  Action Plan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37744" y="457200"/>
            <a:ext cx="9774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Implementation Schedule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6032" y="804672"/>
            <a:ext cx="1883664" cy="329184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04672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대책 항목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76272" y="804672"/>
            <a:ext cx="1883664" cy="329184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76272" y="804672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7월 2~4주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96512" y="804672"/>
            <a:ext cx="1883664" cy="329184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96512" y="804672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 1~2주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16752" y="804672"/>
            <a:ext cx="1481328" cy="329184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16752" y="804672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 3~4주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534656" y="804672"/>
            <a:ext cx="1316736" cy="329184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34656" y="804672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887968" y="804672"/>
            <a:ext cx="1554480" cy="329184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87968" y="80467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1133856"/>
            <a:ext cx="10177272" cy="111373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1133856"/>
            <a:ext cx="1755648" cy="1113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외관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 보완·확인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0" y="1316736"/>
            <a:ext cx="1664208" cy="747979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23" name="Text 21"/>
          <p:cNvSpPr/>
          <p:nvPr/>
        </p:nvSpPr>
        <p:spPr>
          <a:xfrm>
            <a:off x="2286000" y="1316736"/>
            <a:ext cx="1664208" cy="747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534656" y="1133856"/>
            <a:ext cx="1316736" cy="1113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인시스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979408" y="1553566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79408" y="155356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7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2284171"/>
            <a:ext cx="10177272" cy="1113739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2284171"/>
            <a:ext cx="1755648" cy="1113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SQM팀 피드백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체계 구축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86000" y="2467051"/>
            <a:ext cx="1664208" cy="747979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30" name="Text 28"/>
          <p:cNvSpPr/>
          <p:nvPr/>
        </p:nvSpPr>
        <p:spPr>
          <a:xfrm>
            <a:off x="2286000" y="2467051"/>
            <a:ext cx="1664208" cy="747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206240" y="2467051"/>
            <a:ext cx="1664208" cy="747979"/>
          </a:xfrm>
          <a:prstGeom prst="rect">
            <a:avLst/>
          </a:prstGeom>
          <a:solidFill>
            <a:srgbClr val="67C1D7"/>
          </a:solidFill>
          <a:ln/>
        </p:spPr>
      </p:sp>
      <p:sp>
        <p:nvSpPr>
          <p:cNvPr id="32" name="Text 30"/>
          <p:cNvSpPr/>
          <p:nvPr/>
        </p:nvSpPr>
        <p:spPr>
          <a:xfrm>
            <a:off x="4206240" y="2467051"/>
            <a:ext cx="1664208" cy="747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정착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534656" y="2284171"/>
            <a:ext cx="1316736" cy="1113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SQM협업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979408" y="2703881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E0F5FA"/>
          </a:solidFill>
          <a:ln w="12700">
            <a:solidFill>
              <a:srgbClr val="007A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79408" y="2703881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중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56032" y="3434486"/>
            <a:ext cx="10177272" cy="111373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3434486"/>
            <a:ext cx="1755648" cy="1113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전수 기준서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실시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206240" y="3617366"/>
            <a:ext cx="1664208" cy="747979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39" name="Text 37"/>
          <p:cNvSpPr/>
          <p:nvPr/>
        </p:nvSpPr>
        <p:spPr>
          <a:xfrm>
            <a:off x="4206240" y="3617366"/>
            <a:ext cx="1664208" cy="747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착수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26480" y="3617366"/>
            <a:ext cx="1261872" cy="747979"/>
          </a:xfrm>
          <a:prstGeom prst="rect">
            <a:avLst/>
          </a:prstGeom>
          <a:solidFill>
            <a:srgbClr val="67C1D7"/>
          </a:solidFill>
          <a:ln/>
        </p:spPr>
      </p:sp>
      <p:sp>
        <p:nvSpPr>
          <p:cNvPr id="41" name="Text 39"/>
          <p:cNvSpPr/>
          <p:nvPr/>
        </p:nvSpPr>
        <p:spPr>
          <a:xfrm>
            <a:off x="6126480" y="3617366"/>
            <a:ext cx="1261872" cy="747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정착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534656" y="3434486"/>
            <a:ext cx="1316736" cy="1113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인시스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979408" y="3854196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E0F5FA"/>
          </a:solidFill>
          <a:ln w="12700">
            <a:solidFill>
              <a:srgbClr val="007A9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979408" y="38541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중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56032" y="4584802"/>
            <a:ext cx="10177272" cy="1113739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7472" y="4584802"/>
            <a:ext cx="1755648" cy="1113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 기록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체계 수립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206240" y="4767682"/>
            <a:ext cx="1664208" cy="747979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8" name="Text 46"/>
          <p:cNvSpPr/>
          <p:nvPr/>
        </p:nvSpPr>
        <p:spPr>
          <a:xfrm>
            <a:off x="4206240" y="4767682"/>
            <a:ext cx="1664208" cy="747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수립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126480" y="4767682"/>
            <a:ext cx="1261872" cy="747979"/>
          </a:xfrm>
          <a:prstGeom prst="rect">
            <a:avLst/>
          </a:prstGeom>
          <a:solidFill>
            <a:srgbClr val="67C1D7"/>
          </a:solidFill>
          <a:ln/>
        </p:spPr>
      </p:sp>
      <p:sp>
        <p:nvSpPr>
          <p:cNvPr id="50" name="Text 48"/>
          <p:cNvSpPr/>
          <p:nvPr/>
        </p:nvSpPr>
        <p:spPr>
          <a:xfrm>
            <a:off x="6126480" y="4767682"/>
            <a:ext cx="1261872" cy="747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534656" y="4584802"/>
            <a:ext cx="1316736" cy="1113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인시스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979408" y="5004511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E0F5FA"/>
          </a:solidFill>
          <a:ln w="12700">
            <a:solidFill>
              <a:srgbClr val="007A9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979408" y="5004511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중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56032" y="5735117"/>
            <a:ext cx="10177272" cy="111373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7472" y="5735117"/>
            <a:ext cx="1755648" cy="1113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아침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 체계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286000" y="5917997"/>
            <a:ext cx="1664208" cy="747979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7" name="Text 55"/>
          <p:cNvSpPr/>
          <p:nvPr/>
        </p:nvSpPr>
        <p:spPr>
          <a:xfrm>
            <a:off x="2286000" y="5917997"/>
            <a:ext cx="1664208" cy="747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206240" y="5917997"/>
            <a:ext cx="1664208" cy="747979"/>
          </a:xfrm>
          <a:prstGeom prst="rect">
            <a:avLst/>
          </a:prstGeom>
          <a:solidFill>
            <a:srgbClr val="67C1D7"/>
          </a:solidFill>
          <a:ln/>
        </p:spPr>
      </p:sp>
      <p:sp>
        <p:nvSpPr>
          <p:cNvPr id="59" name="Text 57"/>
          <p:cNvSpPr/>
          <p:nvPr/>
        </p:nvSpPr>
        <p:spPr>
          <a:xfrm>
            <a:off x="4206240" y="5917997"/>
            <a:ext cx="1664208" cy="747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126480" y="5917997"/>
            <a:ext cx="1261872" cy="747979"/>
          </a:xfrm>
          <a:prstGeom prst="rect">
            <a:avLst/>
          </a:prstGeom>
          <a:solidFill>
            <a:srgbClr val="B2DDE8"/>
          </a:solidFill>
          <a:ln/>
        </p:spPr>
      </p:sp>
      <p:sp>
        <p:nvSpPr>
          <p:cNvPr id="61" name="Text 59"/>
          <p:cNvSpPr/>
          <p:nvPr/>
        </p:nvSpPr>
        <p:spPr>
          <a:xfrm>
            <a:off x="6126480" y="5917997"/>
            <a:ext cx="1261872" cy="747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정착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7534656" y="5735117"/>
            <a:ext cx="1316736" cy="1113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인시스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8979408" y="6154826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E0F5FA"/>
          </a:solidFill>
          <a:ln w="12700">
            <a:solidFill>
              <a:srgbClr val="007A9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979408" y="615482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중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56032" y="6903720"/>
            <a:ext cx="1017727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84048" y="6903720"/>
            <a:ext cx="10049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기준일: 2026년 7월 31일  ·  월간 점검 결과는 매월 말 SQM팀에 보고 예정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92608" y="7232904"/>
            <a:ext cx="101041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8" name="Text 66"/>
          <p:cNvSpPr/>
          <p:nvPr/>
        </p:nvSpPr>
        <p:spPr>
          <a:xfrm>
            <a:off x="292608" y="72511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검사기준서 누락 원인분석 및 재발방지 대책서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8677656" y="7251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10158984" y="1188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0158984" y="118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7562088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0"/>
            <a:ext cx="10506456" cy="54864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01168"/>
            <a:ext cx="10140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재발 방지 약속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950976"/>
            <a:ext cx="10140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Commitment to Prevention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316736"/>
            <a:ext cx="2743200" cy="54864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627632"/>
            <a:ext cx="45720" cy="1136142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9" name="Shape 7"/>
          <p:cNvSpPr/>
          <p:nvPr/>
        </p:nvSpPr>
        <p:spPr>
          <a:xfrm>
            <a:off x="512064" y="1609344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E0F5FA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1609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9264" y="1627632"/>
            <a:ext cx="9354312" cy="1136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내용의 완전성을 입고 여부와 무관하게 주기적으로 검증하겠습니다.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65760" y="2946654"/>
            <a:ext cx="45720" cy="1136142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13" name="Shape 11"/>
          <p:cNvSpPr/>
          <p:nvPr/>
        </p:nvSpPr>
        <p:spPr>
          <a:xfrm>
            <a:off x="512064" y="2928366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E0F5FA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" y="292836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9264" y="2946654"/>
            <a:ext cx="9354312" cy="1136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누락 확인 및 조치는 서면으로 기록하여 추적 가능한 체계를 유지하겠습니다.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65760" y="4265676"/>
            <a:ext cx="45720" cy="1136142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17" name="Shape 15"/>
          <p:cNvSpPr/>
          <p:nvPr/>
        </p:nvSpPr>
        <p:spPr>
          <a:xfrm>
            <a:off x="512064" y="424738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E0F5FA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42473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9264" y="4265676"/>
            <a:ext cx="9354312" cy="1136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개선품 리비전 시 구버전 기준서를 반드시 동시에 점검하는 절차를 준수하겠습니다.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5584698"/>
            <a:ext cx="45720" cy="1136142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21" name="Shape 19"/>
          <p:cNvSpPr/>
          <p:nvPr/>
        </p:nvSpPr>
        <p:spPr>
          <a:xfrm>
            <a:off x="512064" y="556641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E0F5FA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" y="556641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9264" y="5584698"/>
            <a:ext cx="9354312" cy="1136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셰플러 SQM팀과의 수시 소통 체계를 통해 품질 이슈를 조기에 해소하겠습니다.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2286000" y="6629400"/>
            <a:ext cx="6117336" cy="60350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0" y="6629400"/>
            <a:ext cx="64008" cy="603504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26" name="Text 24"/>
          <p:cNvSpPr/>
          <p:nvPr/>
        </p:nvSpPr>
        <p:spPr>
          <a:xfrm>
            <a:off x="2450592" y="6629400"/>
            <a:ext cx="5897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담당: 김종선 대리  ·  2026. 7. 31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92608" y="7232904"/>
            <a:ext cx="101041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8" name="Text 26"/>
          <p:cNvSpPr/>
          <p:nvPr/>
        </p:nvSpPr>
        <p:spPr>
          <a:xfrm>
            <a:off x="292608" y="72511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검사기준서 누락 원인분석 및 재발방지 대책서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677656" y="7251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0158984" y="1188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58984" y="118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2026-07-30T15:47:58Z</dcterms:created>
  <dcterms:modified xsi:type="dcterms:W3CDTF">2026-07-30T15:47:58Z</dcterms:modified>
</cp:coreProperties>
</file>