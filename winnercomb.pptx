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307592"/>
            <a:ext cx="6858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 제안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290779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제로화를 위한 스마트 인라인 자동화 솔루션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30352" y="3291840"/>
            <a:ext cx="548640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43814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제안사: 인시스 AI혁신 R&amp;D센터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6941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수신: 위너콤 생산팀  |  2026년 7월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EL+DL vs PC 딥러닝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548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6344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77316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2064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딥러닝 비전검사인가?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일관성 확보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사람의 판단에 의존하는 검사는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컨디션·환경에 따라 결과가 달라질 수 있습니다.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품질관리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데이터가 체계적으로 축적되지 않으면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개선과 클레임 대응이 어렵습니다.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자동화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기준으로 동일한 품질의 검사를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수행하며 모든 데이터를 자동 누적합니다.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목적에 따른 최적 조명 선택이 딥러닝 정확도를 결정합니다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비전 + 최적 조명 선택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검사 목적별 최적 조명 선택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유형에 따라 조명 방식 결정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균일 조명 설계로 오검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986784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86784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돔조명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986784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Edge·형상 검출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반사 억제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522976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22976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동축조명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522976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스크래치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 이상 검출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059168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59168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Angle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Ring 조명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059168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미세 흠집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요철·질감 검출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EL+DL vs PC 기반 딥러닝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개발자 관점 — 검사 복잡도에 따른 최적 구성 선택 가이드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493776"/>
          </a:xfrm>
          <a:prstGeom prst="roundRect">
            <a:avLst>
              <a:gd name="adj" fmla="val 12963"/>
            </a:avLst>
          </a:prstGeom>
          <a:solidFill>
            <a:srgbClr val="1B3A6B"/>
          </a:solidFill>
          <a:ln w="12700">
            <a:solidFill>
              <a:srgbClr val="2E5EA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78992"/>
            <a:ext cx="8046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💡  현재 사용 중인 스마트 카메라도 옵션에 따라 딥러닝(EL+DL)을 지원합니다. 검사 복잡도와 속도 요건에 따라 최적 구성이 달라집니다.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1682496"/>
            <a:ext cx="4114800" cy="3346704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64748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682496"/>
            <a:ext cx="4114800" cy="402336"/>
          </a:xfrm>
          <a:prstGeom prst="roundRect">
            <a:avLst>
              <a:gd name="adj" fmla="val 15909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682496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 EL + DL 옵션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93776" y="2176272"/>
            <a:ext cx="3858768" cy="566928"/>
          </a:xfrm>
          <a:prstGeom prst="roundRect">
            <a:avLst>
              <a:gd name="adj" fmla="val 1129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85216" y="2203704"/>
            <a:ext cx="3675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간단한 외관검사에 효율적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85216" y="2404872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PC 없이 카메라 단독으로 딥러닝 검사 구성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설치·운영이 간편하고 비용 부담이 낮음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93776" y="2834640"/>
            <a:ext cx="3858768" cy="566928"/>
          </a:xfrm>
          <a:prstGeom prst="roundRect">
            <a:avLst>
              <a:gd name="adj" fmla="val 1129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85216" y="2862072"/>
            <a:ext cx="3675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내부 CPU 처리 — 학습량 제한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85216" y="3063240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내장 CPU를 사용하므로 대용량 학습 데이터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적용이 어려워 디테일한 불량 유형 학습에 한계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93776" y="3493008"/>
            <a:ext cx="3858768" cy="566928"/>
          </a:xfrm>
          <a:prstGeom prst="roundRect">
            <a:avLst>
              <a:gd name="adj" fmla="val 1129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85216" y="3520440"/>
            <a:ext cx="3675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복잡한 불량 검출 어려움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5216" y="3721608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부족으로 미세·복합 불량 등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경계가 모호한 유형은 검출 정확도가 떨어짐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93776" y="4151376"/>
            <a:ext cx="3858768" cy="566928"/>
          </a:xfrm>
          <a:prstGeom prst="roundRect">
            <a:avLst>
              <a:gd name="adj" fmla="val 1129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5216" y="4178808"/>
            <a:ext cx="3675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단순 검사 사이클 속도 유리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5216" y="4379976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추론 연산이 가볍고 처리 지연이 적어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고속 라인의 단순 항목 검사에 적합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352544" y="2834640"/>
            <a:ext cx="530352" cy="5303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52544" y="28346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0" y="1682496"/>
            <a:ext cx="3749040" cy="3346704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029200" y="1682496"/>
            <a:ext cx="3749040" cy="402336"/>
          </a:xfrm>
          <a:prstGeom prst="roundRect">
            <a:avLst>
              <a:gd name="adj" fmla="val 15909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0" y="1682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 기반 딥러닝  ★ 제안 방식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157216" y="2176272"/>
            <a:ext cx="349300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248656" y="22037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대용량 학습 데이터 적용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248656" y="240487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PC로 수천~수만 장 이미지 학습 가능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미세·복합·모호한 불량 유형까지 정밀 검출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157216" y="2834640"/>
            <a:ext cx="3493008" cy="566928"/>
          </a:xfrm>
          <a:prstGeom prst="roundRect">
            <a:avLst>
              <a:gd name="adj" fmla="val 11290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5248656" y="2862072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디테일한 검사 구현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248656" y="3063240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불량 유형을 고정밀로 학습·판별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안테나 외관검사 요건에 최적 대응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157216" y="3493008"/>
            <a:ext cx="349300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5248656" y="3520440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상세 검사 시 추론 시간 증가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248656" y="3721608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복잡도가 높을수록 추론 시간이 길어짐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정밀도와 라인 속도의 균형 설계 필요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157216" y="4151376"/>
            <a:ext cx="3493008" cy="566928"/>
          </a:xfrm>
          <a:prstGeom prst="roundRect">
            <a:avLst>
              <a:gd name="adj" fmla="val 11290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248656" y="4178808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확장성·유지보수 우수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248656" y="4379976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업데이트·추가 학습이 자유롭고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MES·바코드 등 외부 시스템 연동 용이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65760" y="4736592"/>
            <a:ext cx="8412480" cy="292608"/>
          </a:xfrm>
          <a:prstGeom prst="roundRect">
            <a:avLst>
              <a:gd name="adj" fmla="val 2187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473659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외관 항목은 스마트 카메라 EL+DL로 충분 — 미세·복합 불량 정밀 검사는 PC 기반 딥러닝이 적합 — 검사 항목·속도·정밀도의 균형을 현장 확인 후 결정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스캔부터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안착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28800"/>
            <a:ext cx="34381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이전 공정 작업자가 케이블 바코드를 검사기에 설치된 고정 스캐너로 스캔 후 지그에 투입합니다.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1051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투입을 인식한 검사기가 S/T 기준으로 이송하며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65760" y="3712464"/>
            <a:ext cx="8412480" cy="475488"/>
          </a:xfrm>
          <a:prstGeom prst="roundRect">
            <a:avLst>
              <a:gd name="adj" fmla="val 1346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48640" y="371246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투입부터 판정·MES 전송·분리 배출까지  전 과정 무인 자동 운영  |  별도 인력 불필요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365760" y="4261104"/>
            <a:ext cx="8412480" cy="768096"/>
          </a:xfrm>
          <a:prstGeom prst="roundRect">
            <a:avLst>
              <a:gd name="adj" fmla="val 8333"/>
            </a:avLst>
          </a:prstGeom>
          <a:solidFill>
            <a:srgbClr val="FFF8E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365760" y="4261104"/>
            <a:ext cx="54864" cy="7680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3776" y="437083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3776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🤝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969264" y="42976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데이터 제공 협조 요청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69264" y="453542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검사원이 현장에서 판별한 양품·불량 결과 데이터를 AI 딥러닝 학습에 활용합니다.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이력(불량 유형, 판정 결과, 이미지)을 제공해 주시면 초기 학습 정확도를 높이고 도입 기간을 단축할 수 있습니다.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126480" y="4315968"/>
            <a:ext cx="2578608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6199632" y="435254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📋  요청 자료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199632" y="45354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불량 유형별 이미지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현장 판정 이력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양품 기준 샘플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71216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871216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80944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80944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80944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871216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871216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80944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80944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80944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871216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871216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80944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980944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980944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31536" y="1078992"/>
            <a:ext cx="3346704" cy="3493008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431536" y="1078992"/>
            <a:ext cx="3346704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31536" y="1078992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559552" y="1554480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650992" y="1591056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650992" y="1792224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559552" y="2084832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650992" y="2121408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50992" y="2322576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559552" y="2615184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650992" y="2651760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50992" y="2852928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559552" y="3145536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650992" y="3182112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50992" y="3383280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559552" y="3675888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650992" y="3712464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650992" y="3913632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42416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3661" y="1207008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3661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11480" y="171907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자동학습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75488" y="201168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06654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누적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정확도 지속 향상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070202" y="1042416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42416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48102" y="1207008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48102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⚖️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115922" y="171907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기준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179930" y="201168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206654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 무관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기준 판정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774643" y="1042416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42416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52544" y="1207008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52544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🚫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820363" y="171907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혼입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차단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884371" y="201168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0363" y="206654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분리 배출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재검사 불필요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479085" y="1042416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42416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6986" y="1207008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56986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📈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524805" y="171907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데이터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588813" y="201168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24805" y="206654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통계·트렌드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자동 생성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7183526" y="1042416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42416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61427" y="1207008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61427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👤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229246" y="171907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인력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293254" y="201168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9246" y="206654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자동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재배치 가능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65760" y="2304288"/>
            <a:ext cx="2743200" cy="2793492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304288"/>
            <a:ext cx="2743200" cy="347472"/>
          </a:xfrm>
          <a:prstGeom prst="roundRect">
            <a:avLst>
              <a:gd name="adj" fmla="val 18421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3042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2706624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2761488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검출율 지속 향상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(딥러닝 누적 학습)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57200" y="3512820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567684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자동 분류·통계 제공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57200" y="4319016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373880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후공정 불량 혼입 원천 차단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3200400" y="2304288"/>
            <a:ext cx="2743200" cy="2793492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304288"/>
            <a:ext cx="2743200" cy="347472"/>
          </a:xfrm>
          <a:prstGeom prst="roundRect">
            <a:avLst>
              <a:gd name="adj" fmla="val 1842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3042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291840" y="2706624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2761488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공정 무인 자동 운영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91840" y="3512820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567684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인력 생산 공정 재배치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3291840" y="4319016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373880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편차 완전 제거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6035040" y="2304288"/>
            <a:ext cx="2743200" cy="2793492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304288"/>
            <a:ext cx="2743200" cy="347472"/>
          </a:xfrm>
          <a:prstGeom prst="roundRect">
            <a:avLst>
              <a:gd name="adj" fmla="val 18421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3042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6126480" y="2706624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2761488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납품처 신뢰도 향상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6126480" y="3512820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567684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클레임 대응 근거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확보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6126480" y="4319016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373880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수주 경쟁력 강화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입수부터 현장 가동까지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7557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7557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2336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입수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5048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79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09790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09790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145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170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902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22023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22023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268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293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024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34256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390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확정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415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46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546489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46489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512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3537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269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58722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58722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635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5660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6391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970955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70955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6757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제공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5779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779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분류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 이내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27902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7902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구조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환경 확인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0024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0024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 조건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방식 협의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146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2146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4269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4269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연계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6391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6391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생산팀 인수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65760" y="3255264"/>
            <a:ext cx="128016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3291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&amp; 리포트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65760" y="356616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645920" y="3255264"/>
            <a:ext cx="822960" cy="5669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45920" y="32918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실사·사양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1645920" y="356616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468880" y="3255264"/>
            <a:ext cx="2926080" cy="56692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468880" y="3291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개발·제작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468880" y="35661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394960" y="3255264"/>
            <a:ext cx="14630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94960" y="3291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설치·테스트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394960" y="35661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858000" y="3255264"/>
            <a:ext cx="10058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8000" y="3291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검증·인수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858000" y="356616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~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365760" y="3931920"/>
            <a:ext cx="8412480" cy="603504"/>
          </a:xfrm>
          <a:prstGeom prst="roundRect">
            <a:avLst>
              <a:gd name="adj" fmla="val 10606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548640" y="3931920"/>
            <a:ext cx="8046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 확정 후 개발 착수부터 현장 가동까지  →  약 2개월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적용 전 사전 검토가 필요한 항목입니다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11521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BEAFE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1521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기구·지그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914400" y="13533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PCB 연결 케이블 형태 균일화 및 바코드 위치 표준화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15727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케이블이 PCB와 연결된 상태에서 형태가 일정하지 않으면 지그 안착 불량 및 촬영 위치 오차가 발생할 수 있습니다. 또한 바코드 부착 위치가 개체마다 다를 경우 고정식 스캐너 인식률이 저하됩니다.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943600" y="11338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1704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035040" y="13533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 정형화 가능 여부 및 바코드 부착 위치 표준화 협의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" y="18790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790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8790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19522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EDE9FE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19522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운용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914400" y="21534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라인에서 안착 지그 회수 방법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4400" y="23728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컨베어 타입 흐름 라인에 지그를 투입할 경우 검사 완료 후 지그를 투입 위치로 회수하는 방법이 필요합니다. 지그 미회수 시 라인 정체 및 추가 지그 소요 비용이 발생합니다.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943600" y="19339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035040" y="19705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035040" y="21534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회수 방식(수동 회수 / 자동 리턴 구조) 및 지그 수량 협의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26791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791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6791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4400" y="27523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CCFBF1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27523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처리량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914400" y="29535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검사품 동시 안착 가능 여부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14400" y="31729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02항의 지그 회수 방식에 따라 복수의 검사품을 동시에 지그에 올려두는 멀티 안착 구조가 가능한지 검토가 필요합니다. 동시 처리 수량에 따라 검사기 설계 규모와 S/T가 결정됩니다.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943600" y="27340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035040" y="27706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035040" y="29535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생산 속도 및 동시 처리 목표 수량 공유 요청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" y="34792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65760" y="34792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4792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14400" y="35524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35524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설계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914400" y="37536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03항 가능 시 — 검사기 내부 지그 리턴 구조 추가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14400" y="39730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동시 안착이 가능하다면 검사기 내부에 지그 자동 리턴 구조를 설계에 포함합니다. 이 경우 장비 규모와 제작 기간·비용이 증가하므로 효용성을 함께 검토해야 합니다.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943600" y="35341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035040" y="35707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035040" y="37536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리턴 구조 포함 여부 및 설치 공간·예산 범위 사전 협의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2793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65760" y="42793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2793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14400" y="43525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43525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협조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914400" y="45537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육안검사 경험 데이터의 딥러닝 학습 적용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4400" y="47731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비전검사기 도입 이전 검사원들이 육안으로 판별하며 축적한 불량 사례·판정 기준 데이터를 딥러닝 초기 학습에 활용하면 검출 정확도를 빠르게 높일 수 있습니다. 학습 데이터가 많을수록 도입 초기 성능이 향상됩니다.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943600" y="43342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035040" y="43708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6035040" y="45537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불량 이미지·판정 이력 데이터 제공 여부 및 범위 협의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샘플을 R&amp;D센터로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 수령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분석 후 1~2주 이내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검토 리포트 제출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실사 &amp; 사양 확정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방문 후 맞춤 사양 확정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착수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AI혁신 R&amp;D센터  |  담당: 센터장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생산팀의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2026-07-17T06:52:44Z</dcterms:created>
  <dcterms:modified xsi:type="dcterms:W3CDTF">2026-07-17T06:52:44Z</dcterms:modified>
</cp:coreProperties>
</file>