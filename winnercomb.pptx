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246120"/>
            <a:ext cx="9144000" cy="1897380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353312"/>
            <a:ext cx="54864" cy="14996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133856"/>
            <a:ext cx="4754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비전검사 시스템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 제안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30352" y="305409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제로화를 위한 스마트 인라인 자동화 솔루션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30352" y="3419856"/>
            <a:ext cx="438912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54787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제안사: 인시스 AI혁신 R&amp;D센터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0352" y="38039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수신: 위너콤  |  2026년 7월</a:t>
            </a:r>
            <a:endParaRPr lang="en-US" sz="11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457200"/>
            <a:ext cx="370332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Table of Contents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7316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비교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7316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컨셉트 이미지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7548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6344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7316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6344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7316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2064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6576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7548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66344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77316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12064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 딥러닝 비전검사인가?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3776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50976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일관성 확보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사람의 판단에 의존하는 검사는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컨디션·환경에 따라 결과가 달라질 수 있습니다.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82312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82312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39512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기반 품질관리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82312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데이터가 체계적으로 축적되지 않으면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 개선과 클레임 대응이 어렵습니다.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🤖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50976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자동화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 기준으로 동일한 품질의 검사를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수행하며 모든 데이터를 자동 누적합니다.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54296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82312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🏭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39512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최적화 솔루션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82312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외관검사 공정에 특화된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시스템을 제안합니다.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성능 비교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목적에 따른 최적 조명 선택이 딥러닝 정확도를 결정합니다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36576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2651760" cy="420624"/>
          </a:xfrm>
          <a:prstGeom prst="roundRect">
            <a:avLst>
              <a:gd name="adj" fmla="val 15217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(룰 기반)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12064" y="1609344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명확한 불량만 검출 가능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76656" y="18288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스크래치·치수 등 뚜렷한 유형에 한정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2064" y="2121408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조명 변화에 취약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76656" y="234086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변화 시 오검 증가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12064" y="2633472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새 불량 유형 대응 불가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76656" y="28529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엔지니어가 규칙 직접 수정 필요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2064" y="3145536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미세·복합 불량 검출 한계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76656" y="3364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경계 모호한 불량은 누락 위험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12064" y="3657600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초기 구축 난이도 낮음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" y="387705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설정으로 빠른 도입 가능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163824" y="2578608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3824" y="2578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931920" y="1078992"/>
            <a:ext cx="4846320" cy="3657600"/>
          </a:xfrm>
          <a:prstGeom prst="roundRect">
            <a:avLst>
              <a:gd name="adj" fmla="val 1750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931920" y="1078992"/>
            <a:ext cx="4846320" cy="420624"/>
          </a:xfrm>
          <a:prstGeom prst="roundRect">
            <a:avLst>
              <a:gd name="adj" fmla="val 1521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0" y="10789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비전 + 최적 조명 선택  ★ 제안 방식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078224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69664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미세·복합 불량 고정밀 검출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169664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학습으로 모호한 불량도 검출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437376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28816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검사 목적별 최적 조명 선택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528816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유형에 따라 조명 방식 결정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078224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169664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새 불량 유형 추가 학습 대응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169664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추가만으로 즉시 대응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37376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28816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조명 환경 변화에 안정적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528816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균일 조명 설계로 오검 최소화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078224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169664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데이터 누적 → 정확도 지속 향상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69664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운영할수록 검출율이 높아지는 구조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437376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528816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바코드·MES 연동 통합 운영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528816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검사~이력관리 전 과정 자동화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931920" y="3602736"/>
            <a:ext cx="4846320" cy="987552"/>
          </a:xfrm>
          <a:prstGeom prst="roundRect">
            <a:avLst>
              <a:gd name="adj" fmla="val 6481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986784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86784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돔조명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986784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Edge·형상 검출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반사 억제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522976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22976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동축조명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522976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스크래치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광택 이상 검출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059168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59168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Low Angle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Ring 조명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059168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미세 흠집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요철·질감 검출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스캔부터 양불 분리 배출까지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4747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4747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4475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7276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7276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57276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안착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70048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98064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798064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95344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0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023360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이송·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20640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48656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48656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248656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5936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7395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7395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47395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전송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57123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9924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9924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69924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배출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1755648"/>
            <a:ext cx="411480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" y="1847088"/>
            <a:ext cx="347472" cy="34747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14400" y="1828800"/>
            <a:ext cx="34381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이전 공정 작업자가 케이블 바코드를 검사기에 설치된 고정 스캐너로 스캔 후 지그에 투입합니다.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26864" y="1755648"/>
            <a:ext cx="3968496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18304" y="1847088"/>
            <a:ext cx="347472" cy="347472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18304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175504" y="181051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투입을 인식한 검사기가 S/T 기준으로 이송하며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촬영·딥러닝 판정을 수행합니다.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797296" y="2468880"/>
            <a:ext cx="0" cy="256032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11680" y="2724912"/>
            <a:ext cx="3785616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양품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7200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작업자 옆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양품 데이터 전송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797296" y="2724912"/>
            <a:ext cx="1353312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50608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50608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❌ NG품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150608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구분함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NG 데이터 전송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834640" y="2633472"/>
            <a:ext cx="3474720" cy="621792"/>
          </a:xfrm>
          <a:prstGeom prst="roundRect">
            <a:avLst>
              <a:gd name="adj" fmla="val 10294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2834640" y="263347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실시간 연동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양품·NG 데이터 자동 전송 및 생산 이력 기록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365760" y="3712464"/>
            <a:ext cx="8412480" cy="475488"/>
          </a:xfrm>
          <a:prstGeom prst="roundRect">
            <a:avLst>
              <a:gd name="adj" fmla="val 13462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548640" y="3712464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투입부터 판정·MES 전송·분리 배출까지  전 과정 무인 자동 운영  |  별도 인력 불필요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365760" y="4261104"/>
            <a:ext cx="8412480" cy="768096"/>
          </a:xfrm>
          <a:prstGeom prst="roundRect">
            <a:avLst>
              <a:gd name="adj" fmla="val 8333"/>
            </a:avLst>
          </a:prstGeom>
          <a:solidFill>
            <a:srgbClr val="FFF8E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365760" y="4261104"/>
            <a:ext cx="54864" cy="76809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93776" y="4370832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3776" y="4370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🤝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969264" y="42976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데이터 제공 협조 요청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969264" y="4535424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검사원이 현장에서 판별한 양품·불량 결과 데이터를 AI 딥러닝 학습에 활용합니다.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이력(불량 유형, 판정 결과, 이미지)을 제공해 주시면 초기 학습 정확도를 높이고 도입 기간을 단축할 수 있습니다.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6126480" y="4315968"/>
            <a:ext cx="2578608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6199632" y="435254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📋  요청 자료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199632" y="45354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불량 유형별 이미지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현장 판정 이력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양품 기준 샘플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컨셉트 이미지</a:t>
            </a:r>
            <a:endParaRPr lang="en-US" sz="1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57229" y="438912"/>
            <a:ext cx="7029450" cy="46863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구성 모듈과 생산 시스템 연결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75488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 연계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75488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흐름 라인과 검사기 연계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S/T 기준 이송 속도 결정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871216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871216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80944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980944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지그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980944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 정위치 정렬·고정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 검사마다 동일 조건 유지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5488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&amp; 돔조명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5488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고해상도 카메라 + 돔조명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전면·측면·후면 다각도 촬영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871216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871216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80944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80944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판정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980944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GPU 엣지 컴퓨팅 현장 판정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 불필요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5488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분리 배출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5488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→ 다음 공정 자동 이송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→ NG 구분함 자동 분리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871216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871216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80944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980944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스캐너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980944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고정식 스캐너로 제품 이력 연동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결과·이미지 자동 저장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31536" y="1078992"/>
            <a:ext cx="3346704" cy="3493008"/>
          </a:xfrm>
          <a:prstGeom prst="roundRect">
            <a:avLst>
              <a:gd name="adj" fmla="val 1913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431536" y="1078992"/>
            <a:ext cx="3346704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31536" y="1078992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데이터 연계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559552" y="1554480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650992" y="1591056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수기 입력 제거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650992" y="1792224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 MES 자동 전송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559552" y="2084832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650992" y="2121408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제품별 이력 추적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50992" y="2322576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기반 생산 이력 연동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559552" y="2615184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650992" y="2651760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생산·품질 데이터 통합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650992" y="2852928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수량 실시간 집계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559552" y="3145536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650992" y="3182112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MES 방식 유지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50992" y="3383280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시스템 변경 불필요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5559552" y="3675888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650992" y="3712464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현황 대시보드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650992" y="3913632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불량 트렌드 파악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인라인 딥러닝 비전검사기가 만드는 변화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07085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07085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11480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자동학습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5488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누적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정확도 지속 향상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070202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70202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11526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11526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⚖️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115922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기준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179930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15922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 무관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 기준 판정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74643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74643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15968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15968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🚫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820363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혼입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차단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884371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20363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분리 배출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재검사 불필요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479085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79085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20410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20410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📈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524805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데이터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588813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24805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통계·트렌드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자동 생성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183526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183526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24851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24851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👤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7229246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인력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293254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29246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과정 자동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재배치 가능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6576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5720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3035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검출율 지속 향상 (딥러닝 누적 학습)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5720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3035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유형별 자동 분류·통계 제공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5720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3035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후공정 불량 혼입 원천 차단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320040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20040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29184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36499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공정 무인 자동 운영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329184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36499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인력 생산 공정 재배치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329184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336499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편차 완전 제거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03504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03504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03504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경쟁력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612648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납품처 신뢰도 향상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612648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619963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클레임 대응 근거 데이터 확보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612648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619963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수주 경쟁력 강화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데이터 자산이 확장의 토대가 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파일럿 설치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최적화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10312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078992"/>
            <a:ext cx="1554480" cy="786384"/>
          </a:xfrm>
          <a:prstGeom prst="roundRect">
            <a:avLst>
              <a:gd name="adj" fmla="val 814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1133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153619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안정화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74904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0480" y="107899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13385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15361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양품·불량 이미지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확보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6072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6072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 재활용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기간·비용 단축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4980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89520" y="1078992"/>
            <a:ext cx="192024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11338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589520" y="15361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품질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 체계 완성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438656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38656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⏱️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57200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기간 단축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학습 데이터를 추가 호기에 즉시 적용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초기 학습 기간 대폭 단축 가능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6496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79392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79392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💰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3297936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비용 효율 향상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97936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사양·설치 노하우 축적으로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도입 시 설계·제작 비용 절감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047232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120128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20128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138672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정확도 가속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38672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데이터가 많을수록 검출 정확도 향상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호기 도입 즉시 높은 검출율 확보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0"/>
            <a:ext cx="8412480" cy="804672"/>
          </a:xfrm>
          <a:prstGeom prst="roundRect">
            <a:avLst>
              <a:gd name="adj" fmla="val 7955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8640" y="3657600"/>
            <a:ext cx="8046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효과 확인  →  학습 데이터 자산 활용  →  추가 라인 도입 시 개발·학습 기간 단축 및 비용 절감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입수부터 현장 가동까지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97557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7557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2336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입수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5048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779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909790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09790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6145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170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902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22023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122023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268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293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024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34256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34256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0390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확정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415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46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546489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46489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2512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3537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269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758722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58722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635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5660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6391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970955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70955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6757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65760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제공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5779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5779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분류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 이내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27902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27902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구조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환경 확인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0024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0024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 조건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방식 협의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2146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2146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4269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64269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연계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6391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76391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생산팀 인수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65760" y="3255264"/>
            <a:ext cx="128016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3291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&amp; 리포트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365760" y="356616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1645920" y="3255264"/>
            <a:ext cx="822960" cy="566928"/>
          </a:xfrm>
          <a:prstGeom prst="rect">
            <a:avLst/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45920" y="32918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실사·사양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1645920" y="356616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1주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2468880" y="3255264"/>
            <a:ext cx="2926080" cy="566928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468880" y="3291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개발·제작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2468880" y="35661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394960" y="3255264"/>
            <a:ext cx="14630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394960" y="3291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설치·테스트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394960" y="35661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858000" y="3255264"/>
            <a:ext cx="10058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58000" y="3291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검증·인수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6858000" y="356616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~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365760" y="3931920"/>
            <a:ext cx="8412480" cy="603504"/>
          </a:xfrm>
          <a:prstGeom prst="roundRect">
            <a:avLst>
              <a:gd name="adj" fmla="val 10606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548640" y="3931920"/>
            <a:ext cx="8046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 확정 후 개발 착수부터 현장 가동까지  →  약 2개월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적용 전 사전 검토가 필요한 항목입니다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11521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BEAFE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1521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기구·지그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914400" y="13533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PCB 연결 케이블 형태 균일화 및 바코드 위치 표준화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15727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케이블이 PCB와 연결된 상태에서 형태가 일정하지 않으면 지그 안착 불량 및 촬영 위치 오차가 발생할 수 있습니다. 또한 바코드 부착 위치가 개체마다 다를 경우 고정식 스캐너 인식률이 저하됩니다.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5943600" y="11338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35040" y="11704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6035040" y="13533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 정형화 가능 여부 및 바코드 부착 위치 표준화 협의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65760" y="18790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790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8790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4400" y="19522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EDE9FE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19522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운용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914400" y="21534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라인에서 안착 지그 회수 방법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14400" y="23728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컨베어 타입 흐름 라인에 지그를 투입할 경우 검사 완료 후 지그를 투입 위치로 회수하는 방법이 필요합니다. 지그 미회수 시 라인 정체 및 추가 지그 소요 비용이 발생합니다.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5943600" y="19339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035040" y="19705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6035040" y="21534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회수 방식(수동 회수 / 자동 리턴 구조) 및 지그 수량 협의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26791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791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26791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4400" y="27523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CCFBF1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27523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처리량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914400" y="29535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검사품 동시 안착 가능 여부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14400" y="31729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02항의 지그 회수 방식에 따라 복수의 검사품을 동시에 지그에 올려두는 멀티 안착 구조가 가능한지 검토가 필요합니다. 동시 처리 수량에 따라 검사기 설계 규모와 S/T가 결정됩니다.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943600" y="27340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035040" y="27706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035040" y="29535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생산 속도 및 동시 처리 목표 수량 공유 요청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65760" y="34792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65760" y="34792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4792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14400" y="35524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35524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장비 설계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914400" y="37536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03항 가능 시 — 검사기 내부 지그 리턴 구조 추가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914400" y="39730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동시 안착이 가능하다면 검사기 내부에 지그 자동 리턴 구조를 설계에 포함합니다. 이 경우 장비 규모와 제작 기간·비용이 증가하므로 효용성을 함께 검토해야 합니다.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943600" y="35341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035040" y="35707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035040" y="37536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리턴 구조 포함 여부 및 설치 공간·예산 범위 사전 협의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65760" y="42793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65760" y="42793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2793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14400" y="43525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1FAE5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43525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협조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914400" y="45537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육안검사 경험 데이터의 딥러닝 학습 적용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914400" y="47731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비전검사기 도입 이전 검사원들이 육안으로 판별하며 축적한 불량 사례·판정 기준 데이터를 딥러닝 초기 학습에 활용하면 검출 정확도를 빠르게 높일 수 있습니다. 학습 데이터가 많을수록 도입 초기 성능이 향상됩니다.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943600" y="43342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6035040" y="43708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6035040" y="45537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불량 이미지·판정 이력 데이터 제공 여부 및 범위 협의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310128"/>
            <a:ext cx="9144000" cy="1833372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바로 시작할 수 있습니다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12064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12064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 샘플 제공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2064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불량 이력 샘플과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샘플을 R&amp;D센터로 제공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18688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64992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64992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리포트 수령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64992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분석 후 1~2주 이내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검토 리포트 제출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1616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실사 &amp; 사양 확정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방문 후 맞춤 사양 확정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착수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51129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AI혁신 R&amp;D센터  |  담당: 센터장 김양섭  |  ys.kim@in-sys.co.kr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877056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위너콤의 품질 경쟁력을 인시스가 함께 높이겠습니다.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2026-07-17T11:50:43Z</dcterms:created>
  <dcterms:modified xsi:type="dcterms:W3CDTF">2026-07-17T11:50:43Z</dcterms:modified>
</cp:coreProperties>
</file>