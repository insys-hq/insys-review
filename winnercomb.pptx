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246120"/>
            <a:ext cx="9144000" cy="1897380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65760" y="1353312"/>
            <a:ext cx="54864" cy="149961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307592"/>
            <a:ext cx="6858000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</a:t>
            </a:r>
            <a:endParaRPr lang="en-US" sz="30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 제안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30352" y="2907792"/>
            <a:ext cx="6858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제로화를 위한 스마트 인라인 자동화 솔루션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30352" y="3291840"/>
            <a:ext cx="548640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438144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제안사: 인시스 AI혁신 R&amp;D센터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30352" y="3694176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수신: 위너콤 생산팀  |  2026년 7월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목차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Table of Contents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548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73168" y="1179576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120640" y="1179576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비교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7548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663440" y="1609344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73168" y="1691640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120640" y="1691640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7548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2296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663440" y="2121408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773168" y="2203704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120640" y="2203704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6576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7548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2296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4663440" y="2633472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73168" y="2715768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08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120640" y="2715768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65760" y="3145536"/>
            <a:ext cx="4114800" cy="420624"/>
          </a:xfrm>
          <a:prstGeom prst="roundRect">
            <a:avLst>
              <a:gd name="adj" fmla="val 1521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75488" y="3227832"/>
            <a:ext cx="329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09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22960" y="3227832"/>
            <a:ext cx="35478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제안 배경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왜 지금 딥러닝 비전검사인가?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93776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📌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950976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일관성 확보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93776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사람의 판단에 의존하는 검사는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컨디션·환경에 따라 결과가 달라질 수 있습니다.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654296" y="1097280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782312" y="1298448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82312" y="12984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39512" y="1243584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기반 품질관리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782312" y="1737360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데이터가 체계적으로 축적되지 않으면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공정 개선과 클레임 대응이 어렵습니다.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93776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3776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🤖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50976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자동화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3776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 기준으로 동일한 품질의 검사를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수행하며 모든 데이터를 자동 누적합니다.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654296" y="2578608"/>
            <a:ext cx="412394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782312" y="2779776"/>
            <a:ext cx="365760" cy="365760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82312" y="277977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🏭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39512" y="2724912"/>
            <a:ext cx="34107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최적화 솔루션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782312" y="3218688"/>
            <a:ext cx="38679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외관검사 공정에 특화된</a:t>
            </a:r>
            <a:endParaRPr lang="en-US" sz="10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인라인 딥러닝 비전검사 시스템을 제안합니다.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vs 딥러닝 비전 성능 비교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목적에 따른 최적 조명 선택이 딥러닝 정확도를 결정합니다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365760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9050">
            <a:solidFill>
              <a:srgbClr val="94A3B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2651760" cy="420624"/>
          </a:xfrm>
          <a:prstGeom prst="roundRect">
            <a:avLst>
              <a:gd name="adj" fmla="val 15217"/>
            </a:avLst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2651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카메라 (룰 기반)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12064" y="1609344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명확한 불량만 검출 가능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76656" y="182880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스크래치·치수 등 뚜렷한 유형에 한정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512064" y="2121408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조명 변화에 취약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676656" y="234086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환경 변화 시 오검 증가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512064" y="2633472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새 불량 유형 대응 불가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76656" y="285292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엔지니어가 규칙 직접 수정 필요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12064" y="3145536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⚠️ 미세·복합 불량 검출 한계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76656" y="3364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경계 모호한 불량은 누락 위험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512064" y="3657600"/>
            <a:ext cx="23591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초기 구축 난이도 낮음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676656" y="38770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단순 설정으로 빠른 도입 가능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3163824" y="2578608"/>
            <a:ext cx="621792" cy="621792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163824" y="2578608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VS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3931920" y="1078992"/>
            <a:ext cx="484632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254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931920" y="1078992"/>
            <a:ext cx="4846320" cy="420624"/>
          </a:xfrm>
          <a:prstGeom prst="roundRect">
            <a:avLst>
              <a:gd name="adj" fmla="val 1521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931920" y="1078992"/>
            <a:ext cx="4846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비전 + 최적 조명 선택  ★ 제안 방식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078224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169664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미세·복합 불량 고정밀 검출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4169664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패턴 학습으로 모호한 불량도 검출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437376" y="1609344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6528816" y="1645920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검사 목적별 최적 조명 선택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28816" y="1901952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유형에 따라 조명 방식 결정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078224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169664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새 불량 유형 추가 학습 대응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169664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추가만으로 즉시 대응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6437376" y="2267712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528816" y="2304288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조명 환경 변화에 안정적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528816" y="2560320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균일 조명 설계로 오검 최소화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078224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169664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데이터 누적 → 정확도 지속 향상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4169664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운영할수록 검출율이 높아지는 구조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437376" y="2926080"/>
            <a:ext cx="2212848" cy="566928"/>
          </a:xfrm>
          <a:prstGeom prst="roundRect">
            <a:avLst>
              <a:gd name="adj" fmla="val 1129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6528816" y="2962656"/>
            <a:ext cx="2029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바코드·MES 연동 통합 운영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528816" y="3218688"/>
            <a:ext cx="202996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검사~이력관리 전 과정 자동화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931920" y="3602736"/>
            <a:ext cx="4846320" cy="987552"/>
          </a:xfrm>
          <a:prstGeom prst="roundRect">
            <a:avLst>
              <a:gd name="adj" fmla="val 6481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Shape 41"/>
          <p:cNvSpPr/>
          <p:nvPr/>
        </p:nvSpPr>
        <p:spPr>
          <a:xfrm>
            <a:off x="3986784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986784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돔조명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3986784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Edge·형상 검출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반사 억제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5522976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5522976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동축조명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5522976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스크래치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광택 이상 검출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7059168" y="3639312"/>
            <a:ext cx="1426464" cy="877824"/>
          </a:xfrm>
          <a:prstGeom prst="roundRect">
            <a:avLst>
              <a:gd name="adj" fmla="val 5208"/>
            </a:avLst>
          </a:prstGeom>
          <a:solidFill>
            <a:srgbClr val="0F1D40"/>
          </a:solidFill>
          <a:ln w="12700">
            <a:solidFill>
              <a:srgbClr val="2E4D8A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059168" y="3639312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Low Angle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Ring 조명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7059168" y="3913632"/>
            <a:ext cx="14264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표면 미세 흠집</a:t>
            </a:r>
            <a:endParaRPr lang="en-US" sz="75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7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요철·질감 검출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개요 및 검사 프로세스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스캔부터 양불 분리 배출까지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4747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4747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34747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144475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7276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7276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57276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안착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670048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798064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798064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2798064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895344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023360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0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4023360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이송·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촬영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20640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48656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48656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5248656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판정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5936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473952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73952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473952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전송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571232" y="1362456"/>
            <a:ext cx="128016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99248" y="1078992"/>
            <a:ext cx="1097280" cy="566928"/>
          </a:xfrm>
          <a:prstGeom prst="roundRect">
            <a:avLst>
              <a:gd name="adj" fmla="val 9677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699248" y="1115568"/>
            <a:ext cx="10972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8EB4D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7699248" y="1261872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배출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65760" y="1755648"/>
            <a:ext cx="4114800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7200" y="1847088"/>
            <a:ext cx="347472" cy="34747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스캔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14400" y="1828800"/>
            <a:ext cx="343814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이전 공정 작업자가 케이블 바코드를 검사기에 설치된 고정 스캐너로 스캔 후 지그에 투입합니다.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26864" y="1755648"/>
            <a:ext cx="3968496" cy="548640"/>
          </a:xfrm>
          <a:prstGeom prst="roundRect">
            <a:avLst>
              <a:gd name="adj" fmla="val 11667"/>
            </a:avLst>
          </a:prstGeom>
          <a:solidFill>
            <a:srgbClr val="FFFFFF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4718304" y="1847088"/>
            <a:ext cx="347472" cy="347472"/>
          </a:xfrm>
          <a:prstGeom prst="ellipse">
            <a:avLst/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718304" y="18470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인식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5175504" y="1810512"/>
            <a:ext cx="3566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투입을 인식한 검사기가 S/T 기준으로 이송하며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촬영·딥러닝 판정을 수행합니다.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5797296" y="2468880"/>
            <a:ext cx="0" cy="256032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011680" y="2724912"/>
            <a:ext cx="3785616" cy="0"/>
          </a:xfrm>
          <a:prstGeom prst="line">
            <a:avLst/>
          </a:prstGeom>
          <a:noFill/>
          <a:ln w="19050">
            <a:solidFill>
              <a:srgbClr val="05966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7200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D1FAE5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57200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✅ 양품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57200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작업자 옆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065F4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양품 데이터 전송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5797296" y="2724912"/>
            <a:ext cx="1353312" cy="0"/>
          </a:xfrm>
          <a:prstGeom prst="line">
            <a:avLst/>
          </a:prstGeom>
          <a:noFill/>
          <a:ln w="19050">
            <a:solidFill>
              <a:srgbClr val="DC262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150608" y="2633472"/>
            <a:ext cx="1554480" cy="621792"/>
          </a:xfrm>
          <a:prstGeom prst="roundRect">
            <a:avLst>
              <a:gd name="adj" fmla="val 8824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150608" y="2670048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❌ NG품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7150608" y="2907792"/>
            <a:ext cx="1554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구분함 이송</a:t>
            </a:r>
            <a:endParaRPr lang="en-US" sz="80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800" dirty="0">
                <a:solidFill>
                  <a:srgbClr val="991B1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NG 데이터 전송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2834640" y="2633472"/>
            <a:ext cx="3474720" cy="621792"/>
          </a:xfrm>
          <a:prstGeom prst="roundRect">
            <a:avLst>
              <a:gd name="adj" fmla="val 10294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2834640" y="2633472"/>
            <a:ext cx="34747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실시간 연동</a:t>
            </a:r>
            <a:endParaRPr lang="en-US" sz="9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0F766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양품·NG 데이터 자동 전송 및 생산 이력 기록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365760" y="3712464"/>
            <a:ext cx="8412480" cy="475488"/>
          </a:xfrm>
          <a:prstGeom prst="roundRect">
            <a:avLst>
              <a:gd name="adj" fmla="val 13462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548640" y="3712464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투입부터 판정·MES 전송·분리 배출까지  전 과정 무인 자동 운영  |  별도 인력 불필요</a:t>
            </a:r>
            <a:endParaRPr lang="en-US" sz="1050" dirty="0"/>
          </a:p>
        </p:txBody>
      </p:sp>
      <p:sp>
        <p:nvSpPr>
          <p:cNvPr id="54" name="Shape 52"/>
          <p:cNvSpPr/>
          <p:nvPr/>
        </p:nvSpPr>
        <p:spPr>
          <a:xfrm>
            <a:off x="365760" y="4261104"/>
            <a:ext cx="8412480" cy="768096"/>
          </a:xfrm>
          <a:prstGeom prst="roundRect">
            <a:avLst>
              <a:gd name="adj" fmla="val 8333"/>
            </a:avLst>
          </a:prstGeom>
          <a:solidFill>
            <a:srgbClr val="FFF8E7"/>
          </a:solidFill>
          <a:ln w="1905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5" name="Shape 53"/>
          <p:cNvSpPr/>
          <p:nvPr/>
        </p:nvSpPr>
        <p:spPr>
          <a:xfrm>
            <a:off x="365760" y="4261104"/>
            <a:ext cx="54864" cy="768096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493776" y="4370832"/>
            <a:ext cx="384048" cy="38404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3776" y="43708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🤝</a:t>
            </a:r>
            <a:endParaRPr lang="en-US" sz="1400" dirty="0"/>
          </a:p>
        </p:txBody>
      </p:sp>
      <p:sp>
        <p:nvSpPr>
          <p:cNvPr id="58" name="Text 56"/>
          <p:cNvSpPr/>
          <p:nvPr/>
        </p:nvSpPr>
        <p:spPr>
          <a:xfrm>
            <a:off x="969264" y="4297680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데이터 제공 협조 요청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969264" y="4535424"/>
            <a:ext cx="42062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현재 검사원이 현장에서 판별한 양품·불량 결과 데이터를 AI 딥러닝 학습에 활용합니다.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검사 이력(불량 유형, 판정 결과, 이미지)을 제공해 주시면 초기 학습 정확도를 높이고 도입 기간을 단축할 수 있습니다.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6126480" y="4315968"/>
            <a:ext cx="2578608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1" name="Text 59"/>
          <p:cNvSpPr/>
          <p:nvPr/>
        </p:nvSpPr>
        <p:spPr>
          <a:xfrm>
            <a:off x="6199632" y="4352544"/>
            <a:ext cx="2468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2400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📋  요청 자료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6199632" y="4535424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불량 유형별 이미지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현장 판정 이력</a:t>
            </a:r>
            <a:endParaRPr lang="en-US" sz="8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78350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· 양품 기준 샘플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시스템 구성 &amp; MES 데이터 연계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주요 구성 모듈과 생산 시스템 연결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5488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475488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 연계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75488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흐름 라인과 검사기 연계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S/T 기준 이송 속도 결정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871216" y="1078992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871216" y="1078992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980944" y="1133856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2980944" y="1133856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지그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980944" y="1408176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 정위치 정렬·고정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매 검사마다 동일 조건 유지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65760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5488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5488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카메라 &amp; 돔조명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5488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고해상도 카메라 + 돔조명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전면·측면·후면 다각도 촬영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871216" y="1847088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871216" y="1847088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980944" y="1901952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2980944" y="1901952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판정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2980944" y="2176272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GPU 엣지 컴퓨팅 현장 판정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클라우드 불필요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65760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75488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분리 배출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5488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→ 다음 공정 자동 이송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NG → NG 구분함 자동 분리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2871216" y="2615184"/>
            <a:ext cx="2377440" cy="676656"/>
          </a:xfrm>
          <a:prstGeom prst="roundRect">
            <a:avLst>
              <a:gd name="adj" fmla="val 945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2871216" y="2615184"/>
            <a:ext cx="54864" cy="676656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80944" y="2670048"/>
            <a:ext cx="274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2980944" y="2670048"/>
            <a:ext cx="2176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스캐너</a:t>
            </a:r>
            <a:endParaRPr lang="en-US" sz="1050" dirty="0"/>
          </a:p>
        </p:txBody>
      </p:sp>
      <p:sp>
        <p:nvSpPr>
          <p:cNvPr id="35" name="Text 33"/>
          <p:cNvSpPr/>
          <p:nvPr/>
        </p:nvSpPr>
        <p:spPr>
          <a:xfrm>
            <a:off x="2980944" y="2944368"/>
            <a:ext cx="21762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고정식 스캐너로 제품 이력 연동</a:t>
            </a:r>
            <a:endParaRPr lang="en-US" sz="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결과·이미지 자동 저장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31536" y="1078992"/>
            <a:ext cx="3346704" cy="3493008"/>
          </a:xfrm>
          <a:prstGeom prst="roundRect">
            <a:avLst>
              <a:gd name="adj" fmla="val 191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5431536" y="1078992"/>
            <a:ext cx="3346704" cy="384048"/>
          </a:xfrm>
          <a:prstGeom prst="roundRect">
            <a:avLst>
              <a:gd name="adj" fmla="val 16667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431536" y="1078992"/>
            <a:ext cx="33467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데이터 연계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5559552" y="1554480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5650992" y="1591056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수기 입력 제거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650992" y="1792224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결과 MES 자동 전송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5559552" y="2084832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5650992" y="2121408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제품별 이력 추적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5650992" y="2322576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바코드 기반 생산 이력 연동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5559552" y="2615184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5650992" y="2651760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생산·품질 데이터 통합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650992" y="2852928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양불 수량 실시간 집계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5559552" y="3145536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650992" y="3182112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MES 방식 유지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5650992" y="3383280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시스템 변경 불필요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5559552" y="3675888"/>
            <a:ext cx="3090672" cy="457200"/>
          </a:xfrm>
          <a:prstGeom prst="roundRect">
            <a:avLst>
              <a:gd name="adj" fmla="val 14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2" name="Text 50"/>
          <p:cNvSpPr/>
          <p:nvPr/>
        </p:nvSpPr>
        <p:spPr>
          <a:xfrm>
            <a:off x="5650992" y="3712464"/>
            <a:ext cx="2907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현황 대시보드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5650992" y="3913632"/>
            <a:ext cx="2907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실시간 불량 트렌드 파악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핵심 장점 &amp; 도입 효과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인라인 딥러닝 비전검사기가 만드는 변화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42416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42416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43661" y="1207008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43661" y="1207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🎯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11480" y="171907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자동학습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75488" y="201168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1480" y="206654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누적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→ 정확도 지속 향상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2070202" y="1042416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070202" y="1042416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48102" y="1207008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48102" y="1207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⚖️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115922" y="171907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일관된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기준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179930" y="201168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115922" y="206654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컨디션 무관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동일 기준 판정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774643" y="1042416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774643" y="1042416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352544" y="1207008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52544" y="1207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🚫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3820363" y="171907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혼입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원천 차단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884371" y="201168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20363" y="206654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자동 분리 배출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재검사 불필요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5479085" y="1042416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479085" y="1042416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56986" y="1207008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056986" y="1207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📈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5524805" y="171907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데이터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588813" y="201168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524805" y="206654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통계·트렌드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 자동 생성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7183526" y="1042416"/>
            <a:ext cx="1594714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7183526" y="1042416"/>
            <a:ext cx="1594714" cy="118872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761427" y="1207008"/>
            <a:ext cx="438912" cy="438912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61427" y="120700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👤</a:t>
            </a:r>
            <a:endParaRPr lang="en-US" sz="1500" dirty="0"/>
          </a:p>
        </p:txBody>
      </p:sp>
      <p:sp>
        <p:nvSpPr>
          <p:cNvPr id="38" name="Text 36"/>
          <p:cNvSpPr/>
          <p:nvPr/>
        </p:nvSpPr>
        <p:spPr>
          <a:xfrm>
            <a:off x="7229246" y="1719072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별도 인력</a:t>
            </a:r>
            <a:endParaRPr lang="en-US" sz="85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불필요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7293254" y="2011680"/>
            <a:ext cx="1375258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29246" y="2066544"/>
            <a:ext cx="150327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과정 자동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인력 재배치 가능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365760" y="2304288"/>
            <a:ext cx="2743200" cy="2793492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65760" y="2304288"/>
            <a:ext cx="2743200" cy="347472"/>
          </a:xfrm>
          <a:prstGeom prst="roundRect">
            <a:avLst>
              <a:gd name="adj" fmla="val 18421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23042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457200" y="2706624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530352" y="2761488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검출율 지속 향상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(딥러닝 누적 학습)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457200" y="3512820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530352" y="3567684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유형별 자동 분류·통계 제공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457200" y="4319016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30352" y="4373880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후공정 불량 혼입 원천 차단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3200400" y="2304288"/>
            <a:ext cx="2743200" cy="2793492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3200400" y="2304288"/>
            <a:ext cx="2743200" cy="347472"/>
          </a:xfrm>
          <a:prstGeom prst="roundRect">
            <a:avLst>
              <a:gd name="adj" fmla="val 1842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200400" y="23042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3291840" y="2706624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3364992" y="2761488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공정 무인 자동 운영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3291840" y="3512820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6" name="Text 54"/>
          <p:cNvSpPr/>
          <p:nvPr/>
        </p:nvSpPr>
        <p:spPr>
          <a:xfrm>
            <a:off x="3364992" y="3567684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검사 인력 생산 공정 재배치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3291840" y="4319016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8" name="Text 56"/>
          <p:cNvSpPr/>
          <p:nvPr/>
        </p:nvSpPr>
        <p:spPr>
          <a:xfrm>
            <a:off x="3364992" y="4373880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편차 완전 제거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6035040" y="2304288"/>
            <a:ext cx="2743200" cy="2793492"/>
          </a:xfrm>
          <a:prstGeom prst="roundRect">
            <a:avLst>
              <a:gd name="adj" fmla="val 2333"/>
            </a:avLst>
          </a:prstGeom>
          <a:solidFill>
            <a:srgbClr val="FFFFFF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0" name="Shape 58"/>
          <p:cNvSpPr/>
          <p:nvPr/>
        </p:nvSpPr>
        <p:spPr>
          <a:xfrm>
            <a:off x="6035040" y="2304288"/>
            <a:ext cx="2743200" cy="347472"/>
          </a:xfrm>
          <a:prstGeom prst="roundRect">
            <a:avLst>
              <a:gd name="adj" fmla="val 18421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035040" y="2304288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경쟁력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6126480" y="2706624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6199632" y="2761488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납품처 신뢰도 향상</a:t>
            </a:r>
            <a:endParaRPr lang="en-US" sz="950" dirty="0"/>
          </a:p>
        </p:txBody>
      </p:sp>
      <p:sp>
        <p:nvSpPr>
          <p:cNvPr id="64" name="Shape 62"/>
          <p:cNvSpPr/>
          <p:nvPr/>
        </p:nvSpPr>
        <p:spPr>
          <a:xfrm>
            <a:off x="6126480" y="3512820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5" name="Text 63"/>
          <p:cNvSpPr/>
          <p:nvPr/>
        </p:nvSpPr>
        <p:spPr>
          <a:xfrm>
            <a:off x="6199632" y="3567684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클레임 대응 근거</a:t>
            </a:r>
            <a:endParaRPr lang="en-US" sz="9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확보</a:t>
            </a:r>
            <a:endParaRPr lang="en-US" sz="950" dirty="0"/>
          </a:p>
        </p:txBody>
      </p:sp>
      <p:sp>
        <p:nvSpPr>
          <p:cNvPr id="66" name="Shape 64"/>
          <p:cNvSpPr/>
          <p:nvPr/>
        </p:nvSpPr>
        <p:spPr>
          <a:xfrm>
            <a:off x="6126480" y="4319016"/>
            <a:ext cx="2560320" cy="760476"/>
          </a:xfrm>
          <a:prstGeom prst="roundRect">
            <a:avLst>
              <a:gd name="adj" fmla="val 8417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67" name="Text 65"/>
          <p:cNvSpPr/>
          <p:nvPr/>
        </p:nvSpPr>
        <p:spPr>
          <a:xfrm>
            <a:off x="6199632" y="4373880"/>
            <a:ext cx="2414016" cy="6690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5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수주 경쟁력 강화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확장성 — 추가 라인 도입 시 이점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데이터 자산이 확장의 토대가 됩니다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576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파일럿 설치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최적화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10312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194560" y="1078992"/>
            <a:ext cx="1554480" cy="786384"/>
          </a:xfrm>
          <a:prstGeom prst="roundRect">
            <a:avLst>
              <a:gd name="adj" fmla="val 8140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194560" y="1133856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효과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153619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운영 안정화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74904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0480" y="1078992"/>
            <a:ext cx="1828800" cy="786384"/>
          </a:xfrm>
          <a:prstGeom prst="roundRect">
            <a:avLst>
              <a:gd name="adj" fmla="val 8140"/>
            </a:avLst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40480" y="1133856"/>
            <a:ext cx="1828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자산화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840480" y="153619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양품·불량 이미지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확보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6692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760720" y="1078992"/>
            <a:ext cx="173736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760720" y="1133856"/>
            <a:ext cx="1737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도입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760720" y="1536192"/>
            <a:ext cx="17373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학습 데이터 재활용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기간·비용 단축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498080" y="1472184"/>
            <a:ext cx="9144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9520" y="1078992"/>
            <a:ext cx="1920240" cy="786384"/>
          </a:xfrm>
          <a:prstGeom prst="roundRect">
            <a:avLst>
              <a:gd name="adj" fmla="val 814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9520" y="113385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전 라인</a:t>
            </a:r>
            <a:endParaRPr lang="en-US" sz="11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적용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589520" y="1536192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스마트 품질</a:t>
            </a:r>
            <a:endParaRPr lang="en-US" sz="8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관리 체계 완성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365760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1438656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438656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⏱️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457200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기간 단축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학습 데이터를 추가 호기에 즉시 적용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딥러닝 초기 학습 기간 대폭 단축 가능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6496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279392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279392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💰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3297936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비용 효율 향상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297936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사양·설치 노하우 축적으로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도입 시 설계·제작 비용 절감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047232" y="2029968"/>
            <a:ext cx="2731008" cy="146304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7120128" y="2176272"/>
            <a:ext cx="585216" cy="585216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120128" y="2176272"/>
            <a:ext cx="585216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000000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📊</a:t>
            </a:r>
            <a:endParaRPr lang="en-US" sz="2000" dirty="0"/>
          </a:p>
        </p:txBody>
      </p:sp>
      <p:sp>
        <p:nvSpPr>
          <p:cNvPr id="38" name="Text 36"/>
          <p:cNvSpPr/>
          <p:nvPr/>
        </p:nvSpPr>
        <p:spPr>
          <a:xfrm>
            <a:off x="6138672" y="2852928"/>
            <a:ext cx="2548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품질 정확도 가속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6138672" y="3127248"/>
            <a:ext cx="2548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누적 데이터가 많을수록 검출 정확도 향상</a:t>
            </a:r>
            <a:endParaRPr lang="en-US" sz="900" dirty="0"/>
          </a:p>
          <a:p>
            <a:pPr algn="ctr" indent="0" marL="0">
              <a:lnSpc>
                <a:spcPct val="125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추가 호기 도입 즉시 높은 검출율 확보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3657600"/>
            <a:ext cx="8412480" cy="804672"/>
          </a:xfrm>
          <a:prstGeom prst="roundRect">
            <a:avLst>
              <a:gd name="adj" fmla="val 7955"/>
            </a:avLst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548640" y="3657600"/>
            <a:ext cx="804672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1호기 도입 후 효과 확인  →  학습 데이터 자산 활용  →  추가 라인 도입 시 개발·학습 기간 단축 및 비용 절감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진행 절차 &amp; 개발 일정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입수부터 현장 가동까지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97557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7557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02336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입수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5048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5779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909790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09790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6145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리포트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7170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902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22023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122023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268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9293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024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334256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34256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0390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확정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141541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4693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546489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46489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251269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제작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353774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26926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1B2F5E"/>
          </a:solidFill>
          <a:ln w="19050">
            <a:solidFill>
              <a:srgbClr val="1B2F5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758722" y="1152144"/>
            <a:ext cx="475488" cy="475488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58722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06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463502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테스트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566007" y="1563624"/>
            <a:ext cx="73152" cy="0"/>
          </a:xfrm>
          <a:prstGeom prst="line">
            <a:avLst/>
          </a:prstGeom>
          <a:noFill/>
          <a:ln w="15240">
            <a:solidFill>
              <a:srgbClr val="94A3B8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639159" y="1060704"/>
            <a:ext cx="1139081" cy="1005840"/>
          </a:xfrm>
          <a:prstGeom prst="roundRect">
            <a:avLst>
              <a:gd name="adj" fmla="val 6364"/>
            </a:avLst>
          </a:prstGeom>
          <a:solidFill>
            <a:srgbClr val="FFFFFF"/>
          </a:solidFill>
          <a:ln w="1905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7970955" y="1152144"/>
            <a:ext cx="475488" cy="475488"/>
          </a:xfrm>
          <a:prstGeom prst="ellipse">
            <a:avLst/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70955" y="1152144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07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675735" y="1700784"/>
            <a:ext cx="106592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성능</a:t>
            </a:r>
            <a:endParaRPr lang="en-US" sz="9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9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65760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365760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제공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15779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15779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분류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 이내</a:t>
            </a:r>
            <a:endParaRPr lang="en-US" sz="750" dirty="0"/>
          </a:p>
        </p:txBody>
      </p:sp>
      <p:sp>
        <p:nvSpPr>
          <p:cNvPr id="44" name="Shape 42"/>
          <p:cNvSpPr/>
          <p:nvPr/>
        </p:nvSpPr>
        <p:spPr>
          <a:xfrm>
            <a:off x="27902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27902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구조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환경 확인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40024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Text 45"/>
          <p:cNvSpPr/>
          <p:nvPr/>
        </p:nvSpPr>
        <p:spPr>
          <a:xfrm>
            <a:off x="40024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 조건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방식 협의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5214693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9" name="Text 47"/>
          <p:cNvSpPr/>
          <p:nvPr/>
        </p:nvSpPr>
        <p:spPr>
          <a:xfrm>
            <a:off x="5214693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6426926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6426926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MES 연계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7639159" y="2139696"/>
            <a:ext cx="1139081" cy="457200"/>
          </a:xfrm>
          <a:prstGeom prst="roundRect">
            <a:avLst>
              <a:gd name="adj" fmla="val 14000"/>
            </a:avLst>
          </a:prstGeom>
          <a:solidFill>
            <a:srgbClr val="F1F5F9"/>
          </a:solidFill>
          <a:ln w="12700">
            <a:solidFill>
              <a:srgbClr val="F1F5F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7639159" y="2139696"/>
            <a:ext cx="1139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검출율 확인</a:t>
            </a:r>
            <a:endParaRPr lang="en-US" sz="7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생산팀 인수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365760" y="3255264"/>
            <a:ext cx="1280160" cy="566928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5760" y="329184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&amp; 리포트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365760" y="356616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1~2주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1645920" y="3255264"/>
            <a:ext cx="822960" cy="566928"/>
          </a:xfrm>
          <a:prstGeom prst="rect">
            <a:avLst/>
          </a:prstGeom>
          <a:solidFill>
            <a:srgbClr val="5B8DEF"/>
          </a:solidFill>
          <a:ln w="12700">
            <a:solidFill>
              <a:srgbClr val="5B8DE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45920" y="329184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실사·사양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1645920" y="356616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1주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2468880" y="3255264"/>
            <a:ext cx="2926080" cy="566928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468880" y="329184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개발·제작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2468880" y="3566160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40일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5394960" y="3255264"/>
            <a:ext cx="14630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394960" y="329184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설치·테스트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5394960" y="3566160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약 2주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858000" y="3255264"/>
            <a:ext cx="1005840" cy="566928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858000" y="3291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검증·인수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6858000" y="3566160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DBEAF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~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365760" y="3931920"/>
            <a:ext cx="8412480" cy="603504"/>
          </a:xfrm>
          <a:prstGeom prst="roundRect">
            <a:avLst>
              <a:gd name="adj" fmla="val 10606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0" name="Text 68"/>
          <p:cNvSpPr/>
          <p:nvPr/>
        </p:nvSpPr>
        <p:spPr>
          <a:xfrm>
            <a:off x="548640" y="3931920"/>
            <a:ext cx="80467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사양 확정 후 개발 착수부터 현장 가동까지  →  약 2개월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8FAFC"/>
          </a:solidFill>
          <a:ln w="12700">
            <a:solidFill>
              <a:srgbClr val="F8FA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37744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예상 문제점 및 협의 사항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713232"/>
            <a:ext cx="8412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적용 전 사전 검토가 필요한 항목입니다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2563EB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10789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0789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01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914400" y="11521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BEAFE"/>
          </a:solidFill>
          <a:ln w="635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14400" y="11521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기구·지그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914400" y="13533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PCB 연결 케이블 형태 균일화 및 바코드 위치 표준화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15727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케이블이 PCB와 연결된 상태에서 형태가 일정하지 않으면 지그 안착 불량 및 촬영 위치 오차가 발생할 수 있습니다. 또한 바코드 부착 위치가 개체마다 다를 경우 고정식 스캐너 인식률이 저하됩니다.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5943600" y="11338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BEAFE"/>
          </a:solidFill>
          <a:ln w="12700">
            <a:solidFill>
              <a:srgbClr val="DBEA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035040" y="11704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2563E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6035040" y="13533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케이블 정형화 가능 여부 및 바코드 부착 위치 표준화 협의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65760" y="18790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18790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8790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914400" y="19522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EDE9FE"/>
          </a:solidFill>
          <a:ln w="6350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19522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운용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914400" y="21534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흐름 라인에서 안착 지그 회수 방법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914400" y="23728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컨베어 타입 흐름 라인에 지그를 투입할 경우 검사 완료 후 지그를 투입 위치로 회수하는 방법이 필요합니다. 지그 미회수 시 라인 정체 및 추가 지그 소요 비용이 발생합니다.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5943600" y="19339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EDE9FE"/>
          </a:solidFill>
          <a:ln w="12700">
            <a:solidFill>
              <a:srgbClr val="EDE9FE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6035040" y="19705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7C3AED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035040" y="21534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지그 회수 방식(수동 회수 / 자동 리턴 구조) 및 지그 수량 협의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26791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65760" y="26791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65760" y="26791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914400" y="27523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CCFBF1"/>
          </a:solidFill>
          <a:ln w="6350">
            <a:solidFill>
              <a:srgbClr val="0D9488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14400" y="27523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처리량</a:t>
            </a:r>
            <a:endParaRPr lang="en-US" sz="650" dirty="0"/>
          </a:p>
        </p:txBody>
      </p:sp>
      <p:sp>
        <p:nvSpPr>
          <p:cNvPr id="31" name="Text 29"/>
          <p:cNvSpPr/>
          <p:nvPr/>
        </p:nvSpPr>
        <p:spPr>
          <a:xfrm>
            <a:off x="914400" y="29535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검사품 동시 안착 가능 여부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14400" y="31729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02항의 지그 회수 방식에 따라 복수의 검사품을 동시에 지그에 올려두는 멀티 안착 구조가 가능한지 검토가 필요합니다. 동시 처리 수량에 따라 검사기 설계 규모와 S/T가 결정됩니다.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5943600" y="27340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CCFBF1"/>
          </a:solidFill>
          <a:ln w="12700">
            <a:solidFill>
              <a:srgbClr val="CCFBF1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035040" y="27706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D9488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6035040" y="29535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라인 생산 속도 및 동시 처리 목표 수량 공유 요청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65760" y="34792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365760" y="34792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65760" y="34792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04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914400" y="35524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FEF3C7"/>
          </a:solidFill>
          <a:ln w="6350">
            <a:solidFill>
              <a:srgbClr val="D9770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35524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장비 설계</a:t>
            </a:r>
            <a:endParaRPr lang="en-US" sz="650" dirty="0"/>
          </a:p>
        </p:txBody>
      </p:sp>
      <p:sp>
        <p:nvSpPr>
          <p:cNvPr id="41" name="Text 39"/>
          <p:cNvSpPr/>
          <p:nvPr/>
        </p:nvSpPr>
        <p:spPr>
          <a:xfrm>
            <a:off x="914400" y="37536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03항 가능 시 — 검사기 내부 지그 리턴 구조 추가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914400" y="39730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다수 동시 안착이 가능하다면 검사기 내부에 지그 자동 리턴 구조를 설계에 포함합니다. 이 경우 장비 규모와 제작 기간·비용이 증가하므로 효용성을 함께 검토해야 합니다.</a:t>
            </a:r>
            <a:endParaRPr lang="en-US" sz="750" dirty="0"/>
          </a:p>
        </p:txBody>
      </p:sp>
      <p:sp>
        <p:nvSpPr>
          <p:cNvPr id="43" name="Shape 41"/>
          <p:cNvSpPr/>
          <p:nvPr/>
        </p:nvSpPr>
        <p:spPr>
          <a:xfrm>
            <a:off x="5943600" y="35341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035040" y="35707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D97706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45" name="Text 43"/>
          <p:cNvSpPr/>
          <p:nvPr/>
        </p:nvSpPr>
        <p:spPr>
          <a:xfrm>
            <a:off x="6035040" y="37536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리턴 구조 포함 여부 및 설치 공간·예산 범위 사전 협의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365760" y="4279392"/>
            <a:ext cx="8412480" cy="749808"/>
          </a:xfrm>
          <a:prstGeom prst="roundRect">
            <a:avLst>
              <a:gd name="adj" fmla="val 8537"/>
            </a:avLst>
          </a:prstGeom>
          <a:solidFill>
            <a:srgbClr val="FFFFFF"/>
          </a:solidFill>
          <a:ln w="12700">
            <a:solidFill>
              <a:srgbClr val="059669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47" name="Shape 45"/>
          <p:cNvSpPr/>
          <p:nvPr/>
        </p:nvSpPr>
        <p:spPr>
          <a:xfrm>
            <a:off x="365760" y="4279392"/>
            <a:ext cx="475488" cy="749808"/>
          </a:xfrm>
          <a:prstGeom prst="roundRect">
            <a:avLst>
              <a:gd name="adj" fmla="val 11538"/>
            </a:avLst>
          </a:prstGeom>
          <a:solidFill>
            <a:srgbClr val="059669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5760" y="4279392"/>
            <a:ext cx="4754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05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914400" y="4352544"/>
            <a:ext cx="658368" cy="182880"/>
          </a:xfrm>
          <a:prstGeom prst="roundRect">
            <a:avLst>
              <a:gd name="adj" fmla="val 20000"/>
            </a:avLst>
          </a:prstGeom>
          <a:solidFill>
            <a:srgbClr val="D1FAE5"/>
          </a:solidFill>
          <a:ln w="6350">
            <a:solidFill>
              <a:srgbClr val="05966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435254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데이터 협조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914400" y="4553712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B2F5E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육안검사 경험 데이터의 딥러닝 학습 적용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914400" y="477316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750" dirty="0">
                <a:solidFill>
                  <a:srgbClr val="4755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비전검사기 도입 이전 검사원들이 육안으로 판별하며 축적한 불량 사례·판정 기준 데이터를 딥러닝 초기 학습에 활용하면 검출 정확도를 빠르게 높일 수 있습니다. 학습 데이터가 많을수록 도입 초기 성능이 향상됩니다.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5943600" y="4334256"/>
            <a:ext cx="2834640" cy="640080"/>
          </a:xfrm>
          <a:prstGeom prst="roundRect">
            <a:avLst>
              <a:gd name="adj" fmla="val 10000"/>
            </a:avLst>
          </a:prstGeom>
          <a:solidFill>
            <a:srgbClr val="D1FAE5"/>
          </a:solidFill>
          <a:ln w="12700">
            <a:solidFill>
              <a:srgbClr val="D1FAE5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54" name="Text 52"/>
          <p:cNvSpPr/>
          <p:nvPr/>
        </p:nvSpPr>
        <p:spPr>
          <a:xfrm>
            <a:off x="6035040" y="4370832"/>
            <a:ext cx="27066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59669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💬 협의 요청</a:t>
            </a:r>
            <a:endParaRPr lang="en-US" sz="750" dirty="0"/>
          </a:p>
        </p:txBody>
      </p:sp>
      <p:sp>
        <p:nvSpPr>
          <p:cNvPr id="55" name="Text 53"/>
          <p:cNvSpPr/>
          <p:nvPr/>
        </p:nvSpPr>
        <p:spPr>
          <a:xfrm>
            <a:off x="6035040" y="4553712"/>
            <a:ext cx="270662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00" dirty="0">
                <a:solidFill>
                  <a:srgbClr val="1E293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기존 불량 이미지·판정 이력 데이터 제공 여부 및 범위 협의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5E"/>
          </a:solidFill>
          <a:ln w="12700">
            <a:solidFill>
              <a:srgbClr val="1B2F5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310128"/>
            <a:ext cx="9144000" cy="1833372"/>
          </a:xfrm>
          <a:prstGeom prst="rect">
            <a:avLst/>
          </a:prstGeom>
          <a:solidFill>
            <a:srgbClr val="0F1D40"/>
          </a:solidFill>
          <a:ln w="12700">
            <a:solidFill>
              <a:srgbClr val="0F1D4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256032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다음 단계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365760" y="69494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지금 바로 시작할 수 있습니다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12064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12064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불량·양품 샘플 제공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12064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실제 불량 이력 샘플과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양품 샘플을 R&amp;D센터로 제공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218688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364992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64992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검토 리포트 수령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364992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샘플 분석 후 1~2주 이내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불량 유형 검토 리포트 제출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071616" y="1078992"/>
            <a:ext cx="2651760" cy="2066544"/>
          </a:xfrm>
          <a:prstGeom prst="roundRect">
            <a:avLst>
              <a:gd name="adj" fmla="val 3097"/>
            </a:avLst>
          </a:prstGeom>
          <a:solidFill>
            <a:srgbClr val="1B2F5E"/>
          </a:solidFill>
          <a:ln w="12700">
            <a:solidFill>
              <a:srgbClr val="2E4D8A"/>
            </a:solidFill>
            <a:prstDash val="solid"/>
          </a:ln>
          <a:effectLst>
            <a:outerShdw sx="100000" sy="100000" kx="0" ky="0" algn="bl" rotWithShape="0" blurRad="50800" dist="25400" dir="16200000">
              <a:srgbClr val="9CA3AF">
                <a:alpha val="1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217920" y="1188720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STEP 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17920" y="1463040"/>
            <a:ext cx="23591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실사 &amp; 사양 확정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17920" y="1828800"/>
            <a:ext cx="23591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현장 방문 후 맞춤 사양 확정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A5C4F3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개발 착수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65760" y="3383280"/>
            <a:ext cx="8412480" cy="0"/>
          </a:xfrm>
          <a:prstGeom prst="line">
            <a:avLst/>
          </a:prstGeom>
          <a:noFill/>
          <a:ln w="12700">
            <a:solidFill>
              <a:srgbClr val="4B6A9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511296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FA8D4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인시스 AI혁신 R&amp;D센터  |  담당: 센터장 김양섭  |  ys.kim@in-sys.co.kr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3877056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Noto Sans KR" pitchFamily="34" charset="0"/>
                <a:ea typeface="Noto Sans KR" pitchFamily="34" charset="-122"/>
                <a:cs typeface="Noto Sans KR" pitchFamily="34" charset="-120"/>
              </a:rPr>
              <a:t>위너콤 생산팀의 품질 경쟁력을 인시스가 함께 높이겠습니다.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2026-07-17T07:20:53Z</dcterms:created>
  <dcterms:modified xsi:type="dcterms:W3CDTF">2026-07-17T07:20:53Z</dcterms:modified>
</cp:coreProperties>
</file>