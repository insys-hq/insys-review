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53312"/>
            <a:ext cx="54864" cy="1499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307592"/>
            <a:ext cx="6858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 제안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290779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제로화를 위한 스마트 인라인 자동화 솔루션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30352" y="3291840"/>
            <a:ext cx="548640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43814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제안사: 인시스 AI혁신 R&amp;D센터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36941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수신: 위너콤 생산팀  |  2026년 7월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비교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EL+DL vs PC 딥러닝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7316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7316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7316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548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딥러닝 비전검사인가?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일관성 확보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사람의 판단에 의존하는 검사는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컨디션·환경에 따라 결과가 달라질 수 있습니다.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82312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39512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품질관리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데이터가 체계적으로 축적되지 않으면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개선과 클레임 대응이 어렵습니다.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자동화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기준으로 동일한 품질의 검사를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수행하며 모든 데이터를 자동 누적합니다.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4296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🏭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9512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최적화 솔루션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외관검사 공정에 특화된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시스템을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성능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목적에 따른 최적 조명 선택이 딥러닝 정확도를 결정합니다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(룰 기반)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160934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명확한 불량만 검출 가능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스크래치·치수 등 뚜렷한 유형에 한정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2064" y="212140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조명 변화에 취약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6656" y="2340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변화 시 오검 증가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2064" y="26334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새 불량 유형 대응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2852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엔지니어가 규칙 직접 수정 필요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064" y="314553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미세·복합 불량 검출 한계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6656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모호한 불량은 누락 위험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12064" y="36576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초기 구축 난이도 낮음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" y="3877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설정으로 빠른 도입 가능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63824" y="25786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3824" y="2578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931920" y="1078992"/>
            <a:ext cx="48463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07899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비전 + 최적 조명 선택  ★ 제안 방식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9664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미세·복합 불량 고정밀 검출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69664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학습으로 모호한 불량도 검출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37376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28816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검사 목적별 최적 조명 선택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28816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유형에 따라 조명 방식 결정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78224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9664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새 불량 유형 추가 학습 대응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추가만으로 즉시 대응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37376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28816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조명 환경 변화에 안정적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28816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균일 조명 설계로 오검 최소화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78224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69664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데이터 누적 → 정확도 지속 향상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69664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운영할수록 검출율이 높아지는 구조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37376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28816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바코드·MES 연동 통합 운영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28816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검사~이력관리 전 과정 자동화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3602736"/>
            <a:ext cx="4846320" cy="987552"/>
          </a:xfrm>
          <a:prstGeom prst="roundRect">
            <a:avLst>
              <a:gd name="adj" fmla="val 6481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986784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86784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돔조명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986784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Edge·형상 검출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반사 억제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522976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22976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동축조명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522976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스크래치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광택 이상 검출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059168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59168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Angle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Ring 조명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059168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미세 흠집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요철·질감 검출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EL+DL vs PC 기반 딥러닝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개발자 관점 — 검사 복잡도에 따른 최적 구성 선택 가이드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493776"/>
          </a:xfrm>
          <a:prstGeom prst="roundRect">
            <a:avLst>
              <a:gd name="adj" fmla="val 12963"/>
            </a:avLst>
          </a:prstGeom>
          <a:solidFill>
            <a:srgbClr val="1B3A6B"/>
          </a:solidFill>
          <a:ln w="12700">
            <a:solidFill>
              <a:srgbClr val="2E5EA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78992"/>
            <a:ext cx="8046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💡  현재 사용 중인 스마트 카메라도 옵션에 따라 딥러닝(EL+DL)을 지원합니다. 검사 복잡도와 속도 요건에 따라 최적 구성이 달라집니다.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1682496"/>
            <a:ext cx="4114800" cy="3346704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64748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682496"/>
            <a:ext cx="4114800" cy="402336"/>
          </a:xfrm>
          <a:prstGeom prst="roundRect">
            <a:avLst>
              <a:gd name="adj" fmla="val 15909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682496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 EL + DL 옵션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93776" y="2176272"/>
            <a:ext cx="3858768" cy="566928"/>
          </a:xfrm>
          <a:prstGeom prst="roundRect">
            <a:avLst>
              <a:gd name="adj" fmla="val 1129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85216" y="2203704"/>
            <a:ext cx="3675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간단한 외관검사에 효율적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85216" y="2404872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PC 없이 카메라 단독으로 딥러닝 검사 구성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설치·운영이 간편하고 비용 부담이 낮음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93776" y="2834640"/>
            <a:ext cx="3858768" cy="566928"/>
          </a:xfrm>
          <a:prstGeom prst="roundRect">
            <a:avLst>
              <a:gd name="adj" fmla="val 1129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85216" y="2862072"/>
            <a:ext cx="3675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내부 CPU 처리 — 학습량 제한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85216" y="3063240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내장 CPU를 사용하므로 대용량 학습 데이터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적용이 어려워 디테일한 불량 유형 학습에 한계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93776" y="3493008"/>
            <a:ext cx="3858768" cy="566928"/>
          </a:xfrm>
          <a:prstGeom prst="roundRect">
            <a:avLst>
              <a:gd name="adj" fmla="val 1129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85216" y="3520440"/>
            <a:ext cx="3675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복잡한 불량 검출 어려움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5216" y="3721608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부족으로 미세·복합 불량 등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경계가 모호한 유형은 검출 정확도가 떨어짐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93776" y="4151376"/>
            <a:ext cx="3858768" cy="566928"/>
          </a:xfrm>
          <a:prstGeom prst="roundRect">
            <a:avLst>
              <a:gd name="adj" fmla="val 1129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5216" y="4178808"/>
            <a:ext cx="3675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단순 검사 사이클 속도 유리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5216" y="4379976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추론 연산이 가볍고 처리 지연이 적어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고속 라인의 단순 항목 검사에 적합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352544" y="2834640"/>
            <a:ext cx="530352" cy="5303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52544" y="28346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0" y="1682496"/>
            <a:ext cx="3749040" cy="3346704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029200" y="1682496"/>
            <a:ext cx="3749040" cy="402336"/>
          </a:xfrm>
          <a:prstGeom prst="roundRect">
            <a:avLst>
              <a:gd name="adj" fmla="val 15909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0" y="1682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 기반 딥러닝  ★ 제안 방식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157216" y="2176272"/>
            <a:ext cx="349300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248656" y="22037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대용량 학습 데이터 적용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248656" y="240487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PC로 수천~수만 장 이미지 학습 가능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미세·복합·모호한 불량 유형까지 정밀 검출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157216" y="2834640"/>
            <a:ext cx="3493008" cy="566928"/>
          </a:xfrm>
          <a:prstGeom prst="roundRect">
            <a:avLst>
              <a:gd name="adj" fmla="val 11290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5248656" y="2862072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디테일한 검사 구현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248656" y="3063240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불량 유형을 고정밀로 학습·판별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안테나 외관검사 요건에 최적 대응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157216" y="3493008"/>
            <a:ext cx="349300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5248656" y="3520440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상세 검사 시 추론 시간 증가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248656" y="3721608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복잡도가 높을수록 추론 시간이 길어짐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정밀도와 라인 속도의 균형 설계 필요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157216" y="4151376"/>
            <a:ext cx="3493008" cy="566928"/>
          </a:xfrm>
          <a:prstGeom prst="roundRect">
            <a:avLst>
              <a:gd name="adj" fmla="val 11290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248656" y="4178808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확장성·유지보수 우수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248656" y="4379976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업데이트·추가 학습이 자유롭고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MES·바코드 등 외부 시스템 연동 용이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65760" y="4736592"/>
            <a:ext cx="8412480" cy="292608"/>
          </a:xfrm>
          <a:prstGeom prst="roundRect">
            <a:avLst>
              <a:gd name="adj" fmla="val 2187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473659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외관 항목은 스마트 카메라 EL+DL로 충분 — 미세·복합 불량 정밀 검사는 PC 기반 딥러닝이 적합 — 검사 항목·속도·정밀도의 균형을 현장 확인 후 결정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스캔부터 양불 분리 배출까지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4747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7276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안착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70048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798064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95344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023360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이송·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48656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8656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248656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5936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7395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7123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924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9924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1755648"/>
            <a:ext cx="41148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" y="1828800"/>
            <a:ext cx="34381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이전 공정 작업자가 케이블 바코드를 검사기에 설치된 고정 스캐너로 스캔 후 지그에 투입합니다.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26864" y="1755648"/>
            <a:ext cx="396849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18304" y="1847088"/>
            <a:ext cx="347472" cy="34747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75504" y="18288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투입을 인식한 검사기가 S/T 기준으로 이송하며 자동 촬영·딥러닝 판정을 수행합니다.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97296" y="2468880"/>
            <a:ext cx="0" cy="256032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11680" y="2724912"/>
            <a:ext cx="3785616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양품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작업자 옆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양품 데이터 전송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797296" y="2724912"/>
            <a:ext cx="1353312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0608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❌ NG품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150608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구분함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NG 데이터 전송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834640" y="2633472"/>
            <a:ext cx="3474720" cy="621792"/>
          </a:xfrm>
          <a:prstGeom prst="roundRect">
            <a:avLst>
              <a:gd name="adj" fmla="val 10294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834640" y="26334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실시간 연동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양품·NG 데이터 자동 전송 및 생산 이력 기록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65760" y="3712464"/>
            <a:ext cx="8412480" cy="658368"/>
          </a:xfrm>
          <a:prstGeom prst="roundRect">
            <a:avLst>
              <a:gd name="adj" fmla="val 9722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48640" y="3712464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투입부터 판정·MES 전송·분리 배출까지  전 과정 무인 자동 운영  |  별도 인력 불필요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모듈과 생산 시스템 연결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578608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75488" y="11338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 연계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140817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흐름 라인과 검사기 연계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S/T 기준 이송 속도 결정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90672" y="1078992"/>
            <a:ext cx="2578608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090672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200400" y="11338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지그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200400" y="140817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 정위치 정렬·고정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 검사마다 동일 조건 유지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2578608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" y="1901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&amp; 돔조명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762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카메라 + 돔조명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전면·측면·후면 다각도 촬영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090672" y="1847088"/>
            <a:ext cx="2578608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090672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0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00400" y="1901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판정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200400" y="21762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엣지 컴퓨팅 현장 판정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불필요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2578608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5488" y="26700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분리 배출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29443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→ 다음 공정 자동 이송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→ NG 구분함 자동 분리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090672" y="2615184"/>
            <a:ext cx="2578608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090672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0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200400" y="26700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스캐너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200400" y="29443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스캐너로 제품 이력 연동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결과·이미지 자동 저장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32704" y="1078992"/>
            <a:ext cx="3145536" cy="3493008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632704" y="1078992"/>
            <a:ext cx="3145536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32704" y="107899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데이터 연계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760720" y="1554480"/>
            <a:ext cx="2889504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852160" y="1591056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수기 입력 제거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852160" y="1792224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 MES 자동 전송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760720" y="2084832"/>
            <a:ext cx="2889504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852160" y="2121408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제품별 이력 추적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852160" y="232257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기반 생산 이력 연동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760720" y="2615184"/>
            <a:ext cx="2889504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852160" y="2651760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생산·품질 데이터 통합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52160" y="2852928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수량 실시간 집계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760720" y="3145536"/>
            <a:ext cx="2889504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852160" y="3182112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MES 방식 유지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852160" y="3383280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시스템 변경 불필요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760720" y="3675888"/>
            <a:ext cx="2889504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852160" y="3712464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현황 대시보드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852160" y="39136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불량 트렌드 파악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인라인 딥러닝 비전검사기가 만드는 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594714" cy="1261872"/>
          </a:xfrm>
          <a:prstGeom prst="roundRect">
            <a:avLst>
              <a:gd name="adj" fmla="val 507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1594714" cy="14630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5373" y="124358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5373" y="12435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11480" y="1755648"/>
            <a:ext cx="1503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자동학습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" y="208483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130552"/>
            <a:ext cx="1503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누적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정확도 지속 향상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070202" y="1078992"/>
            <a:ext cx="1594714" cy="1261872"/>
          </a:xfrm>
          <a:prstGeom prst="roundRect">
            <a:avLst>
              <a:gd name="adj" fmla="val 507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70202" y="1078992"/>
            <a:ext cx="1594714" cy="14630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29814" y="124358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29814" y="12435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⚖️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115922" y="1755648"/>
            <a:ext cx="1503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기준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179930" y="208483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2130552"/>
            <a:ext cx="1503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 무관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기준 판정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74643" y="1078992"/>
            <a:ext cx="1594714" cy="1261872"/>
          </a:xfrm>
          <a:prstGeom prst="roundRect">
            <a:avLst>
              <a:gd name="adj" fmla="val 507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4643" y="1078992"/>
            <a:ext cx="1594714" cy="14630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34256" y="124358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2435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🚫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820363" y="1755648"/>
            <a:ext cx="1503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혼입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차단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884371" y="208483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0363" y="2130552"/>
            <a:ext cx="1503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분리 배출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재검사 불필요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479085" y="1078992"/>
            <a:ext cx="1594714" cy="1261872"/>
          </a:xfrm>
          <a:prstGeom prst="roundRect">
            <a:avLst>
              <a:gd name="adj" fmla="val 507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79085" y="1078992"/>
            <a:ext cx="1594714" cy="14630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38698" y="124358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38698" y="12435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📈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524805" y="1755648"/>
            <a:ext cx="1503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데이터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588813" y="208483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24805" y="2130552"/>
            <a:ext cx="1503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통계·트렌드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자동 생성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183526" y="1078992"/>
            <a:ext cx="1594714" cy="1261872"/>
          </a:xfrm>
          <a:prstGeom prst="roundRect">
            <a:avLst>
              <a:gd name="adj" fmla="val 507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83526" y="1078992"/>
            <a:ext cx="1594714" cy="14630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43139" y="124358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43139" y="12435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👤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229246" y="1755648"/>
            <a:ext cx="1503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인력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293254" y="208483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9246" y="2130552"/>
            <a:ext cx="1503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과정 자동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재배치 가능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2432304"/>
            <a:ext cx="2743200" cy="2176272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2432304"/>
            <a:ext cx="2743200" cy="329184"/>
          </a:xfrm>
          <a:prstGeom prst="roundRect">
            <a:avLst>
              <a:gd name="adj" fmla="val 19444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4323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2834640"/>
            <a:ext cx="2560320" cy="493776"/>
          </a:xfrm>
          <a:prstGeom prst="roundRect">
            <a:avLst>
              <a:gd name="adj" fmla="val 1296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2880360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검출율 지속 향상 (딥러닝 누적 학습)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57200" y="3401568"/>
            <a:ext cx="2560320" cy="493776"/>
          </a:xfrm>
          <a:prstGeom prst="roundRect">
            <a:avLst>
              <a:gd name="adj" fmla="val 1296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30352" y="3447288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유형별 자동 분류·통계 제공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3968496"/>
            <a:ext cx="2560320" cy="493776"/>
          </a:xfrm>
          <a:prstGeom prst="roundRect">
            <a:avLst>
              <a:gd name="adj" fmla="val 1296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30352" y="4014216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후공정 불량 혼입 원천 차단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00400" y="2432304"/>
            <a:ext cx="2743200" cy="2176272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00400" y="2432304"/>
            <a:ext cx="2743200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4323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291840" y="2834640"/>
            <a:ext cx="2560320" cy="493776"/>
          </a:xfrm>
          <a:prstGeom prst="roundRect">
            <a:avLst>
              <a:gd name="adj" fmla="val 1296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64992" y="2880360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공정 무인 자동 운영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291840" y="3401568"/>
            <a:ext cx="2560320" cy="493776"/>
          </a:xfrm>
          <a:prstGeom prst="roundRect">
            <a:avLst>
              <a:gd name="adj" fmla="val 1296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364992" y="3447288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인력 생산 공정 재배치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291840" y="3968496"/>
            <a:ext cx="2560320" cy="493776"/>
          </a:xfrm>
          <a:prstGeom prst="roundRect">
            <a:avLst>
              <a:gd name="adj" fmla="val 1296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64992" y="4014216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편차 완전 제거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035040" y="2432304"/>
            <a:ext cx="2743200" cy="2176272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035040" y="2432304"/>
            <a:ext cx="2743200" cy="329184"/>
          </a:xfrm>
          <a:prstGeom prst="roundRect">
            <a:avLst>
              <a:gd name="adj" fmla="val 19444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24323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6126480" y="2834640"/>
            <a:ext cx="2560320" cy="493776"/>
          </a:xfrm>
          <a:prstGeom prst="roundRect">
            <a:avLst>
              <a:gd name="adj" fmla="val 12963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2880360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납품처 신뢰도 향상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126480" y="3401568"/>
            <a:ext cx="2560320" cy="493776"/>
          </a:xfrm>
          <a:prstGeom prst="roundRect">
            <a:avLst>
              <a:gd name="adj" fmla="val 12963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199632" y="3447288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클레임 대응 근거 데이터 확보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126480" y="3968496"/>
            <a:ext cx="2560320" cy="493776"/>
          </a:xfrm>
          <a:prstGeom prst="roundRect">
            <a:avLst>
              <a:gd name="adj" fmla="val 12963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199632" y="4014216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수주 경쟁력 강화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데이터 자산이 확장의 토대가 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파일럿 설치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최적화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078992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133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1536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안정화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107899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13385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1536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양품·불량 이미지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확보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재활용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기간·비용 단축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4980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1078992"/>
            <a:ext cx="192024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133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15361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품질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체계 완성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38656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38656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⏱️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기간 단축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학습 데이터를 추가 호기에 즉시 적용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초기 학습 기간 대폭 단축 가능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6496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297936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효율 향상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7936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사양·설치 노하우 축적으로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도입 시 설계·제작 비용 절감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47232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20128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20128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38672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정확도 가속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8672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데이터가 많을수록 검출 정확도 향상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호기 도입 즉시 높은 검출율 확보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0"/>
            <a:ext cx="8412480" cy="804672"/>
          </a:xfrm>
          <a:prstGeom prst="roundRect">
            <a:avLst>
              <a:gd name="adj" fmla="val 795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365760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효과 확인  →  학습 데이터 자산 활용  →  추가 라인 도입 시 개발·학습 기간 단축 및 비용 절감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입수부터 현장 가동까지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7557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7557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2336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입수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5048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79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09790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09790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145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170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902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22023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22023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268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293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024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34256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390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확정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415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46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546489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46489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512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3537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269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58722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58722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635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5660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6391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970955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70955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6757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제공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5779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779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분류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 이내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27902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7902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구조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환경 확인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0024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0024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 조건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방식 협의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2146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2146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4269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4269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연계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6391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6391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생산팀 인수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65760" y="3255264"/>
            <a:ext cx="128016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3291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&amp; 리포트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65760" y="356616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645920" y="3255264"/>
            <a:ext cx="822960" cy="5669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45920" y="32918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실사·사양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1645920" y="356616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468880" y="3255264"/>
            <a:ext cx="2926080" cy="56692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468880" y="3291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개발·제작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468880" y="35661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394960" y="3255264"/>
            <a:ext cx="14630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94960" y="3291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설치·테스트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394960" y="35661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858000" y="3255264"/>
            <a:ext cx="10058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8000" y="3291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검증·인수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858000" y="356616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~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365760" y="3931920"/>
            <a:ext cx="8412480" cy="603504"/>
          </a:xfrm>
          <a:prstGeom prst="roundRect">
            <a:avLst>
              <a:gd name="adj" fmla="val 10606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548640" y="3931920"/>
            <a:ext cx="8046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 확정 후 개발 착수부터 현장 가동까지  →  약 2개월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10128"/>
            <a:ext cx="9144000" cy="1833372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시작할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 제공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불량 이력 샘플과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샘플을 R&amp;D센터로 제공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64992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 수령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분석 후 1~2주 이내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검토 리포트 제출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실사 &amp; 사양 확정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방문 후 맞춤 사양 확정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착수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112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AI혁신 R&amp;D센터  |  담당: 센터장 김양섭  |  ys.kim@in-sys.co.kr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8770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생산팀의 품질 경쟁력을 인시스가 함께 높이겠습니다.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2026-07-16T00:36:59Z</dcterms:created>
  <dcterms:modified xsi:type="dcterms:W3CDTF">2026-07-16T00:36:59Z</dcterms:modified>
</cp:coreProperties>
</file>