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0"/>
            <a:ext cx="10506456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9016" y="1645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9957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누락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9957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원인분석 및 재발방지 대책서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3291840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3072384"/>
            <a:ext cx="1006754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273552"/>
            <a:ext cx="10067544" cy="1828800"/>
          </a:xfrm>
          <a:prstGeom prst="rect">
            <a:avLst/>
          </a:prstGeom>
          <a:solidFill>
            <a:srgbClr val="E0F5FA"/>
          </a:solidFill>
          <a:ln w="19050">
            <a:solidFill>
              <a:srgbClr val="0096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73552"/>
            <a:ext cx="91440" cy="18288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 품목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6393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 Connector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6928" y="4206240"/>
            <a:ext cx="9683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 내부 심사  ·  2026년 7월 9일  ·  외관 검사항목 누락 지적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5340096"/>
            <a:ext cx="10067544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5340096"/>
            <a:ext cx="73152" cy="78638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4681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63256" y="54681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841248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41248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2416" y="9692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135331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 요약 및 품목 정보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9532" y="841248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9532" y="841248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5" name="Text 13"/>
          <p:cNvSpPr/>
          <p:nvPr/>
        </p:nvSpPr>
        <p:spPr>
          <a:xfrm>
            <a:off x="5399532" y="841248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5916" y="9692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85916" y="135331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이후 누락까지의 타임라인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4027932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4027932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" y="4027932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2416" y="4155948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2416" y="453999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— 기준서 누락 미확인·절차 미준수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9532" y="4027932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9532" y="4027932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5" name="Text 23"/>
          <p:cNvSpPr/>
          <p:nvPr/>
        </p:nvSpPr>
        <p:spPr>
          <a:xfrm>
            <a:off x="5399532" y="4027932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85916" y="4155948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85916" y="453999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— 관리 체계 한계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" y="7214616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7214616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7214616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42416" y="734263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42416" y="7726680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즉시조치·운영개선·관리강화·기록화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99532" y="7214616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9532" y="7214616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5" name="Text 33"/>
          <p:cNvSpPr/>
          <p:nvPr/>
        </p:nvSpPr>
        <p:spPr>
          <a:xfrm>
            <a:off x="5399532" y="7214616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85916" y="734263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85916" y="7726680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vs TO-BE 업무 흐름 비교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" y="10401300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10401300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" y="10401300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42416" y="1052931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42416" y="109133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 타임라인 (7~8월)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99532" y="10401300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99532" y="10401300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5" name="Text 43"/>
          <p:cNvSpPr/>
          <p:nvPr/>
        </p:nvSpPr>
        <p:spPr>
          <a:xfrm>
            <a:off x="5399532" y="10401300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185916" y="1052931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맺음말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85916" y="109133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 및 담당자 확인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 Summary  ·  A3C0056420000 Connector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3474720" cy="6373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96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정보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207008"/>
            <a:ext cx="321868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" y="1298448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298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번호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64208" y="12984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1865376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" y="2103120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품목명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64208" y="210312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2670048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2907792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907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64208" y="29077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474720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" y="3712464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7124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개선품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64208" y="371246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4279392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048" y="4517136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45171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일자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64208" y="451713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9일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5084064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048" y="5321808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53218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주체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64208" y="532180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22192" y="804672"/>
            <a:ext cx="6647688" cy="6373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0208" y="896112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50208" y="1207008"/>
            <a:ext cx="639165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Shape 35"/>
          <p:cNvSpPr/>
          <p:nvPr/>
        </p:nvSpPr>
        <p:spPr>
          <a:xfrm>
            <a:off x="3822192" y="1298448"/>
            <a:ext cx="6647688" cy="2875788"/>
          </a:xfrm>
          <a:prstGeom prst="rect">
            <a:avLst/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22192" y="1298448"/>
            <a:ext cx="73152" cy="28757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3986784" y="1389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86784" y="1627632"/>
            <a:ext cx="6318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검사항목 누락 미인지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986784" y="1975104"/>
            <a:ext cx="6318504" cy="1961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내 외관 검사항목이 누락되어 있었으나 이를 인지하지 못함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22192" y="4283964"/>
            <a:ext cx="6647688" cy="2875788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22192" y="4283964"/>
            <a:ext cx="73152" cy="28757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4" name="Text 42"/>
          <p:cNvSpPr/>
          <p:nvPr/>
        </p:nvSpPr>
        <p:spPr>
          <a:xfrm>
            <a:off x="3986784" y="43754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986784" y="4613148"/>
            <a:ext cx="6318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미확인 상태에서 검사 진행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986784" y="4960620"/>
            <a:ext cx="6318504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내용을 충분히 확인하지 않은 상태에서 검사 절차를 진행하여 누락 항목에 대한 검사 자체가 이루어지지 않음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 :  개선품 리비전으로 구버전 기준서가 미갱신된 상태에서 입고 부재로 인해 점검 기회를 놓쳐 누락됨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0" name="Text 48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Timeline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3973068"/>
            <a:ext cx="9884664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1473327" y="3808476"/>
            <a:ext cx="329184" cy="329184"/>
          </a:xfrm>
          <a:prstGeom prst="ellipse">
            <a:avLst/>
          </a:prstGeom>
          <a:solidFill>
            <a:srgbClr val="A0AEC0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4210812"/>
            <a:ext cx="2288286" cy="26380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4210812"/>
            <a:ext cx="2288286" cy="329184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등록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등록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(외관 항목 누락 상태)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" y="841248"/>
            <a:ext cx="2288286" cy="27477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44493" y="380847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873502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64942" y="4210812"/>
            <a:ext cx="2288286" cy="26380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64942" y="4210812"/>
            <a:ext cx="2288286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001518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38094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출시·신규 기준서 등록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입고 중단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64942" y="841248"/>
            <a:ext cx="2288286" cy="27477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8094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15659" y="3808476"/>
            <a:ext cx="329184" cy="32918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6" name="Text 24"/>
          <p:cNvSpPr/>
          <p:nvPr/>
        </p:nvSpPr>
        <p:spPr>
          <a:xfrm>
            <a:off x="5344668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36108" y="4210812"/>
            <a:ext cx="2288286" cy="26380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6108" y="4210812"/>
            <a:ext cx="2288286" cy="32918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9" name="Text 27"/>
          <p:cNvSpPr/>
          <p:nvPr/>
        </p:nvSpPr>
        <p:spPr>
          <a:xfrm>
            <a:off x="5472684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미입고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09260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열람 기회 없음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입고 품목 위주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→ 누락 방치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36108" y="841248"/>
            <a:ext cx="2288286" cy="27477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9260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86825" y="380847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7815834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07274" y="4210812"/>
            <a:ext cx="2288286" cy="2638044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7274" y="4210812"/>
            <a:ext cx="2288286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7943850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80426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항목 누락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및 공식 지적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07274" y="841248"/>
            <a:ext cx="2288286" cy="274777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80426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입고 중단 품목은 정기 점검 대상에서 누락되어 기준서가 미갱신 상태로 방치된 것이 핵심 경위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  —  직접 원인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Cause Analysis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0177272" cy="29260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04672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 :  검사기준서 외관 항목 누락 상태에서 절차 미준수로 검사 진행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5061204" cy="5678424"/>
          </a:xfrm>
          <a:prstGeom prst="rect">
            <a:avLst/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170432"/>
            <a:ext cx="5061204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122529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1225296"/>
            <a:ext cx="4494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1  —  외관 항목 누락 미확인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1682496"/>
            <a:ext cx="45720" cy="1624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1645920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제공 기준서 내 외관 검사항목이 누락된 상태로 SQM팀에 등록됨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416808"/>
            <a:ext cx="45720" cy="1624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380232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개선품(A3C00564201-0) 등록 시 구버전(A3C0056420000) 기준서 외관 항목이 업데이트되지 않음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5151120"/>
            <a:ext cx="45720" cy="1624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14544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담당자는 기준서 등록 여부만 확인하고 내용의 완전성은 별도로 검증하지 않음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72100" y="1170432"/>
            <a:ext cx="5061204" cy="5678424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72100" y="1170432"/>
            <a:ext cx="5061204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Shape 21"/>
          <p:cNvSpPr/>
          <p:nvPr/>
        </p:nvSpPr>
        <p:spPr>
          <a:xfrm>
            <a:off x="5463540" y="122529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63540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11012" y="1225296"/>
            <a:ext cx="4494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2  —  기준서 미확인 상태에서 검사 진행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54980" y="1682496"/>
            <a:ext cx="45720" cy="1624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5682996" y="1645920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검사 수행 시 기준서를 열어 항목별로 확인하는 절차를 준수하지 않고 진행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54980" y="3416808"/>
            <a:ext cx="45720" cy="1624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5682996" y="3380232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빈도가 낮아 이전 검사 방식을 관행적으로 적용하여 기준서 확인 단계를 생략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54980" y="5151120"/>
            <a:ext cx="45720" cy="1624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5682996" y="5114544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확인 여부를 기록하는 체크리스트가 별도로 운영되지 않아 누락 탐지 불가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직접 원인은 절차적 미준수와 기준서 완전성 검증 부재가 복합적으로 작용한 결과입니다.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  —  근본·시스템 원인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Root &amp; System Cause Analysis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0177272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04672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 :  입고 빈도 기반 관리 체계의 구조적 한계 및 기록 프로세스 부재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3355848" cy="5678424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170432"/>
            <a:ext cx="3355848" cy="5120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2252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46304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기반 관리 체계 한계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1847088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1051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없는 자재는 실물 검사 기회가 없어 기준서 점검 주기에서 자동 제외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4384548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797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실제 입고 품목 위주로 확인되어 미입고 품목은 사실상 사각지대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66744" y="1170432"/>
            <a:ext cx="3355848" cy="5678424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66744" y="1170432"/>
            <a:ext cx="3355848" cy="5120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3776472" y="12252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76472" y="146304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위주 운영·기록 부재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13048" y="1847088"/>
            <a:ext cx="164592" cy="16459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4050792" y="181051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확인·요청이 구두로만 진행되어 처리 이력 추적 불가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13048" y="4384548"/>
            <a:ext cx="164592" cy="16459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4050792" y="434797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요청 후 처리 여부를 확인하는 피드백 체계 없어 미처리 건 누적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77456" y="1170432"/>
            <a:ext cx="3355848" cy="5678424"/>
          </a:xfrm>
          <a:prstGeom prst="rect">
            <a:avLst/>
          </a:prstGeom>
          <a:solidFill>
            <a:srgbClr val="E0F5FA"/>
          </a:solidFill>
          <a:ln w="15240">
            <a:solidFill>
              <a:srgbClr val="007A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77456" y="1170432"/>
            <a:ext cx="3355848" cy="512064"/>
          </a:xfrm>
          <a:prstGeom prst="rect">
            <a:avLst/>
          </a:prstGeom>
          <a:solidFill>
            <a:srgbClr val="007A93"/>
          </a:solidFill>
          <a:ln/>
        </p:spPr>
      </p:sp>
      <p:sp>
        <p:nvSpPr>
          <p:cNvPr id="28" name="Text 26"/>
          <p:cNvSpPr/>
          <p:nvPr/>
        </p:nvSpPr>
        <p:spPr>
          <a:xfrm>
            <a:off x="7187184" y="12252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원인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87184" y="146304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프로세스 부재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23760" y="1847088"/>
            <a:ext cx="164592" cy="164592"/>
          </a:xfrm>
          <a:prstGeom prst="ellipse">
            <a:avLst/>
          </a:prstGeom>
          <a:solidFill>
            <a:srgbClr val="007A93"/>
          </a:solidFill>
          <a:ln/>
        </p:spPr>
      </p:sp>
      <p:sp>
        <p:nvSpPr>
          <p:cNvPr id="31" name="Text 29"/>
          <p:cNvSpPr/>
          <p:nvPr/>
        </p:nvSpPr>
        <p:spPr>
          <a:xfrm>
            <a:off x="7461504" y="181051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여부와 무관한 전체 기준서 최신화 점검 프로세스 미수립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4384548"/>
            <a:ext cx="164592" cy="164592"/>
          </a:xfrm>
          <a:prstGeom prst="ellipse">
            <a:avLst/>
          </a:prstGeom>
          <a:solidFill>
            <a:srgbClr val="007A93"/>
          </a:solidFill>
          <a:ln/>
        </p:spPr>
      </p:sp>
      <p:sp>
        <p:nvSpPr>
          <p:cNvPr id="33" name="Text 31"/>
          <p:cNvSpPr/>
          <p:nvPr/>
        </p:nvSpPr>
        <p:spPr>
          <a:xfrm>
            <a:off x="7461504" y="434797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발생 시 구버전 기준서 동시 점검 의무 절차 없어 연쇄 누락 구조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세 가지 원인이 복합 작용하여 누락이 탐지되지 않는 구조적 취약점을 형성하였습니다.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Corrective &amp; Preventive Actions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51790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10512" y="804672"/>
            <a:ext cx="4133088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804672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내용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0176" y="804672"/>
            <a:ext cx="1463040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804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79792" y="804672"/>
            <a:ext cx="1170432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80467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예정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0" y="804672"/>
            <a:ext cx="1755648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8046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1133856"/>
            <a:ext cx="10177272" cy="139217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67449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67449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조치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01952" y="120700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 외관 사진 항목 보완 요청 및 확인 완료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0176" y="113385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79792" y="113385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0" y="169278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169278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2562606"/>
            <a:ext cx="10177272" cy="139217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10324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10324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개선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01952" y="263575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담당자와 수시 피드백 체계 구축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(누락 감지→서면 요청→처리 확인→완료 보고)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0176" y="256260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협업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79792" y="256260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2026.7.31~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78240" y="312153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312153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991356"/>
            <a:ext cx="10177272" cy="139217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453199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53199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강화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01952" y="406450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단종·리비전 이전 품목 포함 전체 기준서 분기 1회 정기 점검 실시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발생 시 구버전 기준서 동시 점검 의무화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80176" y="399135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79792" y="399135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78240" y="455028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0" y="455028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" y="5420106"/>
            <a:ext cx="10177272" cy="139217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596074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596074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901952" y="549325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입고검사 보고서 작성 — 입고품 검사소요시간·특이사항 데일리 업데이트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측정의뢰 건 별도 기록 — 의뢰일·완료일·소요시간·결과 관리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80176" y="542010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79792" y="542010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778240" y="597903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8240" y="597903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 :  기준서 이상 감지  →  담당자 서면 요청  →  기준서 업데이트  →  확인 및 완료 보고  →  이력 기록 보존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Text 51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  —  AS-IS vs TO-BE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Improvement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042916" cy="32918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04672"/>
            <a:ext cx="48966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 —  현행 문제 구조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133856"/>
            <a:ext cx="5042916" cy="9707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13385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입고 시에만 기준서 확인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" y="2104644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" y="2141220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141220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미입고 자재 → 기준서 점검 제외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" y="3112008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3148584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148584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입고 품목 위주로만 확인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" y="4119372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032" y="4155948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4155948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발견 → 구두 요청만 진행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6032" y="5126736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" y="5163312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5163312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여부 미확인 · 기록 없음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6032" y="6134100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6170676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617067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누락됨 → 심사 지적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17236" y="2619756"/>
            <a:ext cx="54864" cy="2743200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5280660" y="3717036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90388" y="804672"/>
            <a:ext cx="5042916" cy="32918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5500116" y="804672"/>
            <a:ext cx="48966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 —  개선 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0388" y="1133856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6692" y="113385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입고 여부와 무관한 전체 기준서 분기 1회 정기 점검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90388" y="2104644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90388" y="2141220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6692" y="2141220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리비전 발생 시 구버전 기준서 동시 점검 의무화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90388" y="3112008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90388" y="3148584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6692" y="3148584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누락 발견 → 서면(기록) 요청 즉시 진행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90388" y="4119372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90388" y="4155948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6692" y="4155948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SQM팀 피드백 체계로 처리 여부 확인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90388" y="5126736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90388" y="5163312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6692" y="5163312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완료 보고 후 이력 서면 기록 · 보존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390388" y="6134100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90388" y="6170676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6692" y="617067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일일 입고검사 보고서·측정의뢰 현황 데일리 업데이트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 —  Action Plan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Schedule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88366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항목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804672"/>
            <a:ext cx="188366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2~4주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96512" y="804672"/>
            <a:ext cx="188366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1~2주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16752" y="804672"/>
            <a:ext cx="1481328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80467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3~4주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34656" y="804672"/>
            <a:ext cx="1316736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34656" y="8046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87968" y="804672"/>
            <a:ext cx="1554480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8046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1133856"/>
            <a:ext cx="10177272" cy="11137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133856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외관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보완·확인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1316736"/>
            <a:ext cx="1664208" cy="747979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1316736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34656" y="1133856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79408" y="155356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9408" y="155356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284171"/>
            <a:ext cx="10177272" cy="111373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284171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피드백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구축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0" y="2467051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0" y="2467051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2467051"/>
            <a:ext cx="1664208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2467051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34656" y="2284171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SQM협업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79408" y="2703881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79408" y="270388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3434486"/>
            <a:ext cx="10177272" cy="11137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434486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기준서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실시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3617366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0" y="3617366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3617366"/>
            <a:ext cx="1261872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41" name="Text 39"/>
          <p:cNvSpPr/>
          <p:nvPr/>
        </p:nvSpPr>
        <p:spPr>
          <a:xfrm>
            <a:off x="6126480" y="3617366"/>
            <a:ext cx="1261872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34656" y="3434486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79408" y="385419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79408" y="38541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6032" y="4584802"/>
            <a:ext cx="10177272" cy="111373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584802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보고서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운영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0" y="4767682"/>
            <a:ext cx="1664208" cy="747979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48" name="Text 46"/>
          <p:cNvSpPr/>
          <p:nvPr/>
        </p:nvSpPr>
        <p:spPr>
          <a:xfrm>
            <a:off x="2286000" y="4767682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06240" y="4767682"/>
            <a:ext cx="1664208" cy="747979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0" name="Text 48"/>
          <p:cNvSpPr/>
          <p:nvPr/>
        </p:nvSpPr>
        <p:spPr>
          <a:xfrm>
            <a:off x="4206240" y="4767682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26480" y="4767682"/>
            <a:ext cx="1261872" cy="747979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52" name="Text 50"/>
          <p:cNvSpPr/>
          <p:nvPr/>
        </p:nvSpPr>
        <p:spPr>
          <a:xfrm>
            <a:off x="6126480" y="4767682"/>
            <a:ext cx="1261872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34656" y="4584802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979408" y="5004511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79408" y="500451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56032" y="5735117"/>
            <a:ext cx="10177272" cy="11137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5735117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정기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체계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206240" y="5917997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9" name="Text 57"/>
          <p:cNvSpPr/>
          <p:nvPr/>
        </p:nvSpPr>
        <p:spPr>
          <a:xfrm>
            <a:off x="4206240" y="5917997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26480" y="5917997"/>
            <a:ext cx="1261872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61" name="Text 59"/>
          <p:cNvSpPr/>
          <p:nvPr/>
        </p:nvSpPr>
        <p:spPr>
          <a:xfrm>
            <a:off x="6126480" y="5917997"/>
            <a:ext cx="1261872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534656" y="5735117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979408" y="615482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79408" y="615482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기준일: 2026년 7월 31일  ·  분기 점검 결과는 매 분기 말 SQM팀에 정기 보고 예정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8" name="Text 66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0"/>
            <a:ext cx="10506456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01168"/>
            <a:ext cx="10140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950976"/>
            <a:ext cx="10140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Commitment to Prevention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2743200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627632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" y="160934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1627632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내용의 완전성을 입고 여부와 무관하게 주기적으로 검증하겠습니다.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2946654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" y="292836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92836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2946654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입고검사 보고서와 측정의뢰 현황을 데일리로 기록·관리하여 이력을 추적하겠습니다.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4265676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" y="42473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42473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4265676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 시 구버전 기준서를 반드시 동시에 점검하는 절차를 준수하겠습니다.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5584698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" y="556641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556641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5584698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SQM팀과의 수시 소통 체계를 통해 품질 이슈를 조기에 해소하겠습니다.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286000" y="6629400"/>
            <a:ext cx="6117336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6629400"/>
            <a:ext cx="64008" cy="60350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6" name="Text 24"/>
          <p:cNvSpPr/>
          <p:nvPr/>
        </p:nvSpPr>
        <p:spPr>
          <a:xfrm>
            <a:off x="2450592" y="6629400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담당: 김종선 대리  ·  2026. 7. 31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2026-07-31T02:40:50Z</dcterms:created>
  <dcterms:modified xsi:type="dcterms:W3CDTF">2026-07-31T02:40:50Z</dcterms:modified>
</cp:coreProperties>
</file>